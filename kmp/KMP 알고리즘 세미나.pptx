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9" r:id="rId13"/>
    <p:sldId id="268" r:id="rId14"/>
    <p:sldId id="266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3" r:id="rId28"/>
    <p:sldId id="282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1" r:id="rId56"/>
    <p:sldId id="312" r:id="rId5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4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5DF9C-E6AC-484E-BBF2-9314B577B671}" type="datetimeFigureOut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7573A8-D025-446C-8C67-05AAB470FA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2300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2515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95973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56C2B-E2B8-4660-2BB5-E40565400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2350BF-F5D6-25F4-4E1B-0DBE1BAECE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BC668A-D625-0223-3AFC-F0E5562D4C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3FB661-5C02-9FF8-EDC9-B2C746C052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39378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312EC-C369-3A98-39B6-C96ACD38A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56AC3D7-E2F5-C7B9-2921-8AF035B13D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990E07-22EC-43CD-5833-BBBB96DB6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859A28-550C-8BD6-95E5-DF5F069A2C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44159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482D3-EB5C-6900-ABB4-735E43D09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DA0062-2CDC-63FE-AD7F-CE84DECF1E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770E141-78E5-12B1-8889-BF724993A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7E55FB-6E04-BD0D-E950-ECF8B24B80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66752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27E13-89F3-6791-4CE0-A61A0A794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539C45-C4EB-1B1A-B976-B76D538E3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5B7B91-D02B-1D14-FDAA-997878E208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F0F655-943B-A548-857A-FE897A61F0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30488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1FD2CD-1F7D-F701-3391-26F8CB37B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22E2B-C97B-11D3-BD65-EC2BA2C2DB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D5794B-FA12-217E-C187-72F82DB98A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BC91E9-1F78-FF82-C178-3F40BA0DB5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07909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49458-508C-0DF4-CE0D-BF98BD57D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243144-F7BA-0A0A-7432-B308D62833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406ACE-76A5-BEA0-A3F7-9189931354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71EC22-1251-BA9F-2802-99CC9B3084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83687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127B6-5F24-BAE1-42EB-F26133ABE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E7D8FD5-B8E3-5FC0-0E28-0EC7BDC429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A060675-A8EC-7ADB-C40D-868325B608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A90170-CEBA-515F-4A21-1E16D9D57E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23932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A3E2B-383F-923F-5FA0-6340B3E25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323F706-69D8-4A91-D23D-C05ED85633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00C5BD-FCC6-A3AE-2729-522A4D65AF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6ABEC2-C258-62B3-9156-90EE12453B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1618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D28DF-2366-9401-005D-B48993505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924004-2A47-6F51-9B0A-FE1C77F811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B43793-9509-8745-6F23-7B6FA005F4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5CF116-640F-EB6E-27AA-E85B23B3B6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48201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39E9E-4D06-3452-231C-58BADD123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8894279-2C02-CD6D-E2F8-1C1F6BB1C7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2DF13F-DADB-F975-A5EA-BD691F0B82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52C8B5-BB58-E837-8F75-8ED26E6F5D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31719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BB615-EF37-FF67-B6C0-F4A9587BA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01898D-D20D-9B41-5059-A38D19190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02AD94E-E6EF-6250-EF4E-7BB4C8A9C9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C2ACE2-8530-E3C8-9E2C-DA89AB6E4A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77648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BDC7D-96AD-270C-B0AF-8A8BC9356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3D5C12-920D-03CC-A02F-9A260A3221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DED6A68-9F3D-A840-2643-0AFE70BFE2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B0EE4F-4F84-0B18-5583-34F5382D92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32278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2D7DA-42C6-8BAE-EDC6-F74311909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F47764-A956-EDF5-0289-412E9B3FB2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BAA081-EFF0-7120-C50E-2667856EBC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7D567D-5EB4-878C-DD5C-1FED77AA5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68123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A8C80-9816-F664-423C-B8151C34F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9D0CDC9-11F3-251F-33B5-813A979C95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E1D61C-03D4-A8B7-9E71-AFE6294FA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969F68-A511-F017-B2F8-8462DB1074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397047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7418C-170D-1E57-EE84-09755AB39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B65344-C14F-F33F-870C-12E8640FF8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75FA18-A7BA-6CE6-5669-3B03B8DAB0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0BCE3B-E06E-5286-039B-F641FD538F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32421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0A2C8-6EB4-DB24-2911-A404F26B5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1CCE4B4-18EC-7033-5B61-5239A3358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74B39CA-389E-6748-6381-512A115B36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7335FD-3BF3-D62B-CDBD-010776A206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4800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8C02D-BD50-D9E2-F930-60E64D5AD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AC578A-D5C0-F148-B0D0-3C5D7C83AF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C139870-50FE-7EE2-3260-435477EA0F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DAEF07-6218-C5A7-F3B6-5834B4F41E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197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8335FB-E70C-8BDD-AA1C-2FBD70F315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0076E84-4189-4D06-E196-3AE7A7F2F1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839787-8402-53EE-7919-5B570D48D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B412C-0C1D-4DF1-8A8A-F8F892BEDF2B}" type="datetimeFigureOut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F2AE213-57DE-111D-E75A-43C1EBB88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1AEE71B-B5AB-6E38-9D02-1CFD7A676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090C-F848-46BE-88A7-71E3F02856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9961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C174B1-F018-95E2-42A0-8A0F97F8A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8FB27F-82AD-28A6-DC23-F8E691FF1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94E9490-1DC7-553A-1D4C-CA51CC82B0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B412C-0C1D-4DF1-8A8A-F8F892BEDF2B}" type="datetimeFigureOut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59215CF-727B-498C-9FDA-D3D07628E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EAE4F3-9124-45CA-AA64-06E58DF4C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090C-F848-46BE-88A7-71E3F02856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59407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0656E8-F735-DCF4-D1DB-67F5FCF6F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F9F3643-EA9D-37D9-FAAF-C23A54F60F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C306E2-9930-544E-552C-7AC7366C4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B412C-0C1D-4DF1-8A8A-F8F892BEDF2B}" type="datetimeFigureOut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69AAA61-4DCD-FB2E-6720-57EF71AE9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A6BEDC-2E34-ECEC-12D1-DF3C585C7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090C-F848-46BE-88A7-71E3F02856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0478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56B55D-5ECB-3B75-5749-09BD3DCF2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13EF1D-7985-EE7A-7A98-FF3E004CB8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BFDA55-FA16-F79C-E0AA-4FE3CB8277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3670FA-910D-2F51-08B2-FE87915C8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B412C-0C1D-4DF1-8A8A-F8F892BEDF2B}" type="datetimeFigureOut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D5F2FEF-721D-70A8-1B6A-B561ECAD1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BFC909B-DDFB-D1F5-363F-526662633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090C-F848-46BE-88A7-71E3F02856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63260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E45229-CB7E-E309-C288-407808E89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045307-7098-ACD4-602E-C680904E2B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942ECF-0006-DD5C-46FF-F94885BA32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44CE124-C428-644E-FA9E-B1B3C7C974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196E6F7-488F-35B5-9E27-75BD4A03A3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4B8660D-92FE-92A5-E5CD-86382D288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B412C-0C1D-4DF1-8A8A-F8F892BEDF2B}" type="datetimeFigureOut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A397651-77EA-25E0-438A-5D03E9833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49333AF-D3BC-1A71-17FA-D1A2CECFB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090C-F848-46BE-88A7-71E3F02856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6902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BE94CF-B399-1474-46D3-F28AD9258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9350A55-1BD1-C007-C38D-7E9A16EF4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B412C-0C1D-4DF1-8A8A-F8F892BEDF2B}" type="datetimeFigureOut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EE58F1C-FCA8-7E20-A170-A78661E13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2B4CFBB-1604-7B91-6973-838BEA308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090C-F848-46BE-88A7-71E3F02856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6690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6F7FDCD-2A7B-7975-E9B5-559269C97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B412C-0C1D-4DF1-8A8A-F8F892BEDF2B}" type="datetimeFigureOut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DFA35B5-CC74-37CA-7C53-81DC9E61D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CB4E8E-33DF-64DD-2D60-2AE937FEC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090C-F848-46BE-88A7-71E3F02856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0632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9B8EC4-A783-D461-8B69-6EA35D482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330B80-2D44-62B1-A423-91D115DEEE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FBBA2C8-D6C9-4E3C-E6E9-1E4ACE27FB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FFA8A61-C4CE-CC26-13BF-5178F7D50B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B412C-0C1D-4DF1-8A8A-F8F892BEDF2B}" type="datetimeFigureOut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69362F-F117-B76B-E8BE-23596D7E9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7E209D1-9D10-B93A-48B0-D124395A3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090C-F848-46BE-88A7-71E3F02856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29426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54423D-1DA3-C807-3F76-3CAC5D9A2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2136469-944D-6B7D-97DD-BAFFD41D6F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DA34DE9-D145-C78E-99B8-6CE9435AB8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0B2DE10-836F-E39D-507D-7B2655545E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B412C-0C1D-4DF1-8A8A-F8F892BEDF2B}" type="datetimeFigureOut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9F10DC7-4D70-51C4-D209-8B83007AC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6391576-B6E4-8887-1115-959EDC41D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090C-F848-46BE-88A7-71E3F02856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8195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74D394-7430-BD60-B3B4-647F0E6A0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4649B15-8700-F6F8-1911-FDFBEE83D0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778F245-24E1-9427-465B-63634019D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B412C-0C1D-4DF1-8A8A-F8F892BEDF2B}" type="datetimeFigureOut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1131D59-8AF0-B6AC-7CC6-9C090CFAB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2E2FB4-E3AF-25EB-A817-EC9E8C30D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090C-F848-46BE-88A7-71E3F02856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65943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4DE357F-9779-6264-2598-D2C1964DEC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8D7D510-E2D8-8A0B-F64A-A09E74C491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5386EA-84C9-A82C-A0EE-78F55EE4AA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B412C-0C1D-4DF1-8A8A-F8F892BEDF2B}" type="datetimeFigureOut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D88AC0B-E9C2-89A9-4449-D9B15D1F7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03C66B-9E3C-A635-DFF5-518DC98E7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090C-F848-46BE-88A7-71E3F02856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3707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DA8D735-7BDA-E914-14EE-6A98945C1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5F42E54-E089-FF9B-6CC9-16A01D7F5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6784E6D-83CE-0E06-E6BB-456C455489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3B412C-0C1D-4DF1-8A8A-F8F892BEDF2B}" type="datetimeFigureOut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8270D8-0C49-6AA9-BE78-9C8AA4BCAF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484062B-3F89-0A14-625B-0E6D96F9AE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28090C-F848-46BE-88A7-71E3F02856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2474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410A6E-292E-2BC9-841B-419582B820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KMP </a:t>
            </a:r>
            <a:r>
              <a:rPr lang="ko-KR" altLang="en-US" dirty="0"/>
              <a:t>알고리즘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1E9A2AB-1860-26DC-3E9A-DF31C05462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2026.06.11.</a:t>
            </a:r>
            <a:r>
              <a:rPr lang="ko-KR" altLang="en-US" dirty="0"/>
              <a:t>목 </a:t>
            </a:r>
            <a:r>
              <a:rPr lang="en-US" altLang="ko-KR" dirty="0"/>
              <a:t>8F 10:00 ~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0737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091955-7F5F-75D2-FA23-745A6F731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0E5394-0B90-1943-5A2C-12E284D091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0x00 </a:t>
            </a:r>
            <a:r>
              <a:rPr lang="ko-KR" altLang="en-US" dirty="0"/>
              <a:t>알고리즘 설명</a:t>
            </a:r>
            <a:endParaRPr lang="en-US" altLang="ko-KR" dirty="0"/>
          </a:p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  <a:endParaRPr lang="en-US" altLang="ko-KR" dirty="0"/>
          </a:p>
          <a:p>
            <a:r>
              <a:rPr lang="en-US" altLang="ko-KR" dirty="0"/>
              <a:t>0x02 KMP</a:t>
            </a:r>
          </a:p>
          <a:p>
            <a:r>
              <a:rPr lang="en-US" altLang="ko-KR" dirty="0"/>
              <a:t>0x03 </a:t>
            </a:r>
            <a:r>
              <a:rPr lang="ko-KR" altLang="en-US" dirty="0"/>
              <a:t>실행</a:t>
            </a:r>
          </a:p>
        </p:txBody>
      </p:sp>
    </p:spTree>
    <p:extLst>
      <p:ext uri="{BB962C8B-B14F-4D97-AF65-F5344CB8AC3E}">
        <p14:creationId xmlns:p14="http://schemas.microsoft.com/office/powerpoint/2010/main" val="28242774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65D228-1616-F7EF-6F23-6891587E5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0x00 </a:t>
            </a:r>
            <a:r>
              <a:rPr lang="ko-KR" altLang="en-US" dirty="0"/>
              <a:t>알고리즘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35FBC6-905A-6D93-65FD-2D10B5D17F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왜</a:t>
            </a:r>
            <a:r>
              <a:rPr lang="en-US" altLang="ko-KR" dirty="0"/>
              <a:t>? </a:t>
            </a:r>
            <a:r>
              <a:rPr lang="ko-KR" altLang="en-US" dirty="0"/>
              <a:t>스팸차단 문구 알고리즘에서 </a:t>
            </a:r>
            <a:r>
              <a:rPr lang="en-US" altLang="ko-KR" dirty="0"/>
              <a:t>Aho-</a:t>
            </a:r>
            <a:r>
              <a:rPr lang="en-US" altLang="ko-KR" dirty="0" err="1"/>
              <a:t>Corasick</a:t>
            </a:r>
            <a:r>
              <a:rPr lang="en-US" altLang="ko-KR" dirty="0"/>
              <a:t> </a:t>
            </a:r>
            <a:r>
              <a:rPr lang="ko-KR" altLang="en-US" dirty="0"/>
              <a:t>기법을 사용해 효율적으로 사용</a:t>
            </a:r>
            <a:endParaRPr lang="en-US" altLang="ko-KR" dirty="0"/>
          </a:p>
          <a:p>
            <a:r>
              <a:rPr lang="en-US" altLang="ko-KR" dirty="0"/>
              <a:t>Aho-</a:t>
            </a:r>
            <a:r>
              <a:rPr lang="en-US" altLang="ko-KR" dirty="0" err="1"/>
              <a:t>Corasick</a:t>
            </a:r>
            <a:r>
              <a:rPr lang="en-US" altLang="ko-KR" dirty="0"/>
              <a:t> (KMP</a:t>
            </a:r>
            <a:r>
              <a:rPr lang="ko-KR" altLang="en-US" dirty="0"/>
              <a:t> 알고리즘 </a:t>
            </a:r>
            <a:r>
              <a:rPr lang="en-US" altLang="ko-KR" dirty="0"/>
              <a:t>+ </a:t>
            </a:r>
            <a:r>
              <a:rPr lang="ko-KR" altLang="en-US" dirty="0"/>
              <a:t>트리에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용어 정리</a:t>
            </a:r>
            <a:endParaRPr lang="en-US" altLang="ko-KR" dirty="0"/>
          </a:p>
          <a:p>
            <a:pPr lvl="1"/>
            <a:r>
              <a:rPr lang="en-US" altLang="ko-KR" dirty="0"/>
              <a:t>S[</a:t>
            </a:r>
            <a:r>
              <a:rPr lang="en-US" altLang="ko-KR" dirty="0" err="1"/>
              <a:t>a:b</a:t>
            </a:r>
            <a:r>
              <a:rPr lang="en-US" altLang="ko-KR" dirty="0"/>
              <a:t>] a</a:t>
            </a:r>
            <a:r>
              <a:rPr lang="ko-KR" altLang="en-US" dirty="0"/>
              <a:t>부터 </a:t>
            </a:r>
            <a:r>
              <a:rPr lang="en-US" altLang="ko-KR" dirty="0">
                <a:highlight>
                  <a:srgbClr val="FFFF00"/>
                </a:highlight>
              </a:rPr>
              <a:t>b-1</a:t>
            </a:r>
            <a:r>
              <a:rPr lang="en-US" altLang="ko-KR" dirty="0"/>
              <a:t> </a:t>
            </a:r>
            <a:r>
              <a:rPr lang="ko-KR" altLang="en-US" dirty="0"/>
              <a:t>까지</a:t>
            </a:r>
            <a:endParaRPr lang="en-US" altLang="ko-KR" dirty="0"/>
          </a:p>
          <a:p>
            <a:pPr lvl="1"/>
            <a:r>
              <a:rPr lang="ko-KR" altLang="en-US" dirty="0"/>
              <a:t>접두사 </a:t>
            </a:r>
            <a:r>
              <a:rPr lang="en-US" altLang="ko-KR" dirty="0"/>
              <a:t>= S[0:x]</a:t>
            </a:r>
          </a:p>
          <a:p>
            <a:pPr lvl="1"/>
            <a:r>
              <a:rPr lang="ko-KR" altLang="en-US" dirty="0"/>
              <a:t>접미사 </a:t>
            </a:r>
            <a:r>
              <a:rPr lang="en-US" altLang="ko-KR" dirty="0"/>
              <a:t>= S[x:|S|]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4086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789F1-E2AB-5A1C-6587-5C21DB879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0x00 </a:t>
            </a:r>
            <a:r>
              <a:rPr lang="ko-KR" altLang="en-US" dirty="0"/>
              <a:t>알고리즘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6354A3-F9BA-D20D-730D-C001020A1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패턴 매칭 문제</a:t>
            </a:r>
            <a:endParaRPr lang="en-US" altLang="ko-KR" dirty="0"/>
          </a:p>
          <a:p>
            <a:pPr lvl="1"/>
            <a:r>
              <a:rPr lang="en-US" altLang="ko-KR" dirty="0"/>
              <a:t>A</a:t>
            </a:r>
          </a:p>
          <a:p>
            <a:pPr lvl="1"/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7501A7-AFC9-5970-B117-3932966D1178}"/>
              </a:ext>
            </a:extLst>
          </p:cNvPr>
          <p:cNvSpPr txBox="1"/>
          <p:nvPr/>
        </p:nvSpPr>
        <p:spPr>
          <a:xfrm>
            <a:off x="2026763" y="2300140"/>
            <a:ext cx="26597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 R O N D O </a:t>
            </a:r>
            <a:r>
              <a:rPr lang="en-US" altLang="ko-KR" b="1" dirty="0">
                <a:solidFill>
                  <a:srgbClr val="FF0000"/>
                </a:solidFill>
              </a:rPr>
              <a:t>N T I </a:t>
            </a:r>
            <a:r>
              <a:rPr lang="en-US" altLang="ko-KR" dirty="0"/>
              <a:t>S </a:t>
            </a:r>
            <a:r>
              <a:rPr lang="en-US" altLang="ko-KR" dirty="0" err="1"/>
              <a:t>S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EC6B92-D1D9-EDF9-521C-F828FCAB9E7A}"/>
              </a:ext>
            </a:extLst>
          </p:cNvPr>
          <p:cNvSpPr txBox="1"/>
          <p:nvPr/>
        </p:nvSpPr>
        <p:spPr>
          <a:xfrm>
            <a:off x="2026763" y="2748061"/>
            <a:ext cx="71045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N T I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9842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F8590-483A-6667-3BC5-34480450A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F9C21F-02F3-A9FC-61EE-D450E4923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0x00 </a:t>
            </a:r>
            <a:r>
              <a:rPr lang="ko-KR" altLang="en-US" dirty="0"/>
              <a:t>알고리즘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899CCA2-FC09-C4B2-FB9B-59687270D9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패턴 매칭 문제</a:t>
            </a:r>
            <a:endParaRPr lang="en-US" altLang="ko-KR" dirty="0"/>
          </a:p>
          <a:p>
            <a:pPr lvl="1"/>
            <a:r>
              <a:rPr lang="en-US" altLang="ko-KR" dirty="0"/>
              <a:t>A</a:t>
            </a:r>
          </a:p>
          <a:p>
            <a:pPr lvl="1"/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EF0322-41E0-B55C-2C4A-130559BF1CF9}"/>
              </a:ext>
            </a:extLst>
          </p:cNvPr>
          <p:cNvSpPr txBox="1"/>
          <p:nvPr/>
        </p:nvSpPr>
        <p:spPr>
          <a:xfrm>
            <a:off x="2026763" y="2300140"/>
            <a:ext cx="26597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O</a:t>
            </a:r>
            <a:r>
              <a:rPr lang="en-US" altLang="ko-KR" dirty="0"/>
              <a:t> R O N D O N T I S </a:t>
            </a:r>
            <a:r>
              <a:rPr lang="en-US" altLang="ko-KR" dirty="0" err="1"/>
              <a:t>S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0778D1-7DDE-503B-8CE4-A459C714F10C}"/>
              </a:ext>
            </a:extLst>
          </p:cNvPr>
          <p:cNvSpPr txBox="1"/>
          <p:nvPr/>
        </p:nvSpPr>
        <p:spPr>
          <a:xfrm>
            <a:off x="2026763" y="2748061"/>
            <a:ext cx="718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N</a:t>
            </a:r>
            <a:r>
              <a:rPr lang="en-US" altLang="ko-KR" dirty="0"/>
              <a:t> T I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44415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8816C-71C6-3071-B69D-22CC40926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77E2E6-ECD2-11F7-AF57-16342B135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0x00 </a:t>
            </a:r>
            <a:r>
              <a:rPr lang="ko-KR" altLang="en-US" dirty="0"/>
              <a:t>알고리즘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74DA47-D3BD-F9AD-5E3C-29DDB3DD43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패턴 매칭 문제</a:t>
            </a:r>
            <a:endParaRPr lang="en-US" altLang="ko-KR" dirty="0"/>
          </a:p>
          <a:p>
            <a:pPr lvl="1"/>
            <a:r>
              <a:rPr lang="en-US" altLang="ko-KR" dirty="0"/>
              <a:t>A</a:t>
            </a:r>
          </a:p>
          <a:p>
            <a:pPr lvl="1"/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6148F7-486C-BA83-2EDE-E4416EC580A9}"/>
              </a:ext>
            </a:extLst>
          </p:cNvPr>
          <p:cNvSpPr txBox="1"/>
          <p:nvPr/>
        </p:nvSpPr>
        <p:spPr>
          <a:xfrm>
            <a:off x="2026763" y="2300140"/>
            <a:ext cx="26597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 </a:t>
            </a:r>
            <a:r>
              <a:rPr lang="en-US" altLang="ko-KR" b="1" dirty="0">
                <a:solidFill>
                  <a:srgbClr val="FF0000"/>
                </a:solidFill>
              </a:rPr>
              <a:t>R</a:t>
            </a:r>
            <a:r>
              <a:rPr lang="en-US" altLang="ko-KR" dirty="0"/>
              <a:t> O N D O N T I S </a:t>
            </a:r>
            <a:r>
              <a:rPr lang="en-US" altLang="ko-KR" dirty="0" err="1"/>
              <a:t>S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CE2FAD-AA72-5F7B-1289-82AC68CF604B}"/>
              </a:ext>
            </a:extLst>
          </p:cNvPr>
          <p:cNvSpPr txBox="1"/>
          <p:nvPr/>
        </p:nvSpPr>
        <p:spPr>
          <a:xfrm>
            <a:off x="2300139" y="2748061"/>
            <a:ext cx="718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N</a:t>
            </a:r>
            <a:r>
              <a:rPr lang="en-US" altLang="ko-KR" dirty="0"/>
              <a:t> T I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46948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703A6-324F-CF6B-11F5-0ADC34882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9E2F37-C2EB-8C96-2725-48906E422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0x00 </a:t>
            </a:r>
            <a:r>
              <a:rPr lang="ko-KR" altLang="en-US" dirty="0"/>
              <a:t>알고리즘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E8064F9-F8A2-043B-0A41-8939E80E7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패턴 매칭 문제</a:t>
            </a:r>
            <a:endParaRPr lang="en-US" altLang="ko-KR" dirty="0"/>
          </a:p>
          <a:p>
            <a:pPr lvl="1"/>
            <a:r>
              <a:rPr lang="en-US" altLang="ko-KR" dirty="0"/>
              <a:t>A</a:t>
            </a:r>
          </a:p>
          <a:p>
            <a:pPr lvl="1"/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48ACA1-9243-9A40-43C7-CB9C4AB7EEAB}"/>
              </a:ext>
            </a:extLst>
          </p:cNvPr>
          <p:cNvSpPr txBox="1"/>
          <p:nvPr/>
        </p:nvSpPr>
        <p:spPr>
          <a:xfrm>
            <a:off x="2026763" y="2300140"/>
            <a:ext cx="26597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 R </a:t>
            </a:r>
            <a:r>
              <a:rPr lang="en-US" altLang="ko-KR" b="1" dirty="0">
                <a:solidFill>
                  <a:srgbClr val="FF0000"/>
                </a:solidFill>
              </a:rPr>
              <a:t>O</a:t>
            </a:r>
            <a:r>
              <a:rPr lang="en-US" altLang="ko-KR" dirty="0"/>
              <a:t> N D O N T I S </a:t>
            </a:r>
            <a:r>
              <a:rPr lang="en-US" altLang="ko-KR" dirty="0" err="1"/>
              <a:t>S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E2EA88-77A6-B96B-4234-206EE9D3F5EE}"/>
              </a:ext>
            </a:extLst>
          </p:cNvPr>
          <p:cNvSpPr txBox="1"/>
          <p:nvPr/>
        </p:nvSpPr>
        <p:spPr>
          <a:xfrm>
            <a:off x="2498103" y="2748061"/>
            <a:ext cx="718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N</a:t>
            </a:r>
            <a:r>
              <a:rPr lang="en-US" altLang="ko-KR" dirty="0"/>
              <a:t> T I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152900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486D3-472C-7595-B83A-7EFA50D13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C24599-1898-3B7A-3F34-4D174468B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0x00 </a:t>
            </a:r>
            <a:r>
              <a:rPr lang="ko-KR" altLang="en-US" dirty="0"/>
              <a:t>알고리즘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6EF784-014B-F834-019D-86E6CADA77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패턴 매칭 문제</a:t>
            </a:r>
            <a:endParaRPr lang="en-US" altLang="ko-KR" dirty="0"/>
          </a:p>
          <a:p>
            <a:pPr lvl="1"/>
            <a:r>
              <a:rPr lang="en-US" altLang="ko-KR" dirty="0"/>
              <a:t>A</a:t>
            </a:r>
          </a:p>
          <a:p>
            <a:pPr lvl="1"/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60B455-0353-0B92-3549-CF350FD2B390}"/>
              </a:ext>
            </a:extLst>
          </p:cNvPr>
          <p:cNvSpPr txBox="1"/>
          <p:nvPr/>
        </p:nvSpPr>
        <p:spPr>
          <a:xfrm>
            <a:off x="2026763" y="2300140"/>
            <a:ext cx="26597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 R O </a:t>
            </a:r>
            <a:r>
              <a:rPr lang="en-US" altLang="ko-KR" b="1" dirty="0">
                <a:solidFill>
                  <a:srgbClr val="00B050"/>
                </a:solidFill>
              </a:rPr>
              <a:t>N</a:t>
            </a:r>
            <a:r>
              <a:rPr lang="en-US" altLang="ko-KR" dirty="0"/>
              <a:t> D O N T I S </a:t>
            </a:r>
            <a:r>
              <a:rPr lang="en-US" altLang="ko-KR" dirty="0" err="1"/>
              <a:t>S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29E220-E45E-5F08-C4F5-8CA3A230669D}"/>
              </a:ext>
            </a:extLst>
          </p:cNvPr>
          <p:cNvSpPr txBox="1"/>
          <p:nvPr/>
        </p:nvSpPr>
        <p:spPr>
          <a:xfrm>
            <a:off x="2762052" y="2748061"/>
            <a:ext cx="718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N</a:t>
            </a:r>
            <a:r>
              <a:rPr lang="en-US" altLang="ko-KR" dirty="0"/>
              <a:t> T I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0945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B3F5A-8134-AA96-5B40-8B352D366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4BDC6A-4756-D3F0-2E11-0FECF31C0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0x00 </a:t>
            </a:r>
            <a:r>
              <a:rPr lang="ko-KR" altLang="en-US" dirty="0"/>
              <a:t>알고리즘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D9C408-BEC4-108F-C7E1-2B1AAA61B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패턴 매칭 문제</a:t>
            </a:r>
            <a:endParaRPr lang="en-US" altLang="ko-KR" dirty="0"/>
          </a:p>
          <a:p>
            <a:pPr lvl="1"/>
            <a:r>
              <a:rPr lang="en-US" altLang="ko-KR" dirty="0"/>
              <a:t>A</a:t>
            </a:r>
          </a:p>
          <a:p>
            <a:pPr lvl="1"/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DE63D5-B2A0-9746-9C1A-91843BDB012E}"/>
              </a:ext>
            </a:extLst>
          </p:cNvPr>
          <p:cNvSpPr txBox="1"/>
          <p:nvPr/>
        </p:nvSpPr>
        <p:spPr>
          <a:xfrm>
            <a:off x="2026763" y="2300140"/>
            <a:ext cx="26597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 R O </a:t>
            </a:r>
            <a:r>
              <a:rPr lang="en-US" altLang="ko-KR" b="1" dirty="0">
                <a:solidFill>
                  <a:srgbClr val="00B050"/>
                </a:solidFill>
              </a:rPr>
              <a:t>N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D</a:t>
            </a:r>
            <a:r>
              <a:rPr lang="en-US" altLang="ko-KR" dirty="0"/>
              <a:t> O N T I S </a:t>
            </a:r>
            <a:r>
              <a:rPr lang="en-US" altLang="ko-KR" dirty="0" err="1"/>
              <a:t>S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7FEEF0-AD6A-F95C-5206-F921E2B854FD}"/>
              </a:ext>
            </a:extLst>
          </p:cNvPr>
          <p:cNvSpPr txBox="1"/>
          <p:nvPr/>
        </p:nvSpPr>
        <p:spPr>
          <a:xfrm>
            <a:off x="2762052" y="2748061"/>
            <a:ext cx="72968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N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T</a:t>
            </a:r>
            <a:r>
              <a:rPr lang="en-US" altLang="ko-KR" dirty="0"/>
              <a:t> I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00335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A9053-323A-0F51-1C98-8C733B52F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8E9989-A2B1-36CD-C48A-1B969AC23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0x00 </a:t>
            </a:r>
            <a:r>
              <a:rPr lang="ko-KR" altLang="en-US" dirty="0"/>
              <a:t>알고리즘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E5FB06-3728-D069-9608-F4128D0BB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패턴 매칭 문제</a:t>
            </a:r>
            <a:endParaRPr lang="en-US" altLang="ko-KR" dirty="0"/>
          </a:p>
          <a:p>
            <a:pPr lvl="1"/>
            <a:r>
              <a:rPr lang="en-US" altLang="ko-KR" dirty="0"/>
              <a:t>A</a:t>
            </a:r>
          </a:p>
          <a:p>
            <a:pPr lvl="1"/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DCDDB4-5D95-8F6C-76D3-2CA69AAE07B9}"/>
              </a:ext>
            </a:extLst>
          </p:cNvPr>
          <p:cNvSpPr txBox="1"/>
          <p:nvPr/>
        </p:nvSpPr>
        <p:spPr>
          <a:xfrm>
            <a:off x="2026763" y="2300140"/>
            <a:ext cx="26597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 R O N </a:t>
            </a:r>
            <a:r>
              <a:rPr lang="en-US" altLang="ko-KR" b="1" dirty="0">
                <a:solidFill>
                  <a:srgbClr val="FF0000"/>
                </a:solidFill>
              </a:rPr>
              <a:t>D</a:t>
            </a:r>
            <a:r>
              <a:rPr lang="en-US" altLang="ko-KR" dirty="0"/>
              <a:t> O N T I S </a:t>
            </a:r>
            <a:r>
              <a:rPr lang="en-US" altLang="ko-KR" dirty="0" err="1"/>
              <a:t>S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D73921-2EF1-F888-DDC8-EDAD70A452B4}"/>
              </a:ext>
            </a:extLst>
          </p:cNvPr>
          <p:cNvSpPr txBox="1"/>
          <p:nvPr/>
        </p:nvSpPr>
        <p:spPr>
          <a:xfrm>
            <a:off x="3007151" y="2748061"/>
            <a:ext cx="718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N</a:t>
            </a:r>
            <a:r>
              <a:rPr lang="en-US" altLang="ko-KR" dirty="0"/>
              <a:t> T I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36959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F9082-B7F1-EC3D-5DB2-DE82FEEBF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3DDF10-5B54-D578-735F-C22A3B952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0x00 </a:t>
            </a:r>
            <a:r>
              <a:rPr lang="ko-KR" altLang="en-US" dirty="0"/>
              <a:t>알고리즘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A636AC-8BDC-6AF7-6593-DD541ADFA8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패턴 매칭 문제</a:t>
            </a:r>
            <a:endParaRPr lang="en-US" altLang="ko-KR" dirty="0"/>
          </a:p>
          <a:p>
            <a:pPr lvl="1"/>
            <a:r>
              <a:rPr lang="en-US" altLang="ko-KR" dirty="0"/>
              <a:t>A</a:t>
            </a:r>
          </a:p>
          <a:p>
            <a:pPr lvl="1"/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F09C95-1DB8-30CA-E9C0-CE7DE6C4E7D1}"/>
              </a:ext>
            </a:extLst>
          </p:cNvPr>
          <p:cNvSpPr txBox="1"/>
          <p:nvPr/>
        </p:nvSpPr>
        <p:spPr>
          <a:xfrm>
            <a:off x="2026763" y="2300140"/>
            <a:ext cx="26597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 R O N D </a:t>
            </a:r>
            <a:r>
              <a:rPr lang="en-US" altLang="ko-KR" b="1" dirty="0">
                <a:solidFill>
                  <a:srgbClr val="FF0000"/>
                </a:solidFill>
              </a:rPr>
              <a:t>O</a:t>
            </a:r>
            <a:r>
              <a:rPr lang="en-US" altLang="ko-KR" dirty="0"/>
              <a:t> N T I S </a:t>
            </a:r>
            <a:r>
              <a:rPr lang="en-US" altLang="ko-KR" dirty="0" err="1"/>
              <a:t>S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CB38A0-FFF5-17AD-425A-C90B72D30758}"/>
              </a:ext>
            </a:extLst>
          </p:cNvPr>
          <p:cNvSpPr txBox="1"/>
          <p:nvPr/>
        </p:nvSpPr>
        <p:spPr>
          <a:xfrm>
            <a:off x="3280530" y="2748061"/>
            <a:ext cx="718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N</a:t>
            </a:r>
            <a:r>
              <a:rPr lang="en-US" altLang="ko-KR" dirty="0"/>
              <a:t> T I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083673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DC626-DB58-BB20-5C22-D3F027019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1CCB98-6679-B202-E467-1137B4708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0x00 </a:t>
            </a:r>
            <a:r>
              <a:rPr lang="ko-KR" altLang="en-US" dirty="0"/>
              <a:t>알고리즘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9D7121-1059-8C74-51C2-DEC9D59D6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패턴 매칭 문제</a:t>
            </a:r>
            <a:endParaRPr lang="en-US" altLang="ko-KR" dirty="0"/>
          </a:p>
          <a:p>
            <a:pPr lvl="1"/>
            <a:r>
              <a:rPr lang="en-US" altLang="ko-KR" dirty="0"/>
              <a:t>A</a:t>
            </a:r>
          </a:p>
          <a:p>
            <a:pPr lvl="1"/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B64C2F-2679-4E3B-5D78-02FEC2F1BBF2}"/>
              </a:ext>
            </a:extLst>
          </p:cNvPr>
          <p:cNvSpPr txBox="1"/>
          <p:nvPr/>
        </p:nvSpPr>
        <p:spPr>
          <a:xfrm>
            <a:off x="2026763" y="2300140"/>
            <a:ext cx="26597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 R O N D O </a:t>
            </a:r>
            <a:r>
              <a:rPr lang="en-US" altLang="ko-KR" b="1" dirty="0">
                <a:solidFill>
                  <a:srgbClr val="00B050"/>
                </a:solidFill>
              </a:rPr>
              <a:t>N</a:t>
            </a:r>
            <a:r>
              <a:rPr lang="en-US" altLang="ko-KR" dirty="0"/>
              <a:t> T I S </a:t>
            </a:r>
            <a:r>
              <a:rPr lang="en-US" altLang="ko-KR" dirty="0" err="1"/>
              <a:t>S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0FA47-FA9F-FF12-1020-F1EF6FB48259}"/>
              </a:ext>
            </a:extLst>
          </p:cNvPr>
          <p:cNvSpPr txBox="1"/>
          <p:nvPr/>
        </p:nvSpPr>
        <p:spPr>
          <a:xfrm>
            <a:off x="3497343" y="2748061"/>
            <a:ext cx="73930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N </a:t>
            </a:r>
            <a:r>
              <a:rPr lang="en-US" altLang="ko-KR" dirty="0"/>
              <a:t>T I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716981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57DEE-80EE-9CB9-9A1C-AD792866B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A57BCC-FE95-53E9-2C56-F2A0B4B10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0x00 </a:t>
            </a:r>
            <a:r>
              <a:rPr lang="ko-KR" altLang="en-US" dirty="0"/>
              <a:t>알고리즘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E20C46-8482-35C4-083C-5189A01BF3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패턴 매칭 문제</a:t>
            </a:r>
            <a:endParaRPr lang="en-US" altLang="ko-KR" dirty="0"/>
          </a:p>
          <a:p>
            <a:pPr lvl="1"/>
            <a:r>
              <a:rPr lang="en-US" altLang="ko-KR" dirty="0"/>
              <a:t>A</a:t>
            </a:r>
          </a:p>
          <a:p>
            <a:pPr lvl="1"/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6EB7E8-13F6-7C32-98F3-2DEC5FBCB0D4}"/>
              </a:ext>
            </a:extLst>
          </p:cNvPr>
          <p:cNvSpPr txBox="1"/>
          <p:nvPr/>
        </p:nvSpPr>
        <p:spPr>
          <a:xfrm>
            <a:off x="2026763" y="2300140"/>
            <a:ext cx="26597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 R O N D O </a:t>
            </a:r>
            <a:r>
              <a:rPr lang="en-US" altLang="ko-KR" b="1" dirty="0">
                <a:solidFill>
                  <a:srgbClr val="00B050"/>
                </a:solidFill>
              </a:rPr>
              <a:t>N T</a:t>
            </a:r>
            <a:r>
              <a:rPr lang="en-US" altLang="ko-KR" dirty="0"/>
              <a:t> I S </a:t>
            </a:r>
            <a:r>
              <a:rPr lang="en-US" altLang="ko-KR" dirty="0" err="1"/>
              <a:t>S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730554-51A3-FDF8-DB45-0BF5AFB6DF2C}"/>
              </a:ext>
            </a:extLst>
          </p:cNvPr>
          <p:cNvSpPr txBox="1"/>
          <p:nvPr/>
        </p:nvSpPr>
        <p:spPr>
          <a:xfrm>
            <a:off x="3497343" y="2748061"/>
            <a:ext cx="73930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N T </a:t>
            </a:r>
            <a:r>
              <a:rPr lang="en-US" altLang="ko-KR" dirty="0"/>
              <a:t>I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15155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B64E-A963-2C3E-C727-EEA011679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1F91E9-6344-4488-20DF-D68A894B3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0x00 </a:t>
            </a:r>
            <a:r>
              <a:rPr lang="ko-KR" altLang="en-US" dirty="0"/>
              <a:t>알고리즘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170CEE-FFAE-0E20-50D4-CE2DF678B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패턴 매칭 문제</a:t>
            </a:r>
            <a:endParaRPr lang="en-US" altLang="ko-KR" dirty="0"/>
          </a:p>
          <a:p>
            <a:pPr lvl="1"/>
            <a:r>
              <a:rPr lang="en-US" altLang="ko-KR" dirty="0"/>
              <a:t>A</a:t>
            </a:r>
          </a:p>
          <a:p>
            <a:pPr lvl="1"/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2A227C-9C0C-7804-659D-0E34EBDD3106}"/>
              </a:ext>
            </a:extLst>
          </p:cNvPr>
          <p:cNvSpPr txBox="1"/>
          <p:nvPr/>
        </p:nvSpPr>
        <p:spPr>
          <a:xfrm>
            <a:off x="2026763" y="2300140"/>
            <a:ext cx="26597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 R O N D O </a:t>
            </a:r>
            <a:r>
              <a:rPr lang="en-US" altLang="ko-KR" b="1" dirty="0">
                <a:solidFill>
                  <a:srgbClr val="00B050"/>
                </a:solidFill>
              </a:rPr>
              <a:t>N T I</a:t>
            </a:r>
            <a:r>
              <a:rPr lang="en-US" altLang="ko-KR" dirty="0"/>
              <a:t> S </a:t>
            </a:r>
            <a:r>
              <a:rPr lang="en-US" altLang="ko-KR" dirty="0" err="1"/>
              <a:t>S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3B231A-F81E-31EB-D922-8D4E20EFDB86}"/>
              </a:ext>
            </a:extLst>
          </p:cNvPr>
          <p:cNvSpPr txBox="1"/>
          <p:nvPr/>
        </p:nvSpPr>
        <p:spPr>
          <a:xfrm>
            <a:off x="3497343" y="2748061"/>
            <a:ext cx="73930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N T I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60246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0A6E1-F7A3-9FBF-1BC7-2250BBF7C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733914-64A1-D64B-7B0E-58E1A841D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0x00 </a:t>
            </a:r>
            <a:r>
              <a:rPr lang="ko-KR" altLang="en-US" dirty="0"/>
              <a:t>알고리즘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9BBA0E-739B-58E3-11ED-D1B6BB33E3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패턴 매칭 문제</a:t>
            </a:r>
            <a:endParaRPr lang="en-US" altLang="ko-KR" dirty="0"/>
          </a:p>
          <a:p>
            <a:pPr lvl="1"/>
            <a:r>
              <a:rPr lang="en-US" altLang="ko-KR" dirty="0"/>
              <a:t>A</a:t>
            </a:r>
          </a:p>
          <a:p>
            <a:pPr lvl="1"/>
            <a:r>
              <a:rPr lang="en-US" altLang="ko-KR" dirty="0"/>
              <a:t>B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829E2F-D8BB-475D-18D5-7BA704387B65}"/>
              </a:ext>
            </a:extLst>
          </p:cNvPr>
          <p:cNvSpPr txBox="1"/>
          <p:nvPr/>
        </p:nvSpPr>
        <p:spPr>
          <a:xfrm>
            <a:off x="2026763" y="2300140"/>
            <a:ext cx="26597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 R O N D O </a:t>
            </a:r>
            <a:r>
              <a:rPr lang="en-US" altLang="ko-KR" b="1" dirty="0">
                <a:solidFill>
                  <a:srgbClr val="00B050"/>
                </a:solidFill>
              </a:rPr>
              <a:t>N T I</a:t>
            </a:r>
            <a:r>
              <a:rPr lang="en-US" altLang="ko-KR" dirty="0"/>
              <a:t> S </a:t>
            </a:r>
            <a:r>
              <a:rPr lang="en-US" altLang="ko-KR" dirty="0" err="1"/>
              <a:t>S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DB6443-B648-4A1C-A5AA-0E8F6DDE4954}"/>
              </a:ext>
            </a:extLst>
          </p:cNvPr>
          <p:cNvSpPr txBox="1"/>
          <p:nvPr/>
        </p:nvSpPr>
        <p:spPr>
          <a:xfrm>
            <a:off x="3497343" y="2748061"/>
            <a:ext cx="73930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N T I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0482C91-5FF0-BBBE-E7E4-C37E2D1DDD73}"/>
              </a:ext>
            </a:extLst>
          </p:cNvPr>
          <p:cNvSpPr txBox="1">
            <a:spLocks/>
          </p:cNvSpPr>
          <p:nvPr/>
        </p:nvSpPr>
        <p:spPr>
          <a:xfrm>
            <a:off x="6096000" y="4317206"/>
            <a:ext cx="5362575" cy="2281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dirty="0">
                <a:solidFill>
                  <a:srgbClr val="FF0000"/>
                </a:solidFill>
              </a:rPr>
              <a:t>최악의 경우</a:t>
            </a:r>
            <a:endParaRPr lang="en-US" altLang="ko-KR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altLang="ko-KR" dirty="0"/>
              <a:t>O(|A| x |B|) </a:t>
            </a:r>
            <a:r>
              <a:rPr lang="ko-KR" altLang="en-US" dirty="0"/>
              <a:t>에 동작하게 된다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842762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60336-41A2-8615-39CF-1FA5E51A0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A32CFA-F57B-6BE8-6B3A-78E4DA44D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5D98BA6-3C47-B21F-F665-868DC91757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KMP: </a:t>
            </a:r>
            <a:r>
              <a:rPr lang="ko-KR" altLang="en-US" dirty="0"/>
              <a:t>패턴 매칭 문제를 </a:t>
            </a:r>
            <a:r>
              <a:rPr lang="en-US" altLang="ko-KR" dirty="0"/>
              <a:t>O(|A| + |B|)</a:t>
            </a:r>
            <a:r>
              <a:rPr lang="ko-KR" altLang="en-US" dirty="0"/>
              <a:t>에 해결</a:t>
            </a:r>
            <a:endParaRPr lang="en-US" altLang="ko-KR" dirty="0"/>
          </a:p>
          <a:p>
            <a:r>
              <a:rPr lang="ko-KR" altLang="en-US" dirty="0"/>
              <a:t>⚠️굉장히 헷갈림⚠️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실패 함수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F(x) : </a:t>
            </a:r>
            <a:r>
              <a:rPr lang="ko-KR" altLang="en-US" dirty="0"/>
              <a:t>문자열 </a:t>
            </a:r>
            <a:r>
              <a:rPr lang="en-US" altLang="ko-KR" dirty="0"/>
              <a:t>S[0:x+1] </a:t>
            </a:r>
            <a:r>
              <a:rPr lang="ko-KR" altLang="en-US" dirty="0"/>
              <a:t>에서 접두사와 접미사가 일치하는 최대 길이</a:t>
            </a:r>
            <a:endParaRPr lang="en-US" altLang="ko-KR" dirty="0"/>
          </a:p>
          <a:p>
            <a:pPr lvl="2"/>
            <a:r>
              <a:rPr lang="en-US" altLang="ko-KR" dirty="0"/>
              <a:t>S</a:t>
            </a:r>
          </a:p>
          <a:p>
            <a:pPr lvl="2"/>
            <a:endParaRPr lang="en-US" altLang="ko-KR" dirty="0"/>
          </a:p>
          <a:p>
            <a:pPr lvl="2"/>
            <a:r>
              <a:rPr lang="en-US" altLang="ko-KR" dirty="0"/>
              <a:t>F(2) </a:t>
            </a:r>
            <a:r>
              <a:rPr lang="ko-KR" altLang="en-US" dirty="0"/>
              <a:t>란</a:t>
            </a:r>
            <a:r>
              <a:rPr lang="en-US" altLang="ko-KR" dirty="0"/>
              <a:t>? S[0:</a:t>
            </a:r>
            <a:r>
              <a:rPr lang="en-US" altLang="ko-KR" b="1" dirty="0">
                <a:solidFill>
                  <a:srgbClr val="0070C0"/>
                </a:solidFill>
              </a:rPr>
              <a:t>3</a:t>
            </a:r>
            <a:r>
              <a:rPr lang="en-US" altLang="ko-KR" dirty="0"/>
              <a:t>]</a:t>
            </a:r>
            <a:r>
              <a:rPr lang="ko-KR" altLang="en-US" dirty="0"/>
              <a:t>인 </a:t>
            </a:r>
            <a:r>
              <a:rPr lang="en-US" altLang="ko-KR" dirty="0"/>
              <a:t>2</a:t>
            </a:r>
            <a:r>
              <a:rPr lang="en-US" altLang="ko-KR" b="1" dirty="0">
                <a:solidFill>
                  <a:srgbClr val="0070C0"/>
                </a:solidFill>
              </a:rPr>
              <a:t>+1</a:t>
            </a:r>
            <a:r>
              <a:rPr lang="en-US" altLang="ko-KR" dirty="0"/>
              <a:t> </a:t>
            </a:r>
            <a:r>
              <a:rPr lang="ko-KR" altLang="en-US" dirty="0"/>
              <a:t>글자 내에서 자기 자신을 제외하고 접두사와 접미사가 일치하는 최대 길이</a:t>
            </a:r>
            <a:endParaRPr lang="en-US" altLang="ko-KR" dirty="0"/>
          </a:p>
          <a:p>
            <a:pPr lvl="3"/>
            <a:r>
              <a:rPr lang="ko-KR" altLang="en-US" dirty="0"/>
              <a:t>즉</a:t>
            </a:r>
            <a:r>
              <a:rPr lang="en-US" altLang="ko-KR" dirty="0"/>
              <a:t>, ABA </a:t>
            </a:r>
            <a:r>
              <a:rPr lang="ko-KR" altLang="en-US" dirty="0"/>
              <a:t>글자 내에서 </a:t>
            </a:r>
            <a:r>
              <a:rPr lang="ko-KR" altLang="en-US" dirty="0" err="1"/>
              <a:t>접두</a:t>
            </a:r>
            <a:r>
              <a:rPr lang="ko-KR" altLang="en-US" dirty="0"/>
              <a:t> </a:t>
            </a:r>
            <a:r>
              <a:rPr lang="en-US" altLang="ko-KR" dirty="0"/>
              <a:t>= </a:t>
            </a:r>
            <a:r>
              <a:rPr lang="ko-KR" altLang="en-US" dirty="0" err="1"/>
              <a:t>접미</a:t>
            </a:r>
            <a:r>
              <a:rPr lang="ko-KR" altLang="en-US" dirty="0"/>
              <a:t> 인 최대 길이</a:t>
            </a:r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84BD02-1FA6-53C8-985C-95DA6324A1CA}"/>
              </a:ext>
            </a:extLst>
          </p:cNvPr>
          <p:cNvSpPr txBox="1"/>
          <p:nvPr/>
        </p:nvSpPr>
        <p:spPr>
          <a:xfrm>
            <a:off x="2394408" y="4204355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96618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2A46E-11AA-0B7C-30D8-38C70D0FA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D1F047-DD46-E206-9068-553C25484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A510E3-B2CB-2EF6-7B89-59E63E73A5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KMP: </a:t>
            </a:r>
            <a:r>
              <a:rPr lang="ko-KR" altLang="en-US" dirty="0"/>
              <a:t>패턴 매칭 문제를 </a:t>
            </a:r>
            <a:r>
              <a:rPr lang="en-US" altLang="ko-KR" dirty="0"/>
              <a:t>O(|A| + |B|)</a:t>
            </a:r>
            <a:r>
              <a:rPr lang="ko-KR" altLang="en-US" dirty="0"/>
              <a:t>에 해결</a:t>
            </a:r>
            <a:endParaRPr lang="en-US" altLang="ko-KR" dirty="0"/>
          </a:p>
          <a:p>
            <a:r>
              <a:rPr lang="ko-KR" altLang="en-US" dirty="0"/>
              <a:t>⚠️굉장히 헷갈림⚠️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실패 함수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F(x) : </a:t>
            </a:r>
            <a:r>
              <a:rPr lang="ko-KR" altLang="en-US" dirty="0"/>
              <a:t>문자열 </a:t>
            </a:r>
            <a:r>
              <a:rPr lang="en-US" altLang="ko-KR" dirty="0"/>
              <a:t>S[0:x+1] </a:t>
            </a:r>
            <a:r>
              <a:rPr lang="ko-KR" altLang="en-US" dirty="0"/>
              <a:t>에서 접두사와 접미사가 일치하는 최대 길이</a:t>
            </a:r>
            <a:endParaRPr lang="en-US" altLang="ko-KR" dirty="0"/>
          </a:p>
          <a:p>
            <a:pPr lvl="2"/>
            <a:r>
              <a:rPr lang="en-US" altLang="ko-KR" dirty="0"/>
              <a:t>S</a:t>
            </a:r>
          </a:p>
          <a:p>
            <a:pPr lvl="2"/>
            <a:endParaRPr lang="en-US" altLang="ko-KR" dirty="0"/>
          </a:p>
          <a:p>
            <a:pPr lvl="2"/>
            <a:r>
              <a:rPr lang="en-US" altLang="ko-KR" dirty="0"/>
              <a:t>F(2) </a:t>
            </a:r>
            <a:r>
              <a:rPr lang="ko-KR" altLang="en-US" dirty="0"/>
              <a:t>란</a:t>
            </a:r>
            <a:r>
              <a:rPr lang="en-US" altLang="ko-KR" dirty="0"/>
              <a:t>? S[0:</a:t>
            </a:r>
            <a:r>
              <a:rPr lang="en-US" altLang="ko-KR" b="1" dirty="0">
                <a:solidFill>
                  <a:srgbClr val="0070C0"/>
                </a:solidFill>
              </a:rPr>
              <a:t>3</a:t>
            </a:r>
            <a:r>
              <a:rPr lang="en-US" altLang="ko-KR" dirty="0"/>
              <a:t>]</a:t>
            </a:r>
            <a:r>
              <a:rPr lang="ko-KR" altLang="en-US" dirty="0"/>
              <a:t>인 </a:t>
            </a:r>
            <a:r>
              <a:rPr lang="en-US" altLang="ko-KR" dirty="0"/>
              <a:t>2</a:t>
            </a:r>
            <a:r>
              <a:rPr lang="en-US" altLang="ko-KR" b="1" dirty="0">
                <a:solidFill>
                  <a:srgbClr val="0070C0"/>
                </a:solidFill>
              </a:rPr>
              <a:t>+1</a:t>
            </a:r>
            <a:r>
              <a:rPr lang="en-US" altLang="ko-KR" dirty="0"/>
              <a:t> </a:t>
            </a:r>
            <a:r>
              <a:rPr lang="ko-KR" altLang="en-US" dirty="0"/>
              <a:t>글자 내에서 자기 자신을 제외하고 접두사와 접미사가 일치하는 최대 길이</a:t>
            </a:r>
            <a:endParaRPr lang="en-US" altLang="ko-KR" dirty="0"/>
          </a:p>
          <a:p>
            <a:pPr lvl="3"/>
            <a:r>
              <a:rPr lang="ko-KR" altLang="en-US" dirty="0"/>
              <a:t>즉</a:t>
            </a:r>
            <a:r>
              <a:rPr lang="en-US" altLang="ko-KR" dirty="0"/>
              <a:t>, ABA </a:t>
            </a:r>
            <a:r>
              <a:rPr lang="ko-KR" altLang="en-US" dirty="0"/>
              <a:t>글자 내에서 </a:t>
            </a:r>
            <a:r>
              <a:rPr lang="ko-KR" altLang="en-US" dirty="0" err="1"/>
              <a:t>접두</a:t>
            </a:r>
            <a:r>
              <a:rPr lang="ko-KR" altLang="en-US" dirty="0"/>
              <a:t> </a:t>
            </a:r>
            <a:r>
              <a:rPr lang="en-US" altLang="ko-KR" dirty="0"/>
              <a:t>= </a:t>
            </a:r>
            <a:r>
              <a:rPr lang="ko-KR" altLang="en-US" dirty="0" err="1"/>
              <a:t>접미</a:t>
            </a:r>
            <a:r>
              <a:rPr lang="ko-KR" altLang="en-US" dirty="0"/>
              <a:t> 인 최대 길이</a:t>
            </a:r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7DD379-CC0F-C71C-3D16-7715F262D231}"/>
              </a:ext>
            </a:extLst>
          </p:cNvPr>
          <p:cNvSpPr txBox="1"/>
          <p:nvPr/>
        </p:nvSpPr>
        <p:spPr>
          <a:xfrm>
            <a:off x="2394408" y="4204355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1DC838-9BD9-9C90-0383-6E0F73437203}"/>
              </a:ext>
            </a:extLst>
          </p:cNvPr>
          <p:cNvSpPr txBox="1"/>
          <p:nvPr/>
        </p:nvSpPr>
        <p:spPr>
          <a:xfrm>
            <a:off x="7400040" y="5453554"/>
            <a:ext cx="81945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/>
              <a:t>A B </a:t>
            </a:r>
            <a:r>
              <a:rPr lang="en-US" altLang="ko-KR" b="1" dirty="0">
                <a:solidFill>
                  <a:srgbClr val="00B050"/>
                </a:solidFill>
              </a:rPr>
              <a:t>A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9A098F-289A-AD33-A859-112B96B47429}"/>
              </a:ext>
            </a:extLst>
          </p:cNvPr>
          <p:cNvSpPr txBox="1"/>
          <p:nvPr/>
        </p:nvSpPr>
        <p:spPr>
          <a:xfrm>
            <a:off x="7885183" y="5942568"/>
            <a:ext cx="81945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</a:t>
            </a:r>
            <a:r>
              <a:rPr lang="en-US" altLang="ko-KR" b="1" dirty="0"/>
              <a:t> B A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3585368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E2D43-4C66-933F-7B7A-6AB672BA9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AC3F02-6C4D-38FC-274C-3D3857C21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95E581-C71C-0095-F6C0-988DFB69BA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KMP: </a:t>
            </a:r>
            <a:r>
              <a:rPr lang="ko-KR" altLang="en-US" dirty="0"/>
              <a:t>패턴 매칭 문제를 </a:t>
            </a:r>
            <a:r>
              <a:rPr lang="en-US" altLang="ko-KR" dirty="0"/>
              <a:t>O(|A| + |B|)</a:t>
            </a:r>
            <a:r>
              <a:rPr lang="ko-KR" altLang="en-US" dirty="0"/>
              <a:t>에 해결</a:t>
            </a:r>
            <a:endParaRPr lang="en-US" altLang="ko-KR" dirty="0"/>
          </a:p>
          <a:p>
            <a:r>
              <a:rPr lang="ko-KR" altLang="en-US" dirty="0"/>
              <a:t>⚠️굉장히 헷갈림⚠️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실패 함수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F(x) : </a:t>
            </a:r>
            <a:r>
              <a:rPr lang="ko-KR" altLang="en-US" dirty="0"/>
              <a:t>문자열 </a:t>
            </a:r>
            <a:r>
              <a:rPr lang="en-US" altLang="ko-KR" dirty="0"/>
              <a:t>S[0:x+1] </a:t>
            </a:r>
            <a:r>
              <a:rPr lang="ko-KR" altLang="en-US" dirty="0"/>
              <a:t>에서 접두사와 접미사가 일치하는 최대 길이</a:t>
            </a:r>
            <a:endParaRPr lang="en-US" altLang="ko-KR" dirty="0"/>
          </a:p>
          <a:p>
            <a:pPr lvl="2"/>
            <a:r>
              <a:rPr lang="en-US" altLang="ko-KR" dirty="0"/>
              <a:t>S</a:t>
            </a:r>
          </a:p>
          <a:p>
            <a:pPr lvl="2"/>
            <a:endParaRPr lang="en-US" altLang="ko-KR" dirty="0"/>
          </a:p>
          <a:p>
            <a:pPr lvl="2"/>
            <a:r>
              <a:rPr lang="en-US" altLang="ko-KR" dirty="0"/>
              <a:t>F(2) </a:t>
            </a:r>
            <a:r>
              <a:rPr lang="ko-KR" altLang="en-US" dirty="0"/>
              <a:t>란</a:t>
            </a:r>
            <a:r>
              <a:rPr lang="en-US" altLang="ko-KR" dirty="0"/>
              <a:t>? S[0:</a:t>
            </a:r>
            <a:r>
              <a:rPr lang="en-US" altLang="ko-KR" b="1" dirty="0">
                <a:solidFill>
                  <a:srgbClr val="0070C0"/>
                </a:solidFill>
              </a:rPr>
              <a:t>3</a:t>
            </a:r>
            <a:r>
              <a:rPr lang="en-US" altLang="ko-KR" dirty="0"/>
              <a:t>]</a:t>
            </a:r>
            <a:r>
              <a:rPr lang="ko-KR" altLang="en-US" dirty="0"/>
              <a:t>인 </a:t>
            </a:r>
            <a:r>
              <a:rPr lang="en-US" altLang="ko-KR" dirty="0"/>
              <a:t>2</a:t>
            </a:r>
            <a:r>
              <a:rPr lang="en-US" altLang="ko-KR" b="1" dirty="0">
                <a:solidFill>
                  <a:srgbClr val="0070C0"/>
                </a:solidFill>
              </a:rPr>
              <a:t>+1</a:t>
            </a:r>
            <a:r>
              <a:rPr lang="en-US" altLang="ko-KR" dirty="0"/>
              <a:t> </a:t>
            </a:r>
            <a:r>
              <a:rPr lang="ko-KR" altLang="en-US" dirty="0"/>
              <a:t>글자 내에서 자기 자신을 제외하고 접두사와 접미사가 일치하는 최대 길이</a:t>
            </a:r>
            <a:endParaRPr lang="en-US" altLang="ko-KR" dirty="0"/>
          </a:p>
          <a:p>
            <a:pPr lvl="3"/>
            <a:r>
              <a:rPr lang="ko-KR" altLang="en-US" dirty="0"/>
              <a:t>즉</a:t>
            </a:r>
            <a:r>
              <a:rPr lang="en-US" altLang="ko-KR" dirty="0"/>
              <a:t>, ABA </a:t>
            </a:r>
            <a:r>
              <a:rPr lang="ko-KR" altLang="en-US" dirty="0"/>
              <a:t>글자 내에서 </a:t>
            </a:r>
            <a:r>
              <a:rPr lang="ko-KR" altLang="en-US" dirty="0" err="1"/>
              <a:t>접두</a:t>
            </a:r>
            <a:r>
              <a:rPr lang="ko-KR" altLang="en-US" dirty="0"/>
              <a:t> </a:t>
            </a:r>
            <a:r>
              <a:rPr lang="en-US" altLang="ko-KR" dirty="0"/>
              <a:t>= </a:t>
            </a:r>
            <a:r>
              <a:rPr lang="ko-KR" altLang="en-US" dirty="0" err="1"/>
              <a:t>접미</a:t>
            </a:r>
            <a:r>
              <a:rPr lang="ko-KR" altLang="en-US" dirty="0"/>
              <a:t> 인 최대 길이</a:t>
            </a:r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F625DC-4A8F-154D-4263-EEF53CE8ADC8}"/>
              </a:ext>
            </a:extLst>
          </p:cNvPr>
          <p:cNvSpPr txBox="1"/>
          <p:nvPr/>
        </p:nvSpPr>
        <p:spPr>
          <a:xfrm>
            <a:off x="2394408" y="4204355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1C3275-8D02-8AB9-B56B-8F07EB2C5152}"/>
              </a:ext>
            </a:extLst>
          </p:cNvPr>
          <p:cNvSpPr txBox="1"/>
          <p:nvPr/>
        </p:nvSpPr>
        <p:spPr>
          <a:xfrm>
            <a:off x="7400040" y="5453554"/>
            <a:ext cx="81945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/>
              <a:t>A </a:t>
            </a:r>
            <a:r>
              <a:rPr lang="en-US" altLang="ko-KR" b="1" dirty="0">
                <a:solidFill>
                  <a:srgbClr val="FF0000"/>
                </a:solidFill>
              </a:rPr>
              <a:t>B A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05522C-5E9A-B96F-AB28-B33C31D9BEED}"/>
              </a:ext>
            </a:extLst>
          </p:cNvPr>
          <p:cNvSpPr txBox="1"/>
          <p:nvPr/>
        </p:nvSpPr>
        <p:spPr>
          <a:xfrm>
            <a:off x="7630656" y="5942568"/>
            <a:ext cx="81945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A B</a:t>
            </a:r>
            <a:r>
              <a:rPr lang="en-US" altLang="ko-KR" b="1" dirty="0"/>
              <a:t> A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2772375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B624D-C309-AF8D-9B59-3F364BBB5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80AAFA-BF21-AF55-0063-C0C839024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D768DC-CD0F-98EB-4F08-DD48B1134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KMP: </a:t>
            </a:r>
            <a:r>
              <a:rPr lang="ko-KR" altLang="en-US" dirty="0"/>
              <a:t>패턴 매칭 문제를 </a:t>
            </a:r>
            <a:r>
              <a:rPr lang="en-US" altLang="ko-KR" dirty="0"/>
              <a:t>O(|A| + |B|)</a:t>
            </a:r>
            <a:r>
              <a:rPr lang="ko-KR" altLang="en-US" dirty="0"/>
              <a:t>에 해결</a:t>
            </a:r>
            <a:endParaRPr lang="en-US" altLang="ko-KR" dirty="0"/>
          </a:p>
          <a:p>
            <a:r>
              <a:rPr lang="ko-KR" altLang="en-US" dirty="0"/>
              <a:t>⚠️굉장히 헷갈림⚠️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실패 함수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F(x) : </a:t>
            </a:r>
            <a:r>
              <a:rPr lang="ko-KR" altLang="en-US" dirty="0"/>
              <a:t>문자열 </a:t>
            </a:r>
            <a:r>
              <a:rPr lang="en-US" altLang="ko-KR" dirty="0"/>
              <a:t>S[0:x+1] </a:t>
            </a:r>
            <a:r>
              <a:rPr lang="ko-KR" altLang="en-US" dirty="0"/>
              <a:t>에서 접두사와 접미사가 일치하는 최대 길이</a:t>
            </a:r>
            <a:endParaRPr lang="en-US" altLang="ko-KR" dirty="0"/>
          </a:p>
          <a:p>
            <a:pPr lvl="2"/>
            <a:r>
              <a:rPr lang="en-US" altLang="ko-KR" dirty="0"/>
              <a:t>S</a:t>
            </a:r>
          </a:p>
          <a:p>
            <a:pPr lvl="2"/>
            <a:endParaRPr lang="en-US" altLang="ko-KR" dirty="0"/>
          </a:p>
          <a:p>
            <a:pPr lvl="2"/>
            <a:r>
              <a:rPr lang="en-US" altLang="ko-KR" dirty="0"/>
              <a:t>F(2) </a:t>
            </a:r>
            <a:r>
              <a:rPr lang="ko-KR" altLang="en-US" dirty="0"/>
              <a:t>란</a:t>
            </a:r>
            <a:r>
              <a:rPr lang="en-US" altLang="ko-KR" dirty="0"/>
              <a:t>? S[0:</a:t>
            </a:r>
            <a:r>
              <a:rPr lang="en-US" altLang="ko-KR" b="1" dirty="0">
                <a:solidFill>
                  <a:srgbClr val="0070C0"/>
                </a:solidFill>
              </a:rPr>
              <a:t>3</a:t>
            </a:r>
            <a:r>
              <a:rPr lang="en-US" altLang="ko-KR" dirty="0"/>
              <a:t>]</a:t>
            </a:r>
            <a:r>
              <a:rPr lang="ko-KR" altLang="en-US" dirty="0"/>
              <a:t>인 </a:t>
            </a:r>
            <a:r>
              <a:rPr lang="en-US" altLang="ko-KR" dirty="0"/>
              <a:t>2</a:t>
            </a:r>
            <a:r>
              <a:rPr lang="en-US" altLang="ko-KR" b="1" dirty="0">
                <a:solidFill>
                  <a:srgbClr val="0070C0"/>
                </a:solidFill>
              </a:rPr>
              <a:t>+1</a:t>
            </a:r>
            <a:r>
              <a:rPr lang="en-US" altLang="ko-KR" dirty="0"/>
              <a:t> </a:t>
            </a:r>
            <a:r>
              <a:rPr lang="ko-KR" altLang="en-US" dirty="0"/>
              <a:t>글자 내에서 자기 자신을 제외하고 접두사와 접미사가 일치하는 최대 길이</a:t>
            </a:r>
            <a:endParaRPr lang="en-US" altLang="ko-KR" dirty="0"/>
          </a:p>
          <a:p>
            <a:pPr lvl="3"/>
            <a:r>
              <a:rPr lang="ko-KR" altLang="en-US" dirty="0"/>
              <a:t>즉</a:t>
            </a:r>
            <a:r>
              <a:rPr lang="en-US" altLang="ko-KR" dirty="0"/>
              <a:t>, ABA </a:t>
            </a:r>
            <a:r>
              <a:rPr lang="ko-KR" altLang="en-US" dirty="0"/>
              <a:t>글자 내에서 </a:t>
            </a:r>
            <a:r>
              <a:rPr lang="ko-KR" altLang="en-US" dirty="0" err="1"/>
              <a:t>접두</a:t>
            </a:r>
            <a:r>
              <a:rPr lang="ko-KR" altLang="en-US" dirty="0"/>
              <a:t> </a:t>
            </a:r>
            <a:r>
              <a:rPr lang="en-US" altLang="ko-KR" dirty="0"/>
              <a:t>= </a:t>
            </a:r>
            <a:r>
              <a:rPr lang="ko-KR" altLang="en-US" dirty="0" err="1"/>
              <a:t>접미</a:t>
            </a:r>
            <a:r>
              <a:rPr lang="ko-KR" altLang="en-US" dirty="0"/>
              <a:t> 인 최대 길이</a:t>
            </a:r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5667B3-93CF-A410-FD12-2025450DA7E7}"/>
              </a:ext>
            </a:extLst>
          </p:cNvPr>
          <p:cNvSpPr txBox="1"/>
          <p:nvPr/>
        </p:nvSpPr>
        <p:spPr>
          <a:xfrm>
            <a:off x="2394408" y="4204355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AE752A-B135-9BC3-F149-FE93259EC115}"/>
              </a:ext>
            </a:extLst>
          </p:cNvPr>
          <p:cNvSpPr txBox="1"/>
          <p:nvPr/>
        </p:nvSpPr>
        <p:spPr>
          <a:xfrm>
            <a:off x="7400040" y="5453554"/>
            <a:ext cx="81945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/>
              <a:t>A </a:t>
            </a:r>
            <a:r>
              <a:rPr lang="en-US" altLang="ko-KR" b="1" dirty="0">
                <a:solidFill>
                  <a:srgbClr val="FF0000"/>
                </a:solidFill>
              </a:rPr>
              <a:t>B A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E7478E-D3CC-922D-B055-9A0280E1249C}"/>
              </a:ext>
            </a:extLst>
          </p:cNvPr>
          <p:cNvSpPr txBox="1"/>
          <p:nvPr/>
        </p:nvSpPr>
        <p:spPr>
          <a:xfrm>
            <a:off x="7630656" y="5942568"/>
            <a:ext cx="81945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A B</a:t>
            </a:r>
            <a:r>
              <a:rPr lang="en-US" altLang="ko-KR" b="1" dirty="0"/>
              <a:t> A</a:t>
            </a:r>
            <a:endParaRPr lang="ko-KR" alt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6BFBA7-6253-41C1-B4C1-5AAB7E22E208}"/>
              </a:ext>
            </a:extLst>
          </p:cNvPr>
          <p:cNvSpPr txBox="1"/>
          <p:nvPr/>
        </p:nvSpPr>
        <p:spPr>
          <a:xfrm>
            <a:off x="9392040" y="5638220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F(2) = 1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6767396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4CE5B-9290-599B-4ECC-5D10107C5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615710-C088-CF86-34C7-6384ACAC1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C31A12-B992-21E4-814A-F348ECD605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일단 실패함수가 </a:t>
            </a:r>
            <a:r>
              <a:rPr lang="en-US" altLang="ko-KR" dirty="0"/>
              <a:t>“</a:t>
            </a:r>
            <a:r>
              <a:rPr lang="ko-KR" altLang="en-US" dirty="0"/>
              <a:t>왜</a:t>
            </a:r>
            <a:r>
              <a:rPr lang="en-US" altLang="ko-KR" dirty="0"/>
              <a:t>“ </a:t>
            </a:r>
            <a:r>
              <a:rPr lang="ko-KR" altLang="en-US" dirty="0"/>
              <a:t>필요한지 이전에 </a:t>
            </a:r>
            <a:r>
              <a:rPr lang="ko-KR" altLang="en-US" u="sng" dirty="0"/>
              <a:t>어떻게 구하는 지</a:t>
            </a:r>
            <a:r>
              <a:rPr lang="en-US" altLang="ko-KR" dirty="0"/>
              <a:t>!</a:t>
            </a:r>
          </a:p>
          <a:p>
            <a:r>
              <a:rPr lang="en-US" altLang="ko-KR" dirty="0"/>
              <a:t>S</a:t>
            </a:r>
          </a:p>
          <a:p>
            <a:endParaRPr lang="en-US" altLang="ko-KR" dirty="0"/>
          </a:p>
          <a:p>
            <a:r>
              <a:rPr lang="en-US" altLang="ko-KR" dirty="0"/>
              <a:t>F(5) </a:t>
            </a:r>
            <a:r>
              <a:rPr lang="ko-KR" altLang="en-US" dirty="0"/>
              <a:t>는</a:t>
            </a:r>
            <a:r>
              <a:rPr lang="en-US" altLang="ko-KR" dirty="0"/>
              <a:t>? 5</a:t>
            </a:r>
            <a:r>
              <a:rPr lang="en-US" altLang="ko-KR" b="1" dirty="0">
                <a:solidFill>
                  <a:srgbClr val="0070C0"/>
                </a:solidFill>
              </a:rPr>
              <a:t>+1 </a:t>
            </a:r>
            <a:r>
              <a:rPr lang="ko-KR" altLang="en-US" dirty="0"/>
              <a:t>글자를 본다</a:t>
            </a:r>
            <a:r>
              <a:rPr lang="en-US" altLang="ko-KR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B74587-079D-969F-5AB0-CAF17FFB6A47}"/>
              </a:ext>
            </a:extLst>
          </p:cNvPr>
          <p:cNvSpPr txBox="1"/>
          <p:nvPr/>
        </p:nvSpPr>
        <p:spPr>
          <a:xfrm>
            <a:off x="1555422" y="2394409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086389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B7965-E881-F8ED-038F-A7F596242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4A5D60-F01B-73CC-4082-D23DC9010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A14A5E-3FFC-8B08-932A-692B358845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일단 실패함수가 </a:t>
            </a:r>
            <a:r>
              <a:rPr lang="en-US" altLang="ko-KR" dirty="0"/>
              <a:t>“</a:t>
            </a:r>
            <a:r>
              <a:rPr lang="ko-KR" altLang="en-US" dirty="0"/>
              <a:t>왜</a:t>
            </a:r>
            <a:r>
              <a:rPr lang="en-US" altLang="ko-KR" dirty="0"/>
              <a:t>“ </a:t>
            </a:r>
            <a:r>
              <a:rPr lang="ko-KR" altLang="en-US" dirty="0"/>
              <a:t>필요한지 이전에 </a:t>
            </a:r>
            <a:r>
              <a:rPr lang="ko-KR" altLang="en-US" u="sng" dirty="0"/>
              <a:t>어떻게 구하는 지</a:t>
            </a:r>
            <a:r>
              <a:rPr lang="en-US" altLang="ko-KR" dirty="0"/>
              <a:t>!</a:t>
            </a:r>
          </a:p>
          <a:p>
            <a:r>
              <a:rPr lang="en-US" altLang="ko-KR" dirty="0"/>
              <a:t>S</a:t>
            </a:r>
          </a:p>
          <a:p>
            <a:endParaRPr lang="en-US" altLang="ko-KR" dirty="0"/>
          </a:p>
          <a:p>
            <a:r>
              <a:rPr lang="en-US" altLang="ko-KR" dirty="0"/>
              <a:t>F(5) </a:t>
            </a:r>
            <a:r>
              <a:rPr lang="ko-KR" altLang="en-US" dirty="0"/>
              <a:t>는</a:t>
            </a:r>
            <a:r>
              <a:rPr lang="en-US" altLang="ko-KR" dirty="0"/>
              <a:t>? 5</a:t>
            </a:r>
            <a:r>
              <a:rPr lang="en-US" altLang="ko-KR" b="1" dirty="0">
                <a:solidFill>
                  <a:srgbClr val="0070C0"/>
                </a:solidFill>
              </a:rPr>
              <a:t>+1 </a:t>
            </a:r>
            <a:r>
              <a:rPr lang="ko-KR" altLang="en-US" dirty="0"/>
              <a:t>글자를 본다</a:t>
            </a:r>
            <a:r>
              <a:rPr lang="en-US" altLang="ko-KR" dirty="0"/>
              <a:t>. </a:t>
            </a:r>
            <a:r>
              <a:rPr lang="ko-KR" altLang="en-US" dirty="0"/>
              <a:t>근데 </a:t>
            </a:r>
            <a:r>
              <a:rPr lang="en-US" altLang="ko-KR" dirty="0"/>
              <a:t>“</a:t>
            </a:r>
            <a:r>
              <a:rPr lang="ko-KR" altLang="en-US" dirty="0"/>
              <a:t>최대 길이</a:t>
            </a:r>
            <a:r>
              <a:rPr lang="en-US" altLang="ko-KR" dirty="0"/>
              <a:t>”</a:t>
            </a:r>
            <a:r>
              <a:rPr lang="ko-KR" altLang="en-US" dirty="0"/>
              <a:t>니까 거꾸로</a:t>
            </a: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2FB3BD-3C26-55ED-CBF9-5574235C5265}"/>
              </a:ext>
            </a:extLst>
          </p:cNvPr>
          <p:cNvSpPr txBox="1"/>
          <p:nvPr/>
        </p:nvSpPr>
        <p:spPr>
          <a:xfrm>
            <a:off x="1555422" y="2394409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B6C06D-6132-7F56-CDD4-BD0DDDDB149E}"/>
              </a:ext>
            </a:extLst>
          </p:cNvPr>
          <p:cNvSpPr txBox="1"/>
          <p:nvPr/>
        </p:nvSpPr>
        <p:spPr>
          <a:xfrm>
            <a:off x="1555421" y="3909594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</a:t>
            </a:r>
            <a:r>
              <a:rPr lang="en-US" altLang="ko-KR" dirty="0">
                <a:solidFill>
                  <a:srgbClr val="FF0000"/>
                </a:solidFill>
              </a:rPr>
              <a:t>B A B C A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FA007E-45F2-A665-B449-F8D98F2762E3}"/>
              </a:ext>
            </a:extLst>
          </p:cNvPr>
          <p:cNvSpPr txBox="1"/>
          <p:nvPr/>
        </p:nvSpPr>
        <p:spPr>
          <a:xfrm>
            <a:off x="1773809" y="4413863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A B A B C </a:t>
            </a:r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D458D4-133C-53C5-C15A-C0AFC25382A8}"/>
              </a:ext>
            </a:extLst>
          </p:cNvPr>
          <p:cNvSpPr txBox="1"/>
          <p:nvPr/>
        </p:nvSpPr>
        <p:spPr>
          <a:xfrm>
            <a:off x="1650453" y="5240113"/>
            <a:ext cx="1087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F(5) != 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95065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57185-27B8-85D8-A6FD-84810ED5D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2C8E7E-4F11-85D8-83FD-FC5BB5DD3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E9FCF7-1C2D-E0E0-99CC-88C0207F55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일단 실패함수가 </a:t>
            </a:r>
            <a:r>
              <a:rPr lang="en-US" altLang="ko-KR" dirty="0"/>
              <a:t>“</a:t>
            </a:r>
            <a:r>
              <a:rPr lang="ko-KR" altLang="en-US" dirty="0"/>
              <a:t>왜</a:t>
            </a:r>
            <a:r>
              <a:rPr lang="en-US" altLang="ko-KR" dirty="0"/>
              <a:t>“ </a:t>
            </a:r>
            <a:r>
              <a:rPr lang="ko-KR" altLang="en-US" dirty="0"/>
              <a:t>필요한지 이전에 </a:t>
            </a:r>
            <a:r>
              <a:rPr lang="ko-KR" altLang="en-US" u="sng" dirty="0"/>
              <a:t>어떻게 구하는 지</a:t>
            </a:r>
            <a:r>
              <a:rPr lang="en-US" altLang="ko-KR" dirty="0"/>
              <a:t>!</a:t>
            </a:r>
          </a:p>
          <a:p>
            <a:r>
              <a:rPr lang="en-US" altLang="ko-KR" dirty="0"/>
              <a:t>S</a:t>
            </a:r>
          </a:p>
          <a:p>
            <a:endParaRPr lang="en-US" altLang="ko-KR" dirty="0"/>
          </a:p>
          <a:p>
            <a:r>
              <a:rPr lang="en-US" altLang="ko-KR" dirty="0"/>
              <a:t>F(5) </a:t>
            </a:r>
            <a:r>
              <a:rPr lang="ko-KR" altLang="en-US" dirty="0"/>
              <a:t>는</a:t>
            </a:r>
            <a:r>
              <a:rPr lang="en-US" altLang="ko-KR" dirty="0"/>
              <a:t>? 5</a:t>
            </a:r>
            <a:r>
              <a:rPr lang="en-US" altLang="ko-KR" b="1" dirty="0">
                <a:solidFill>
                  <a:srgbClr val="0070C0"/>
                </a:solidFill>
              </a:rPr>
              <a:t>+1 </a:t>
            </a:r>
            <a:r>
              <a:rPr lang="ko-KR" altLang="en-US" dirty="0"/>
              <a:t>글자를 본다</a:t>
            </a:r>
            <a:r>
              <a:rPr lang="en-US" altLang="ko-KR" dirty="0"/>
              <a:t>. </a:t>
            </a:r>
            <a:r>
              <a:rPr lang="ko-KR" altLang="en-US" dirty="0"/>
              <a:t>근데 </a:t>
            </a:r>
            <a:r>
              <a:rPr lang="en-US" altLang="ko-KR" dirty="0"/>
              <a:t>“</a:t>
            </a:r>
            <a:r>
              <a:rPr lang="ko-KR" altLang="en-US" dirty="0"/>
              <a:t>최대 길이</a:t>
            </a:r>
            <a:r>
              <a:rPr lang="en-US" altLang="ko-KR" dirty="0"/>
              <a:t>”</a:t>
            </a:r>
            <a:r>
              <a:rPr lang="ko-KR" altLang="en-US" dirty="0"/>
              <a:t>니까 거꾸로</a:t>
            </a: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B56DD2-54AA-635C-07A1-56DC66626585}"/>
              </a:ext>
            </a:extLst>
          </p:cNvPr>
          <p:cNvSpPr txBox="1"/>
          <p:nvPr/>
        </p:nvSpPr>
        <p:spPr>
          <a:xfrm>
            <a:off x="1555422" y="2394409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941405-4018-0697-1B15-D78072C9FA86}"/>
              </a:ext>
            </a:extLst>
          </p:cNvPr>
          <p:cNvSpPr txBox="1"/>
          <p:nvPr/>
        </p:nvSpPr>
        <p:spPr>
          <a:xfrm>
            <a:off x="1555421" y="3909594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</a:t>
            </a:r>
            <a:r>
              <a:rPr lang="en-US" altLang="ko-KR" dirty="0">
                <a:solidFill>
                  <a:srgbClr val="FF0000"/>
                </a:solidFill>
              </a:rPr>
              <a:t>B A B C A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88109E-370F-3033-91E1-4DD478067055}"/>
              </a:ext>
            </a:extLst>
          </p:cNvPr>
          <p:cNvSpPr txBox="1"/>
          <p:nvPr/>
        </p:nvSpPr>
        <p:spPr>
          <a:xfrm>
            <a:off x="1773809" y="4413863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A B A B C </a:t>
            </a:r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062E49-94BA-482A-34C1-4B534CFBE091}"/>
              </a:ext>
            </a:extLst>
          </p:cNvPr>
          <p:cNvSpPr txBox="1"/>
          <p:nvPr/>
        </p:nvSpPr>
        <p:spPr>
          <a:xfrm>
            <a:off x="1650453" y="5240113"/>
            <a:ext cx="1087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F(5) != 5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5A6F21-51E2-4C05-5F34-2133525F627B}"/>
              </a:ext>
            </a:extLst>
          </p:cNvPr>
          <p:cNvSpPr txBox="1"/>
          <p:nvPr/>
        </p:nvSpPr>
        <p:spPr>
          <a:xfrm>
            <a:off x="3932547" y="3920589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00B050"/>
                </a:solidFill>
              </a:rPr>
              <a:t>A B</a:t>
            </a:r>
            <a:r>
              <a:rPr lang="en-US" altLang="ko-KR" dirty="0">
                <a:solidFill>
                  <a:srgbClr val="FF0000"/>
                </a:solidFill>
              </a:rPr>
              <a:t> C A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CA9E72-DE78-09EC-7CFF-A1C5C85F8389}"/>
              </a:ext>
            </a:extLst>
          </p:cNvPr>
          <p:cNvSpPr txBox="1"/>
          <p:nvPr/>
        </p:nvSpPr>
        <p:spPr>
          <a:xfrm>
            <a:off x="4396036" y="4424858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A B</a:t>
            </a:r>
            <a:r>
              <a:rPr lang="en-US" altLang="ko-KR" dirty="0">
                <a:solidFill>
                  <a:srgbClr val="FF0000"/>
                </a:solidFill>
              </a:rPr>
              <a:t> A B C </a:t>
            </a:r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F17655-31D2-01FF-66E8-953291FE381A}"/>
              </a:ext>
            </a:extLst>
          </p:cNvPr>
          <p:cNvSpPr txBox="1"/>
          <p:nvPr/>
        </p:nvSpPr>
        <p:spPr>
          <a:xfrm>
            <a:off x="4027579" y="5251108"/>
            <a:ext cx="1087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F(5) != 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984631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FF57A-EBAE-D15F-5B80-5D90A5238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EAAB4A-CBB2-329D-0C07-832A66A48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20D6A0B-2630-50A6-49EE-474092495D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일단 실패함수가 </a:t>
            </a:r>
            <a:r>
              <a:rPr lang="en-US" altLang="ko-KR" dirty="0"/>
              <a:t>“</a:t>
            </a:r>
            <a:r>
              <a:rPr lang="ko-KR" altLang="en-US" dirty="0"/>
              <a:t>왜</a:t>
            </a:r>
            <a:r>
              <a:rPr lang="en-US" altLang="ko-KR" dirty="0"/>
              <a:t>“ </a:t>
            </a:r>
            <a:r>
              <a:rPr lang="ko-KR" altLang="en-US" dirty="0"/>
              <a:t>필요한지 이전에 </a:t>
            </a:r>
            <a:r>
              <a:rPr lang="ko-KR" altLang="en-US" u="sng" dirty="0"/>
              <a:t>어떻게 구하는 지</a:t>
            </a:r>
            <a:r>
              <a:rPr lang="en-US" altLang="ko-KR" dirty="0"/>
              <a:t>!</a:t>
            </a:r>
          </a:p>
          <a:p>
            <a:r>
              <a:rPr lang="en-US" altLang="ko-KR" dirty="0"/>
              <a:t>S</a:t>
            </a:r>
          </a:p>
          <a:p>
            <a:endParaRPr lang="en-US" altLang="ko-KR" dirty="0"/>
          </a:p>
          <a:p>
            <a:r>
              <a:rPr lang="en-US" altLang="ko-KR" dirty="0"/>
              <a:t>F(5) </a:t>
            </a:r>
            <a:r>
              <a:rPr lang="ko-KR" altLang="en-US" dirty="0"/>
              <a:t>는</a:t>
            </a:r>
            <a:r>
              <a:rPr lang="en-US" altLang="ko-KR" dirty="0"/>
              <a:t>? 5</a:t>
            </a:r>
            <a:r>
              <a:rPr lang="en-US" altLang="ko-KR" b="1" dirty="0">
                <a:solidFill>
                  <a:srgbClr val="0070C0"/>
                </a:solidFill>
              </a:rPr>
              <a:t>+1 </a:t>
            </a:r>
            <a:r>
              <a:rPr lang="ko-KR" altLang="en-US" dirty="0"/>
              <a:t>글자를 본다</a:t>
            </a:r>
            <a:r>
              <a:rPr lang="en-US" altLang="ko-KR" dirty="0"/>
              <a:t>. </a:t>
            </a:r>
            <a:r>
              <a:rPr lang="ko-KR" altLang="en-US" dirty="0"/>
              <a:t>근데 </a:t>
            </a:r>
            <a:r>
              <a:rPr lang="en-US" altLang="ko-KR" dirty="0"/>
              <a:t>“</a:t>
            </a:r>
            <a:r>
              <a:rPr lang="ko-KR" altLang="en-US" dirty="0"/>
              <a:t>최대 길이</a:t>
            </a:r>
            <a:r>
              <a:rPr lang="en-US" altLang="ko-KR" dirty="0"/>
              <a:t>”</a:t>
            </a:r>
            <a:r>
              <a:rPr lang="ko-KR" altLang="en-US" dirty="0"/>
              <a:t>니까 거꾸로</a:t>
            </a: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46EC67-3567-DF33-FBD9-EBA21D62DA1A}"/>
              </a:ext>
            </a:extLst>
          </p:cNvPr>
          <p:cNvSpPr txBox="1"/>
          <p:nvPr/>
        </p:nvSpPr>
        <p:spPr>
          <a:xfrm>
            <a:off x="1555422" y="2394409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88C5CD-71EF-DD44-A06A-C1B4DFBB1281}"/>
              </a:ext>
            </a:extLst>
          </p:cNvPr>
          <p:cNvSpPr txBox="1"/>
          <p:nvPr/>
        </p:nvSpPr>
        <p:spPr>
          <a:xfrm>
            <a:off x="1555421" y="3909594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</a:t>
            </a:r>
            <a:r>
              <a:rPr lang="en-US" altLang="ko-KR" dirty="0">
                <a:solidFill>
                  <a:srgbClr val="FF0000"/>
                </a:solidFill>
              </a:rPr>
              <a:t>B A B C A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BC7498-7473-82F9-4E71-B4B4B770EF27}"/>
              </a:ext>
            </a:extLst>
          </p:cNvPr>
          <p:cNvSpPr txBox="1"/>
          <p:nvPr/>
        </p:nvSpPr>
        <p:spPr>
          <a:xfrm>
            <a:off x="1773809" y="4413863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A B A B C </a:t>
            </a:r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6BF6E2-979B-D57F-EA71-E296C503377A}"/>
              </a:ext>
            </a:extLst>
          </p:cNvPr>
          <p:cNvSpPr txBox="1"/>
          <p:nvPr/>
        </p:nvSpPr>
        <p:spPr>
          <a:xfrm>
            <a:off x="1650453" y="5240113"/>
            <a:ext cx="1087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F(5) != 5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3B43DE-C4C9-2A04-3696-3CED8C3BDB99}"/>
              </a:ext>
            </a:extLst>
          </p:cNvPr>
          <p:cNvSpPr txBox="1"/>
          <p:nvPr/>
        </p:nvSpPr>
        <p:spPr>
          <a:xfrm>
            <a:off x="3932547" y="3920589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00B050"/>
                </a:solidFill>
              </a:rPr>
              <a:t>A B</a:t>
            </a:r>
            <a:r>
              <a:rPr lang="en-US" altLang="ko-KR" dirty="0">
                <a:solidFill>
                  <a:srgbClr val="FF0000"/>
                </a:solidFill>
              </a:rPr>
              <a:t> C A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63C456-07D5-0896-C782-247C93BA8B56}"/>
              </a:ext>
            </a:extLst>
          </p:cNvPr>
          <p:cNvSpPr txBox="1"/>
          <p:nvPr/>
        </p:nvSpPr>
        <p:spPr>
          <a:xfrm>
            <a:off x="4396036" y="4424858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A B</a:t>
            </a:r>
            <a:r>
              <a:rPr lang="en-US" altLang="ko-KR" dirty="0">
                <a:solidFill>
                  <a:srgbClr val="FF0000"/>
                </a:solidFill>
              </a:rPr>
              <a:t> A B </a:t>
            </a:r>
            <a:r>
              <a:rPr lang="en-US" altLang="ko-KR" dirty="0"/>
              <a:t>C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490F97-2DFE-018E-5CC3-F2B57EC6CCB3}"/>
              </a:ext>
            </a:extLst>
          </p:cNvPr>
          <p:cNvSpPr txBox="1"/>
          <p:nvPr/>
        </p:nvSpPr>
        <p:spPr>
          <a:xfrm>
            <a:off x="4027579" y="5251108"/>
            <a:ext cx="1087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F(5) != 4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79AC97-60E0-56FB-AA61-1104E0BF8F0C}"/>
              </a:ext>
            </a:extLst>
          </p:cNvPr>
          <p:cNvSpPr txBox="1"/>
          <p:nvPr/>
        </p:nvSpPr>
        <p:spPr>
          <a:xfrm>
            <a:off x="6526491" y="3922157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/>
              <a:t>A</a:t>
            </a:r>
            <a:r>
              <a:rPr lang="en-US" altLang="ko-KR" dirty="0">
                <a:solidFill>
                  <a:srgbClr val="00B050"/>
                </a:solidFill>
              </a:rPr>
              <a:t> </a:t>
            </a:r>
            <a:r>
              <a:rPr lang="en-US" altLang="ko-KR" dirty="0">
                <a:solidFill>
                  <a:srgbClr val="FF0000"/>
                </a:solidFill>
              </a:rPr>
              <a:t>B C A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E9D0DD-2DFB-506C-AD39-74AD660C018F}"/>
              </a:ext>
            </a:extLst>
          </p:cNvPr>
          <p:cNvSpPr txBox="1"/>
          <p:nvPr/>
        </p:nvSpPr>
        <p:spPr>
          <a:xfrm>
            <a:off x="7225655" y="4426426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A B A </a:t>
            </a:r>
            <a:r>
              <a:rPr lang="en-US" altLang="ko-KR" dirty="0"/>
              <a:t>B C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42118E-BE6C-6ABB-BFFA-638725F7F766}"/>
              </a:ext>
            </a:extLst>
          </p:cNvPr>
          <p:cNvSpPr txBox="1"/>
          <p:nvPr/>
        </p:nvSpPr>
        <p:spPr>
          <a:xfrm>
            <a:off x="6979747" y="5252676"/>
            <a:ext cx="1087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F(5) != 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28445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8E82B-3F3A-1F71-BC40-6CEDD880D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6F24E0-B06B-CA93-227A-2EBD7B4E5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0F234C8-6D14-FBCE-0D0E-A7D9EF36F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일단 실패함수가 </a:t>
            </a:r>
            <a:r>
              <a:rPr lang="en-US" altLang="ko-KR" dirty="0"/>
              <a:t>“</a:t>
            </a:r>
            <a:r>
              <a:rPr lang="ko-KR" altLang="en-US" dirty="0"/>
              <a:t>왜</a:t>
            </a:r>
            <a:r>
              <a:rPr lang="en-US" altLang="ko-KR" dirty="0"/>
              <a:t>“ </a:t>
            </a:r>
            <a:r>
              <a:rPr lang="ko-KR" altLang="en-US" dirty="0"/>
              <a:t>필요한지 이전에 </a:t>
            </a:r>
            <a:r>
              <a:rPr lang="ko-KR" altLang="en-US" u="sng" dirty="0"/>
              <a:t>어떻게 구하는 지</a:t>
            </a:r>
            <a:r>
              <a:rPr lang="en-US" altLang="ko-KR" dirty="0"/>
              <a:t>!</a:t>
            </a:r>
          </a:p>
          <a:p>
            <a:r>
              <a:rPr lang="en-US" altLang="ko-KR" dirty="0"/>
              <a:t>S</a:t>
            </a:r>
          </a:p>
          <a:p>
            <a:endParaRPr lang="en-US" altLang="ko-KR" dirty="0"/>
          </a:p>
          <a:p>
            <a:r>
              <a:rPr lang="en-US" altLang="ko-KR" dirty="0"/>
              <a:t>F(5) </a:t>
            </a:r>
            <a:r>
              <a:rPr lang="ko-KR" altLang="en-US" dirty="0"/>
              <a:t>는</a:t>
            </a:r>
            <a:r>
              <a:rPr lang="en-US" altLang="ko-KR" dirty="0"/>
              <a:t>? 5</a:t>
            </a:r>
            <a:r>
              <a:rPr lang="en-US" altLang="ko-KR" b="1" dirty="0">
                <a:solidFill>
                  <a:srgbClr val="0070C0"/>
                </a:solidFill>
              </a:rPr>
              <a:t>+1 </a:t>
            </a:r>
            <a:r>
              <a:rPr lang="ko-KR" altLang="en-US" dirty="0"/>
              <a:t>글자를 본다</a:t>
            </a:r>
            <a:r>
              <a:rPr lang="en-US" altLang="ko-KR" dirty="0"/>
              <a:t>. </a:t>
            </a:r>
            <a:r>
              <a:rPr lang="ko-KR" altLang="en-US" dirty="0"/>
              <a:t>근데 </a:t>
            </a:r>
            <a:r>
              <a:rPr lang="en-US" altLang="ko-KR" dirty="0"/>
              <a:t>“</a:t>
            </a:r>
            <a:r>
              <a:rPr lang="ko-KR" altLang="en-US" dirty="0"/>
              <a:t>최대 길이</a:t>
            </a:r>
            <a:r>
              <a:rPr lang="en-US" altLang="ko-KR" dirty="0"/>
              <a:t>”</a:t>
            </a:r>
            <a:r>
              <a:rPr lang="ko-KR" altLang="en-US" dirty="0"/>
              <a:t>니까 거꾸로</a:t>
            </a: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36C571-224E-3796-4962-005C6D1FD4A8}"/>
              </a:ext>
            </a:extLst>
          </p:cNvPr>
          <p:cNvSpPr txBox="1"/>
          <p:nvPr/>
        </p:nvSpPr>
        <p:spPr>
          <a:xfrm>
            <a:off x="1555422" y="2394409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FCE07A-D9B5-0F12-F94B-0A7986DA112C}"/>
              </a:ext>
            </a:extLst>
          </p:cNvPr>
          <p:cNvSpPr txBox="1"/>
          <p:nvPr/>
        </p:nvSpPr>
        <p:spPr>
          <a:xfrm>
            <a:off x="1555421" y="3909594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/>
              <a:t>B</a:t>
            </a:r>
            <a:r>
              <a:rPr lang="en-US" altLang="ko-KR" dirty="0">
                <a:solidFill>
                  <a:srgbClr val="FF0000"/>
                </a:solidFill>
              </a:rPr>
              <a:t> C A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BB548E-3EC9-EAC9-8674-2443386ED312}"/>
              </a:ext>
            </a:extLst>
          </p:cNvPr>
          <p:cNvSpPr txBox="1"/>
          <p:nvPr/>
        </p:nvSpPr>
        <p:spPr>
          <a:xfrm>
            <a:off x="2499676" y="4413863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A B </a:t>
            </a:r>
            <a:r>
              <a:rPr lang="en-US" altLang="ko-KR" dirty="0"/>
              <a:t>A B C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551CD3-1180-DD1A-C661-7B78C1F315E6}"/>
              </a:ext>
            </a:extLst>
          </p:cNvPr>
          <p:cNvSpPr txBox="1"/>
          <p:nvPr/>
        </p:nvSpPr>
        <p:spPr>
          <a:xfrm>
            <a:off x="2131222" y="5240113"/>
            <a:ext cx="1087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F(5) != 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4184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0A51A-393F-54DA-320B-137707D75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811695-2B2D-9F08-EDB2-1F37A6222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F754E0-19C8-9DEA-0F53-87FA879780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일단 실패함수가 </a:t>
            </a:r>
            <a:r>
              <a:rPr lang="en-US" altLang="ko-KR" dirty="0"/>
              <a:t>“</a:t>
            </a:r>
            <a:r>
              <a:rPr lang="ko-KR" altLang="en-US" dirty="0"/>
              <a:t>왜</a:t>
            </a:r>
            <a:r>
              <a:rPr lang="en-US" altLang="ko-KR" dirty="0"/>
              <a:t>“ </a:t>
            </a:r>
            <a:r>
              <a:rPr lang="ko-KR" altLang="en-US" dirty="0"/>
              <a:t>필요한지 이전에 </a:t>
            </a:r>
            <a:r>
              <a:rPr lang="ko-KR" altLang="en-US" u="sng" dirty="0"/>
              <a:t>어떻게 구하는 지</a:t>
            </a:r>
            <a:r>
              <a:rPr lang="en-US" altLang="ko-KR" dirty="0"/>
              <a:t>!</a:t>
            </a:r>
          </a:p>
          <a:p>
            <a:r>
              <a:rPr lang="en-US" altLang="ko-KR" dirty="0"/>
              <a:t>S</a:t>
            </a:r>
          </a:p>
          <a:p>
            <a:endParaRPr lang="en-US" altLang="ko-KR" dirty="0"/>
          </a:p>
          <a:p>
            <a:r>
              <a:rPr lang="en-US" altLang="ko-KR" dirty="0"/>
              <a:t>F(5) </a:t>
            </a:r>
            <a:r>
              <a:rPr lang="ko-KR" altLang="en-US" dirty="0"/>
              <a:t>는</a:t>
            </a:r>
            <a:r>
              <a:rPr lang="en-US" altLang="ko-KR" dirty="0"/>
              <a:t>? 5</a:t>
            </a:r>
            <a:r>
              <a:rPr lang="en-US" altLang="ko-KR" b="1" dirty="0">
                <a:solidFill>
                  <a:srgbClr val="0070C0"/>
                </a:solidFill>
              </a:rPr>
              <a:t>+1 </a:t>
            </a:r>
            <a:r>
              <a:rPr lang="ko-KR" altLang="en-US" dirty="0"/>
              <a:t>글자를 본다</a:t>
            </a:r>
            <a:r>
              <a:rPr lang="en-US" altLang="ko-KR" dirty="0"/>
              <a:t>. </a:t>
            </a:r>
            <a:r>
              <a:rPr lang="ko-KR" altLang="en-US" dirty="0"/>
              <a:t>근데 </a:t>
            </a:r>
            <a:r>
              <a:rPr lang="en-US" altLang="ko-KR" dirty="0"/>
              <a:t>“</a:t>
            </a:r>
            <a:r>
              <a:rPr lang="ko-KR" altLang="en-US" dirty="0"/>
              <a:t>최대 길이</a:t>
            </a:r>
            <a:r>
              <a:rPr lang="en-US" altLang="ko-KR" dirty="0"/>
              <a:t>”</a:t>
            </a:r>
            <a:r>
              <a:rPr lang="ko-KR" altLang="en-US" dirty="0"/>
              <a:t>니까 거꾸로</a:t>
            </a: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5A9FBC-CDB1-057A-1D4D-E21E9C4A0160}"/>
              </a:ext>
            </a:extLst>
          </p:cNvPr>
          <p:cNvSpPr txBox="1"/>
          <p:nvPr/>
        </p:nvSpPr>
        <p:spPr>
          <a:xfrm>
            <a:off x="1555422" y="2394409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2C1215-004F-6B9F-115B-1A333B5CE7CD}"/>
              </a:ext>
            </a:extLst>
          </p:cNvPr>
          <p:cNvSpPr txBox="1"/>
          <p:nvPr/>
        </p:nvSpPr>
        <p:spPr>
          <a:xfrm>
            <a:off x="1555421" y="3909594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/>
              <a:t>B</a:t>
            </a:r>
            <a:r>
              <a:rPr lang="en-US" altLang="ko-KR" dirty="0">
                <a:solidFill>
                  <a:srgbClr val="FF0000"/>
                </a:solidFill>
              </a:rPr>
              <a:t> C A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554487-76B1-1676-E01D-357D7B53DFF2}"/>
              </a:ext>
            </a:extLst>
          </p:cNvPr>
          <p:cNvSpPr txBox="1"/>
          <p:nvPr/>
        </p:nvSpPr>
        <p:spPr>
          <a:xfrm>
            <a:off x="2499676" y="4413863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A B </a:t>
            </a:r>
            <a:r>
              <a:rPr lang="en-US" altLang="ko-KR" dirty="0"/>
              <a:t>A B C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67F8BE-BB2D-4821-19B1-DDE5A75E229F}"/>
              </a:ext>
            </a:extLst>
          </p:cNvPr>
          <p:cNvSpPr txBox="1"/>
          <p:nvPr/>
        </p:nvSpPr>
        <p:spPr>
          <a:xfrm>
            <a:off x="2131222" y="5240113"/>
            <a:ext cx="1087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F(5) != 2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945E62-8343-5C18-84E6-38497F11CC43}"/>
              </a:ext>
            </a:extLst>
          </p:cNvPr>
          <p:cNvSpPr txBox="1"/>
          <p:nvPr/>
        </p:nvSpPr>
        <p:spPr>
          <a:xfrm>
            <a:off x="5535101" y="3920589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/>
              <a:t>B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/>
              <a:t>C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00B050"/>
                </a:solidFill>
              </a:rPr>
              <a:t>A</a:t>
            </a:r>
            <a:endParaRPr lang="ko-KR" altLang="en-US" dirty="0">
              <a:solidFill>
                <a:srgbClr val="00B05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0DEC34-7EF7-F99B-2CA1-60BE5EC25899}"/>
              </a:ext>
            </a:extLst>
          </p:cNvPr>
          <p:cNvSpPr txBox="1"/>
          <p:nvPr/>
        </p:nvSpPr>
        <p:spPr>
          <a:xfrm>
            <a:off x="6658467" y="4424858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A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/>
              <a:t>B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/>
              <a:t>A B C A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9E9E54-6556-A550-88FD-072D1738B3FB}"/>
              </a:ext>
            </a:extLst>
          </p:cNvPr>
          <p:cNvSpPr txBox="1"/>
          <p:nvPr/>
        </p:nvSpPr>
        <p:spPr>
          <a:xfrm>
            <a:off x="6110902" y="5251108"/>
            <a:ext cx="1181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F(5) == 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120591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ED7CE-D0CC-183E-9390-4720E757B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96460D-159C-5043-077F-259120CB2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2AA521-E484-51F1-C7BB-C0E67C7A52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이런 식으로 계산하면 최악의 경우 각 </a:t>
            </a:r>
            <a:r>
              <a:rPr lang="en-US" altLang="ko-KR" dirty="0"/>
              <a:t>F(x) </a:t>
            </a:r>
            <a:r>
              <a:rPr lang="ko-KR" altLang="en-US" dirty="0"/>
              <a:t>에 대해 </a:t>
            </a:r>
            <a:r>
              <a:rPr lang="en-US" altLang="ko-KR" dirty="0"/>
              <a:t>O(|S|^2) </a:t>
            </a:r>
            <a:r>
              <a:rPr lang="ko-KR" altLang="en-US" dirty="0"/>
              <a:t>연산이 필요</a:t>
            </a:r>
            <a:endParaRPr lang="en-US" altLang="ko-KR" dirty="0"/>
          </a:p>
          <a:p>
            <a:r>
              <a:rPr lang="ko-KR" altLang="en-US" dirty="0"/>
              <a:t>결국 최종 시간 복잡도는 </a:t>
            </a:r>
            <a:r>
              <a:rPr lang="en-US" altLang="ko-KR" dirty="0"/>
              <a:t>O(|S|^3)</a:t>
            </a:r>
          </a:p>
        </p:txBody>
      </p:sp>
    </p:spTree>
    <p:extLst>
      <p:ext uri="{BB962C8B-B14F-4D97-AF65-F5344CB8AC3E}">
        <p14:creationId xmlns:p14="http://schemas.microsoft.com/office/powerpoint/2010/main" val="41368371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E1608-2AD9-8461-6F57-2A99801A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3F0848-EB58-D4F2-8948-0AB5A5063B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F70D031-8522-5DE8-09AE-EDFBACB836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이런 식으로 계산하면 최악의 경우 각 </a:t>
            </a:r>
            <a:r>
              <a:rPr lang="en-US" altLang="ko-KR" dirty="0"/>
              <a:t>F(x) </a:t>
            </a:r>
            <a:r>
              <a:rPr lang="ko-KR" altLang="en-US" dirty="0"/>
              <a:t>에 대해 </a:t>
            </a:r>
            <a:r>
              <a:rPr lang="en-US" altLang="ko-KR" dirty="0"/>
              <a:t>O(|S|^2) </a:t>
            </a:r>
            <a:r>
              <a:rPr lang="ko-KR" altLang="en-US" dirty="0"/>
              <a:t>연산이 필요</a:t>
            </a:r>
            <a:endParaRPr lang="en-US" altLang="ko-KR" dirty="0"/>
          </a:p>
          <a:p>
            <a:r>
              <a:rPr lang="ko-KR" altLang="en-US" dirty="0"/>
              <a:t>결국 최종 시간 복잡도는 </a:t>
            </a:r>
            <a:r>
              <a:rPr lang="en-US" altLang="ko-KR" dirty="0"/>
              <a:t>O(|S|^3)</a:t>
            </a:r>
          </a:p>
          <a:p>
            <a:endParaRPr lang="en-US" altLang="ko-KR" dirty="0"/>
          </a:p>
          <a:p>
            <a:r>
              <a:rPr lang="en-US" altLang="ko-KR" dirty="0"/>
              <a:t>F(x) </a:t>
            </a:r>
            <a:r>
              <a:rPr lang="ko-KR" altLang="en-US" dirty="0"/>
              <a:t>를 </a:t>
            </a:r>
            <a:r>
              <a:rPr lang="ko-KR" altLang="en-US" u="sng" dirty="0"/>
              <a:t>이전의 </a:t>
            </a:r>
            <a:r>
              <a:rPr lang="en-US" altLang="ko-KR" u="sng" dirty="0"/>
              <a:t>F</a:t>
            </a:r>
            <a:r>
              <a:rPr lang="ko-KR" altLang="en-US" u="sng" dirty="0"/>
              <a:t>값을 활용</a:t>
            </a:r>
            <a:r>
              <a:rPr lang="ko-KR" altLang="en-US" dirty="0"/>
              <a:t>해서 구할 순 없을까</a:t>
            </a:r>
            <a:r>
              <a:rPr lang="en-US" altLang="ko-KR" dirty="0"/>
              <a:t>? </a:t>
            </a:r>
            <a:r>
              <a:rPr lang="en-US" altLang="ko-KR" sz="1600" dirty="0"/>
              <a:t>(like </a:t>
            </a:r>
            <a:r>
              <a:rPr lang="ko-KR" altLang="en-US" sz="1600" dirty="0"/>
              <a:t>다이나믹 프로그래밍</a:t>
            </a:r>
            <a:r>
              <a:rPr lang="en-US" altLang="ko-KR" sz="1600" dirty="0"/>
              <a:t>)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1297460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0350F-3B00-FD5C-314C-C7AB8D6C9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E92A94-D929-B62C-1787-70D19A83F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D32367-A88C-70D8-1AED-95359B670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이런 식으로 계산하면 최악의 경우 각 </a:t>
            </a:r>
            <a:r>
              <a:rPr lang="en-US" altLang="ko-KR" dirty="0"/>
              <a:t>F(x) </a:t>
            </a:r>
            <a:r>
              <a:rPr lang="ko-KR" altLang="en-US" dirty="0"/>
              <a:t>에 대해 </a:t>
            </a:r>
            <a:r>
              <a:rPr lang="en-US" altLang="ko-KR" dirty="0"/>
              <a:t>O(|S|^2) </a:t>
            </a:r>
            <a:r>
              <a:rPr lang="ko-KR" altLang="en-US" dirty="0"/>
              <a:t>연산이 필요</a:t>
            </a:r>
            <a:endParaRPr lang="en-US" altLang="ko-KR" dirty="0"/>
          </a:p>
          <a:p>
            <a:r>
              <a:rPr lang="ko-KR" altLang="en-US" dirty="0"/>
              <a:t>결국 최종 시간 복잡도는 </a:t>
            </a:r>
            <a:r>
              <a:rPr lang="en-US" altLang="ko-KR" dirty="0"/>
              <a:t>O(|S|^3)</a:t>
            </a:r>
          </a:p>
          <a:p>
            <a:endParaRPr lang="en-US" altLang="ko-KR" dirty="0"/>
          </a:p>
          <a:p>
            <a:r>
              <a:rPr lang="en-US" altLang="ko-KR" dirty="0"/>
              <a:t>F(x) </a:t>
            </a:r>
            <a:r>
              <a:rPr lang="ko-KR" altLang="en-US" dirty="0"/>
              <a:t>를 이전의 </a:t>
            </a:r>
            <a:r>
              <a:rPr lang="en-US" altLang="ko-KR" dirty="0"/>
              <a:t>F</a:t>
            </a:r>
            <a:r>
              <a:rPr lang="ko-KR" altLang="en-US" dirty="0"/>
              <a:t>값을 활용해서 구할 순 없을까</a:t>
            </a:r>
            <a:r>
              <a:rPr lang="en-US" altLang="ko-KR" dirty="0"/>
              <a:t>? </a:t>
            </a:r>
            <a:r>
              <a:rPr lang="en-US" altLang="ko-KR" sz="1600" dirty="0"/>
              <a:t>(like </a:t>
            </a:r>
            <a:r>
              <a:rPr lang="ko-KR" altLang="en-US" sz="1600" dirty="0"/>
              <a:t>다이나믹 프로그래밍</a:t>
            </a:r>
            <a:r>
              <a:rPr lang="en-US" altLang="ko-KR" sz="1600" dirty="0"/>
              <a:t>)</a:t>
            </a:r>
            <a:endParaRPr lang="en-US" altLang="ko-KR" dirty="0"/>
          </a:p>
          <a:p>
            <a:pPr lvl="1"/>
            <a:r>
              <a:rPr lang="en-US" altLang="ko-KR" dirty="0"/>
              <a:t>S                            F(5) = 1</a:t>
            </a:r>
            <a:r>
              <a:rPr lang="ko-KR" altLang="en-US" dirty="0"/>
              <a:t>임을 알고 있는 상태</a:t>
            </a:r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4CEC68-997A-4918-AF31-E988DD7CA9CE}"/>
              </a:ext>
            </a:extLst>
          </p:cNvPr>
          <p:cNvSpPr txBox="1"/>
          <p:nvPr/>
        </p:nvSpPr>
        <p:spPr>
          <a:xfrm>
            <a:off x="1913640" y="4213782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236BEF-6B43-572A-8E4C-3FEFDDBCDB06}"/>
              </a:ext>
            </a:extLst>
          </p:cNvPr>
          <p:cNvSpPr txBox="1"/>
          <p:nvPr/>
        </p:nvSpPr>
        <p:spPr>
          <a:xfrm>
            <a:off x="1913640" y="4718051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</a:t>
            </a:r>
            <a:r>
              <a:rPr lang="en-US" altLang="ko-KR" b="1" dirty="0">
                <a:solidFill>
                  <a:srgbClr val="00B050"/>
                </a:solidFill>
              </a:rPr>
              <a:t>A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E91997-FC7D-2BF9-DA3C-B8034F438DC2}"/>
              </a:ext>
            </a:extLst>
          </p:cNvPr>
          <p:cNvSpPr txBox="1"/>
          <p:nvPr/>
        </p:nvSpPr>
        <p:spPr>
          <a:xfrm>
            <a:off x="3049681" y="5195372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</a:t>
            </a:r>
            <a:r>
              <a:rPr lang="en-US" altLang="ko-KR" dirty="0"/>
              <a:t> B A B C 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72099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DE6E4-EE6C-E778-0F38-DC7FB1BE5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3EF2A1-B5D9-B6F2-1A1B-3A6E5EDC4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ADBCEE-169C-39DB-9A26-017A0B6A17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이런 식으로 계산하면 최악의 경우 각 </a:t>
            </a:r>
            <a:r>
              <a:rPr lang="en-US" altLang="ko-KR" dirty="0"/>
              <a:t>F(x) </a:t>
            </a:r>
            <a:r>
              <a:rPr lang="ko-KR" altLang="en-US" dirty="0"/>
              <a:t>에 대해 </a:t>
            </a:r>
            <a:r>
              <a:rPr lang="en-US" altLang="ko-KR" dirty="0"/>
              <a:t>O(|S|^2) </a:t>
            </a:r>
            <a:r>
              <a:rPr lang="ko-KR" altLang="en-US" dirty="0"/>
              <a:t>연산이 필요</a:t>
            </a:r>
            <a:endParaRPr lang="en-US" altLang="ko-KR" dirty="0"/>
          </a:p>
          <a:p>
            <a:r>
              <a:rPr lang="ko-KR" altLang="en-US" dirty="0"/>
              <a:t>결국 최종 시간 복잡도는 </a:t>
            </a:r>
            <a:r>
              <a:rPr lang="en-US" altLang="ko-KR" dirty="0"/>
              <a:t>O(|S|^3)</a:t>
            </a:r>
          </a:p>
          <a:p>
            <a:endParaRPr lang="en-US" altLang="ko-KR" dirty="0"/>
          </a:p>
          <a:p>
            <a:r>
              <a:rPr lang="en-US" altLang="ko-KR" dirty="0"/>
              <a:t>F(x) </a:t>
            </a:r>
            <a:r>
              <a:rPr lang="ko-KR" altLang="en-US" dirty="0"/>
              <a:t>를 이전의 </a:t>
            </a:r>
            <a:r>
              <a:rPr lang="en-US" altLang="ko-KR" dirty="0"/>
              <a:t>F</a:t>
            </a:r>
            <a:r>
              <a:rPr lang="ko-KR" altLang="en-US" dirty="0"/>
              <a:t>값을 활용해서 구할 순 없을까</a:t>
            </a:r>
            <a:r>
              <a:rPr lang="en-US" altLang="ko-KR" dirty="0"/>
              <a:t>? </a:t>
            </a:r>
            <a:r>
              <a:rPr lang="en-US" altLang="ko-KR" sz="1600" dirty="0"/>
              <a:t>(like </a:t>
            </a:r>
            <a:r>
              <a:rPr lang="ko-KR" altLang="en-US" sz="1600" dirty="0"/>
              <a:t>다이나믹 프로그래밍</a:t>
            </a:r>
            <a:r>
              <a:rPr lang="en-US" altLang="ko-KR" sz="1600" dirty="0"/>
              <a:t>)</a:t>
            </a:r>
            <a:endParaRPr lang="en-US" altLang="ko-KR" dirty="0"/>
          </a:p>
          <a:p>
            <a:pPr lvl="1"/>
            <a:r>
              <a:rPr lang="en-US" altLang="ko-KR" dirty="0"/>
              <a:t>S                            F(5) = 1</a:t>
            </a:r>
            <a:r>
              <a:rPr lang="ko-KR" altLang="en-US" dirty="0"/>
              <a:t>임을 알고 있는 상태</a:t>
            </a:r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DB1A7C-D373-0C5B-00E7-68EF529D9814}"/>
              </a:ext>
            </a:extLst>
          </p:cNvPr>
          <p:cNvSpPr txBox="1"/>
          <p:nvPr/>
        </p:nvSpPr>
        <p:spPr>
          <a:xfrm>
            <a:off x="1913640" y="4213782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6EF425-30F7-E0C9-0535-DF34163247AA}"/>
              </a:ext>
            </a:extLst>
          </p:cNvPr>
          <p:cNvSpPr txBox="1"/>
          <p:nvPr/>
        </p:nvSpPr>
        <p:spPr>
          <a:xfrm>
            <a:off x="1913640" y="4718051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</a:t>
            </a:r>
            <a:r>
              <a:rPr lang="en-US" altLang="ko-KR" b="1" dirty="0">
                <a:solidFill>
                  <a:srgbClr val="00B050"/>
                </a:solidFill>
              </a:rPr>
              <a:t>A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19A47C-91E3-7D04-7C17-7F3738116F90}"/>
              </a:ext>
            </a:extLst>
          </p:cNvPr>
          <p:cNvSpPr txBox="1"/>
          <p:nvPr/>
        </p:nvSpPr>
        <p:spPr>
          <a:xfrm>
            <a:off x="3049681" y="5195372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</a:t>
            </a:r>
            <a:r>
              <a:rPr lang="en-US" altLang="ko-KR" dirty="0"/>
              <a:t> B A B C A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F97058-6CD5-7B38-D96B-6EEA8C851A1D}"/>
              </a:ext>
            </a:extLst>
          </p:cNvPr>
          <p:cNvSpPr txBox="1"/>
          <p:nvPr/>
        </p:nvSpPr>
        <p:spPr>
          <a:xfrm>
            <a:off x="3444801" y="4718051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5EB8FB-E976-8ED9-F7EE-A4EA9A5ED4D3}"/>
              </a:ext>
            </a:extLst>
          </p:cNvPr>
          <p:cNvSpPr txBox="1"/>
          <p:nvPr/>
        </p:nvSpPr>
        <p:spPr>
          <a:xfrm>
            <a:off x="4568163" y="5190965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480482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D9C6C-4DF5-22F8-1439-153EB6FB9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579C93-2155-82E6-49DF-44D748B62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F680C1-F233-A158-B4CF-8F311040F6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이런 식으로 계산하면 최악의 경우 각 </a:t>
            </a:r>
            <a:r>
              <a:rPr lang="en-US" altLang="ko-KR" dirty="0"/>
              <a:t>F(x) </a:t>
            </a:r>
            <a:r>
              <a:rPr lang="ko-KR" altLang="en-US" dirty="0"/>
              <a:t>에 대해 </a:t>
            </a:r>
            <a:r>
              <a:rPr lang="en-US" altLang="ko-KR" dirty="0"/>
              <a:t>O(|S|^2) </a:t>
            </a:r>
            <a:r>
              <a:rPr lang="ko-KR" altLang="en-US" dirty="0"/>
              <a:t>연산이 필요</a:t>
            </a:r>
            <a:endParaRPr lang="en-US" altLang="ko-KR" dirty="0"/>
          </a:p>
          <a:p>
            <a:r>
              <a:rPr lang="ko-KR" altLang="en-US" dirty="0"/>
              <a:t>결국 최종 시간 복잡도는 </a:t>
            </a:r>
            <a:r>
              <a:rPr lang="en-US" altLang="ko-KR" dirty="0"/>
              <a:t>O(|S|^3)</a:t>
            </a:r>
          </a:p>
          <a:p>
            <a:endParaRPr lang="en-US" altLang="ko-KR" dirty="0"/>
          </a:p>
          <a:p>
            <a:r>
              <a:rPr lang="en-US" altLang="ko-KR" dirty="0"/>
              <a:t>F(x) </a:t>
            </a:r>
            <a:r>
              <a:rPr lang="ko-KR" altLang="en-US" dirty="0"/>
              <a:t>를 이전의 </a:t>
            </a:r>
            <a:r>
              <a:rPr lang="en-US" altLang="ko-KR" dirty="0"/>
              <a:t>F</a:t>
            </a:r>
            <a:r>
              <a:rPr lang="ko-KR" altLang="en-US" dirty="0"/>
              <a:t>값을 활용해서 구할 순 없을까</a:t>
            </a:r>
            <a:r>
              <a:rPr lang="en-US" altLang="ko-KR" dirty="0"/>
              <a:t>? </a:t>
            </a:r>
            <a:r>
              <a:rPr lang="en-US" altLang="ko-KR" sz="1600" dirty="0"/>
              <a:t>(like </a:t>
            </a:r>
            <a:r>
              <a:rPr lang="ko-KR" altLang="en-US" sz="1600" dirty="0"/>
              <a:t>다이나믹 프로그래밍</a:t>
            </a:r>
            <a:r>
              <a:rPr lang="en-US" altLang="ko-KR" sz="1600" dirty="0"/>
              <a:t>)</a:t>
            </a:r>
            <a:endParaRPr lang="en-US" altLang="ko-KR" dirty="0"/>
          </a:p>
          <a:p>
            <a:pPr lvl="1"/>
            <a:r>
              <a:rPr lang="en-US" altLang="ko-KR" dirty="0"/>
              <a:t>S                            F(5) = 1</a:t>
            </a:r>
            <a:r>
              <a:rPr lang="ko-KR" altLang="en-US" dirty="0"/>
              <a:t>임을 알고 있는 상태</a:t>
            </a:r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582D5F-7C7F-F787-98E5-11383418174E}"/>
              </a:ext>
            </a:extLst>
          </p:cNvPr>
          <p:cNvSpPr txBox="1"/>
          <p:nvPr/>
        </p:nvSpPr>
        <p:spPr>
          <a:xfrm>
            <a:off x="1913640" y="4213782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54762A-F112-D11B-267D-FDF95F02DA19}"/>
              </a:ext>
            </a:extLst>
          </p:cNvPr>
          <p:cNvSpPr txBox="1"/>
          <p:nvPr/>
        </p:nvSpPr>
        <p:spPr>
          <a:xfrm>
            <a:off x="1913640" y="4718051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</a:t>
            </a:r>
            <a:r>
              <a:rPr lang="en-US" altLang="ko-KR" b="1" dirty="0">
                <a:solidFill>
                  <a:srgbClr val="00B050"/>
                </a:solidFill>
              </a:rPr>
              <a:t>A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A32844-25DE-0312-B24C-5236ED1DF871}"/>
              </a:ext>
            </a:extLst>
          </p:cNvPr>
          <p:cNvSpPr txBox="1"/>
          <p:nvPr/>
        </p:nvSpPr>
        <p:spPr>
          <a:xfrm>
            <a:off x="3049681" y="5195372"/>
            <a:ext cx="14879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00B050"/>
                </a:solidFill>
              </a:rPr>
              <a:t>B</a:t>
            </a:r>
            <a:r>
              <a:rPr lang="en-US" altLang="ko-KR" dirty="0"/>
              <a:t> A B C A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51D09F-CE43-685F-B43F-83861D3B62BF}"/>
              </a:ext>
            </a:extLst>
          </p:cNvPr>
          <p:cNvSpPr txBox="1"/>
          <p:nvPr/>
        </p:nvSpPr>
        <p:spPr>
          <a:xfrm>
            <a:off x="3444801" y="4718051"/>
            <a:ext cx="33214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B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43152C-AA7F-7F97-B619-CC623DCF0F96}"/>
              </a:ext>
            </a:extLst>
          </p:cNvPr>
          <p:cNvSpPr txBox="1"/>
          <p:nvPr/>
        </p:nvSpPr>
        <p:spPr>
          <a:xfrm>
            <a:off x="4605871" y="5190965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938673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E9720-2A8A-26FC-7F32-0D220A877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A9DFAD-6431-0F4B-90D4-218643DD2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4915859-B389-C888-727F-E0D5FF8293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이런 식으로 계산하면 최악의 경우 각 </a:t>
            </a:r>
            <a:r>
              <a:rPr lang="en-US" altLang="ko-KR" dirty="0"/>
              <a:t>F(x) </a:t>
            </a:r>
            <a:r>
              <a:rPr lang="ko-KR" altLang="en-US" dirty="0"/>
              <a:t>에 대해 </a:t>
            </a:r>
            <a:r>
              <a:rPr lang="en-US" altLang="ko-KR" dirty="0"/>
              <a:t>O(|S|^2) </a:t>
            </a:r>
            <a:r>
              <a:rPr lang="ko-KR" altLang="en-US" dirty="0"/>
              <a:t>연산이 필요</a:t>
            </a:r>
            <a:endParaRPr lang="en-US" altLang="ko-KR" dirty="0"/>
          </a:p>
          <a:p>
            <a:r>
              <a:rPr lang="ko-KR" altLang="en-US" dirty="0"/>
              <a:t>결국 최종 시간 복잡도는 </a:t>
            </a:r>
            <a:r>
              <a:rPr lang="en-US" altLang="ko-KR" dirty="0"/>
              <a:t>O(|S|^3)</a:t>
            </a:r>
          </a:p>
          <a:p>
            <a:endParaRPr lang="en-US" altLang="ko-KR" dirty="0"/>
          </a:p>
          <a:p>
            <a:r>
              <a:rPr lang="en-US" altLang="ko-KR" dirty="0"/>
              <a:t>F(x) </a:t>
            </a:r>
            <a:r>
              <a:rPr lang="ko-KR" altLang="en-US" dirty="0"/>
              <a:t>를 이전의 </a:t>
            </a:r>
            <a:r>
              <a:rPr lang="en-US" altLang="ko-KR" dirty="0"/>
              <a:t>F</a:t>
            </a:r>
            <a:r>
              <a:rPr lang="ko-KR" altLang="en-US" dirty="0"/>
              <a:t>값을 활용해서 구할 순 없을까</a:t>
            </a:r>
            <a:r>
              <a:rPr lang="en-US" altLang="ko-KR" dirty="0"/>
              <a:t>? </a:t>
            </a:r>
            <a:r>
              <a:rPr lang="en-US" altLang="ko-KR" sz="1600" dirty="0"/>
              <a:t>(like </a:t>
            </a:r>
            <a:r>
              <a:rPr lang="ko-KR" altLang="en-US" sz="1600" dirty="0"/>
              <a:t>다이나믹 프로그래밍</a:t>
            </a:r>
            <a:r>
              <a:rPr lang="en-US" altLang="ko-KR" sz="1600" dirty="0"/>
              <a:t>)</a:t>
            </a:r>
            <a:endParaRPr lang="en-US" altLang="ko-KR" dirty="0"/>
          </a:p>
          <a:p>
            <a:pPr lvl="1"/>
            <a:r>
              <a:rPr lang="en-US" altLang="ko-KR" dirty="0"/>
              <a:t>S                            F(5) = 1</a:t>
            </a:r>
            <a:r>
              <a:rPr lang="ko-KR" altLang="en-US" dirty="0"/>
              <a:t>임을 알고 있는 상태</a:t>
            </a:r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C5B19D-3A16-BFDF-C264-CB80D7CD17CB}"/>
              </a:ext>
            </a:extLst>
          </p:cNvPr>
          <p:cNvSpPr txBox="1"/>
          <p:nvPr/>
        </p:nvSpPr>
        <p:spPr>
          <a:xfrm>
            <a:off x="1913640" y="4213782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63D359-B79D-01B1-F05E-C366723E00C4}"/>
              </a:ext>
            </a:extLst>
          </p:cNvPr>
          <p:cNvSpPr txBox="1"/>
          <p:nvPr/>
        </p:nvSpPr>
        <p:spPr>
          <a:xfrm>
            <a:off x="1913640" y="4718051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</a:t>
            </a:r>
            <a:r>
              <a:rPr lang="en-US" altLang="ko-KR" b="1" dirty="0">
                <a:solidFill>
                  <a:srgbClr val="00B050"/>
                </a:solidFill>
              </a:rPr>
              <a:t>A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B37BF8-0997-2179-1265-EEFC3BB3130E}"/>
              </a:ext>
            </a:extLst>
          </p:cNvPr>
          <p:cNvSpPr txBox="1"/>
          <p:nvPr/>
        </p:nvSpPr>
        <p:spPr>
          <a:xfrm>
            <a:off x="3049681" y="5195372"/>
            <a:ext cx="14879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00B050"/>
                </a:solidFill>
              </a:rPr>
              <a:t>B</a:t>
            </a:r>
            <a:r>
              <a:rPr lang="en-US" altLang="ko-KR" dirty="0"/>
              <a:t> A B C A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BF017-D8E8-88A0-D489-87A8310E17E5}"/>
              </a:ext>
            </a:extLst>
          </p:cNvPr>
          <p:cNvSpPr txBox="1"/>
          <p:nvPr/>
        </p:nvSpPr>
        <p:spPr>
          <a:xfrm>
            <a:off x="3444801" y="4718051"/>
            <a:ext cx="33214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B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CF006A-C91B-A7EE-6E09-D9A00F882C3B}"/>
              </a:ext>
            </a:extLst>
          </p:cNvPr>
          <p:cNvSpPr txBox="1"/>
          <p:nvPr/>
        </p:nvSpPr>
        <p:spPr>
          <a:xfrm>
            <a:off x="4605871" y="5190965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5DFAA817-9B64-C1D2-9B4D-D90017AAF748}"/>
              </a:ext>
            </a:extLst>
          </p:cNvPr>
          <p:cNvSpPr txBox="1">
            <a:spLocks/>
          </p:cNvSpPr>
          <p:nvPr/>
        </p:nvSpPr>
        <p:spPr>
          <a:xfrm>
            <a:off x="6096000" y="4718051"/>
            <a:ext cx="5362575" cy="16638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dirty="0"/>
              <a:t>F(5) = 1 </a:t>
            </a:r>
            <a:r>
              <a:rPr lang="ko-KR" altLang="en-US" dirty="0"/>
              <a:t>알고</a:t>
            </a:r>
            <a:r>
              <a:rPr lang="en-US" altLang="ko-KR" dirty="0"/>
              <a:t> </a:t>
            </a:r>
            <a:r>
              <a:rPr lang="ko-KR" altLang="en-US" dirty="0"/>
              <a:t>있는 상태에서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 err="1"/>
              <a:t>접두</a:t>
            </a:r>
            <a:r>
              <a:rPr lang="en-US" altLang="ko-KR" dirty="0"/>
              <a:t>, </a:t>
            </a:r>
            <a:r>
              <a:rPr lang="ko-KR" altLang="en-US" dirty="0" err="1"/>
              <a:t>접미</a:t>
            </a:r>
            <a:r>
              <a:rPr lang="ko-KR" altLang="en-US" dirty="0"/>
              <a:t> 각각의 상황에 맞는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다음 칸의 글자가 일치하는 지</a:t>
            </a:r>
            <a:r>
              <a:rPr lang="en-US" altLang="ko-KR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5577855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8FF26-B6DC-3979-7B97-16D8A2ED1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4D82E1-CFF7-2FA1-EF5F-97BD86DC3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4471B7-8A85-6314-D8B5-AA585EAB5A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🤔그런데 저기에서 두 글자 외에 더 일치할 수도 있지 않나</a:t>
            </a:r>
            <a:r>
              <a:rPr lang="en-US" altLang="ko-KR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3232191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19A8D-602E-5FD0-3642-BFDB05CAD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0265BE-537C-59BA-480F-BA9D9CFA2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4F441A1-2B13-DD9F-8074-D353FFF59F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🤔그런데 저기에서 두 글자 외에 더 일치할 수도 있지 않나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ko-KR" altLang="en-US" dirty="0" err="1"/>
              <a:t>귀류법</a:t>
            </a:r>
            <a:r>
              <a:rPr lang="en-US" altLang="ko-KR" dirty="0"/>
              <a:t>: </a:t>
            </a:r>
            <a:r>
              <a:rPr lang="ko-KR" altLang="en-US" dirty="0"/>
              <a:t>결론을 부정해 모순을 밝혀 기존 명제가 참임을 밝힘</a:t>
            </a:r>
            <a:endParaRPr lang="en-US" altLang="ko-KR" dirty="0"/>
          </a:p>
          <a:p>
            <a:r>
              <a:rPr lang="en-US" altLang="ko-KR" dirty="0"/>
              <a:t>F(5)</a:t>
            </a:r>
            <a:r>
              <a:rPr lang="ko-KR" altLang="en-US" dirty="0"/>
              <a:t> </a:t>
            </a:r>
            <a:r>
              <a:rPr lang="en-US" altLang="ko-KR" dirty="0"/>
              <a:t>= 1</a:t>
            </a:r>
            <a:r>
              <a:rPr lang="ko-KR" altLang="en-US" dirty="0"/>
              <a:t>일 때</a:t>
            </a:r>
            <a:r>
              <a:rPr lang="en-US" altLang="ko-KR" dirty="0"/>
              <a:t>, F(6)</a:t>
            </a:r>
            <a:r>
              <a:rPr lang="ko-KR" altLang="en-US" dirty="0"/>
              <a:t>은 </a:t>
            </a:r>
            <a:r>
              <a:rPr lang="en-US" altLang="ko-KR" dirty="0"/>
              <a:t>1 </a:t>
            </a:r>
            <a:r>
              <a:rPr lang="ko-KR" altLang="en-US" dirty="0"/>
              <a:t>또는 </a:t>
            </a:r>
            <a:r>
              <a:rPr lang="en-US" altLang="ko-KR" dirty="0"/>
              <a:t>2</a:t>
            </a:r>
            <a:r>
              <a:rPr lang="ko-KR" altLang="en-US" dirty="0"/>
              <a:t>이다</a:t>
            </a:r>
            <a:r>
              <a:rPr lang="en-US" altLang="ko-KR" dirty="0"/>
              <a:t>. </a:t>
            </a:r>
            <a:r>
              <a:rPr lang="ko-KR" altLang="en-US" dirty="0"/>
              <a:t>를 증명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가정 </a:t>
            </a:r>
            <a:r>
              <a:rPr lang="en-US" altLang="ko-KR" dirty="0"/>
              <a:t>F(6) &gt; 2 (3</a:t>
            </a:r>
            <a:r>
              <a:rPr lang="ko-KR" altLang="en-US" dirty="0"/>
              <a:t>이라</a:t>
            </a:r>
            <a:r>
              <a:rPr lang="en-US" altLang="ko-KR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1418D3-0F83-832F-DC02-CAE2F3D08DF7}"/>
              </a:ext>
            </a:extLst>
          </p:cNvPr>
          <p:cNvSpPr txBox="1"/>
          <p:nvPr/>
        </p:nvSpPr>
        <p:spPr>
          <a:xfrm>
            <a:off x="1385739" y="4906588"/>
            <a:ext cx="15808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0 1 2 3 </a:t>
            </a:r>
            <a:r>
              <a:rPr lang="en-US" altLang="ko-KR" b="1" dirty="0">
                <a:solidFill>
                  <a:srgbClr val="00B050"/>
                </a:solidFill>
              </a:rPr>
              <a:t>4 5 6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42F390-CD13-2744-5886-3F7FB08FA6FD}"/>
              </a:ext>
            </a:extLst>
          </p:cNvPr>
          <p:cNvSpPr txBox="1"/>
          <p:nvPr/>
        </p:nvSpPr>
        <p:spPr>
          <a:xfrm>
            <a:off x="2235723" y="5357109"/>
            <a:ext cx="15808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0 1 2 </a:t>
            </a:r>
            <a:r>
              <a:rPr lang="en-US" altLang="ko-KR" dirty="0"/>
              <a:t>3 4 5 6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77593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B1AA29-BD7B-5ADD-91D8-7A54CABE4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10773D-B07E-50F5-F0B2-76C16AD35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4AEB61-A3F0-99B6-B3C9-7C6D966294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🤔그런데 저기에서 두 글자 외에 더 일치할 수도 있지 않나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ko-KR" altLang="en-US" dirty="0" err="1"/>
              <a:t>귀류법</a:t>
            </a:r>
            <a:r>
              <a:rPr lang="en-US" altLang="ko-KR" dirty="0"/>
              <a:t>: </a:t>
            </a:r>
            <a:r>
              <a:rPr lang="ko-KR" altLang="en-US" dirty="0"/>
              <a:t>결론을 부정해 모순을 밝혀 기존 명제가 참임을 밝힘</a:t>
            </a:r>
            <a:endParaRPr lang="en-US" altLang="ko-KR" dirty="0"/>
          </a:p>
          <a:p>
            <a:r>
              <a:rPr lang="en-US" altLang="ko-KR" dirty="0"/>
              <a:t>F(5)</a:t>
            </a:r>
            <a:r>
              <a:rPr lang="ko-KR" altLang="en-US" dirty="0"/>
              <a:t> </a:t>
            </a:r>
            <a:r>
              <a:rPr lang="en-US" altLang="ko-KR" dirty="0"/>
              <a:t>= 1</a:t>
            </a:r>
            <a:r>
              <a:rPr lang="ko-KR" altLang="en-US" dirty="0"/>
              <a:t>일 때</a:t>
            </a:r>
            <a:r>
              <a:rPr lang="en-US" altLang="ko-KR" dirty="0"/>
              <a:t>, F(6)</a:t>
            </a:r>
            <a:r>
              <a:rPr lang="ko-KR" altLang="en-US" dirty="0"/>
              <a:t>은 </a:t>
            </a:r>
            <a:r>
              <a:rPr lang="en-US" altLang="ko-KR" dirty="0"/>
              <a:t>1 </a:t>
            </a:r>
            <a:r>
              <a:rPr lang="ko-KR" altLang="en-US" dirty="0"/>
              <a:t>또는 </a:t>
            </a:r>
            <a:r>
              <a:rPr lang="en-US" altLang="ko-KR" dirty="0"/>
              <a:t>2</a:t>
            </a:r>
            <a:r>
              <a:rPr lang="ko-KR" altLang="en-US" dirty="0"/>
              <a:t>이다</a:t>
            </a:r>
            <a:r>
              <a:rPr lang="en-US" altLang="ko-KR" dirty="0"/>
              <a:t>. </a:t>
            </a:r>
            <a:r>
              <a:rPr lang="ko-KR" altLang="en-US" dirty="0"/>
              <a:t>를 증명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가정 </a:t>
            </a:r>
            <a:r>
              <a:rPr lang="en-US" altLang="ko-KR" dirty="0"/>
              <a:t>F(6) &gt; 2 (3</a:t>
            </a:r>
            <a:r>
              <a:rPr lang="ko-KR" altLang="en-US" dirty="0"/>
              <a:t>이라</a:t>
            </a:r>
            <a:r>
              <a:rPr lang="en-US" altLang="ko-KR" dirty="0"/>
              <a:t>)   --------    </a:t>
            </a:r>
            <a:r>
              <a:rPr lang="ko-KR" altLang="en-US" dirty="0"/>
              <a:t>모순 </a:t>
            </a:r>
            <a:r>
              <a:rPr lang="en-US" altLang="ko-KR" dirty="0"/>
              <a:t>F(5) = 2 :   5</a:t>
            </a:r>
            <a:r>
              <a:rPr lang="en-US" altLang="ko-KR" b="1" dirty="0">
                <a:solidFill>
                  <a:srgbClr val="0070C0"/>
                </a:solidFill>
              </a:rPr>
              <a:t>+1</a:t>
            </a:r>
            <a:r>
              <a:rPr lang="ko-KR" altLang="en-US" dirty="0"/>
              <a:t>글자</a:t>
            </a:r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34FF28-A434-FA39-E669-9BCF918043F0}"/>
              </a:ext>
            </a:extLst>
          </p:cNvPr>
          <p:cNvSpPr txBox="1"/>
          <p:nvPr/>
        </p:nvSpPr>
        <p:spPr>
          <a:xfrm>
            <a:off x="1385739" y="4906588"/>
            <a:ext cx="15808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0 1 2 3 </a:t>
            </a:r>
            <a:r>
              <a:rPr lang="en-US" altLang="ko-KR" b="1" dirty="0">
                <a:solidFill>
                  <a:srgbClr val="00B050"/>
                </a:solidFill>
              </a:rPr>
              <a:t>4 5 6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7CEB70-10BD-349A-87D8-99BE5FFFC4CF}"/>
              </a:ext>
            </a:extLst>
          </p:cNvPr>
          <p:cNvSpPr txBox="1"/>
          <p:nvPr/>
        </p:nvSpPr>
        <p:spPr>
          <a:xfrm>
            <a:off x="2235723" y="5357109"/>
            <a:ext cx="15808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0 1 2 </a:t>
            </a:r>
            <a:r>
              <a:rPr lang="en-US" altLang="ko-KR" dirty="0"/>
              <a:t>3 4 5 6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E3C6C1-B824-2281-99D9-2A71709CFE63}"/>
              </a:ext>
            </a:extLst>
          </p:cNvPr>
          <p:cNvSpPr txBox="1"/>
          <p:nvPr/>
        </p:nvSpPr>
        <p:spPr>
          <a:xfrm>
            <a:off x="7194220" y="4908156"/>
            <a:ext cx="135966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0 1 2 3 </a:t>
            </a:r>
            <a:r>
              <a:rPr lang="en-US" altLang="ko-KR" b="1" dirty="0">
                <a:solidFill>
                  <a:srgbClr val="00B050"/>
                </a:solidFill>
              </a:rPr>
              <a:t>4 5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7742D8-9C54-CB58-DFD0-3398F7D863AF}"/>
              </a:ext>
            </a:extLst>
          </p:cNvPr>
          <p:cNvSpPr txBox="1"/>
          <p:nvPr/>
        </p:nvSpPr>
        <p:spPr>
          <a:xfrm>
            <a:off x="8034780" y="5358677"/>
            <a:ext cx="136608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0 1 </a:t>
            </a:r>
            <a:r>
              <a:rPr lang="en-US" altLang="ko-KR" dirty="0"/>
              <a:t>2</a:t>
            </a:r>
            <a:r>
              <a:rPr lang="en-US" altLang="ko-KR" b="1" dirty="0">
                <a:solidFill>
                  <a:srgbClr val="00B050"/>
                </a:solidFill>
              </a:rPr>
              <a:t> </a:t>
            </a:r>
            <a:r>
              <a:rPr lang="en-US" altLang="ko-KR" dirty="0"/>
              <a:t>3 4 5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13170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BB7FE-642F-C4DF-989F-5CB453ACA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5870C1-AF20-24AB-500B-F0A549437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AFA3B1-2DF3-D7FC-AD0D-7F1A8EB38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결국 </a:t>
            </a:r>
            <a:r>
              <a:rPr lang="en-US" altLang="ko-KR" dirty="0"/>
              <a:t>F(5) = 1</a:t>
            </a:r>
            <a:r>
              <a:rPr lang="ko-KR" altLang="en-US" dirty="0"/>
              <a:t>일 때 </a:t>
            </a:r>
            <a:r>
              <a:rPr lang="en-US" altLang="ko-KR" dirty="0"/>
              <a:t>F(6)</a:t>
            </a:r>
            <a:r>
              <a:rPr lang="ko-KR" altLang="en-US" dirty="0"/>
              <a:t>은 </a:t>
            </a:r>
            <a:r>
              <a:rPr lang="en-US" altLang="ko-KR" dirty="0"/>
              <a:t>2</a:t>
            </a:r>
            <a:r>
              <a:rPr lang="ko-KR" altLang="en-US" dirty="0"/>
              <a:t>보다 클 수 없다</a:t>
            </a:r>
            <a:r>
              <a:rPr lang="en-US" altLang="ko-KR" dirty="0"/>
              <a:t>. (</a:t>
            </a:r>
            <a:r>
              <a:rPr lang="ko-KR" altLang="en-US" dirty="0"/>
              <a:t>자명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일반화</a:t>
            </a:r>
            <a:br>
              <a:rPr lang="en-US" altLang="ko-KR" dirty="0"/>
            </a:br>
            <a:r>
              <a:rPr lang="en-US" altLang="ko-KR" dirty="0"/>
              <a:t>F(k) </a:t>
            </a:r>
            <a:r>
              <a:rPr lang="ko-KR" altLang="en-US" dirty="0"/>
              <a:t>를 구할 때</a:t>
            </a:r>
            <a:r>
              <a:rPr lang="en-US" altLang="ko-KR" dirty="0"/>
              <a:t>, F(k-1)</a:t>
            </a:r>
            <a:r>
              <a:rPr lang="ko-KR" altLang="en-US" dirty="0"/>
              <a:t> 의 값을 활용할 수 있고</a:t>
            </a:r>
            <a:br>
              <a:rPr lang="en-US" altLang="ko-KR" dirty="0"/>
            </a:br>
            <a:r>
              <a:rPr lang="en-US" altLang="ko-KR" dirty="0"/>
              <a:t>F(k)</a:t>
            </a:r>
            <a:r>
              <a:rPr lang="ko-KR" altLang="en-US" dirty="0"/>
              <a:t>는 최대 </a:t>
            </a:r>
            <a:r>
              <a:rPr lang="en-US" altLang="ko-KR" dirty="0"/>
              <a:t>F(k-1) +1 </a:t>
            </a:r>
            <a:r>
              <a:rPr lang="ko-KR" altLang="en-US" dirty="0"/>
              <a:t>값이다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바로 뒤 글자가 같으면 </a:t>
            </a:r>
            <a:r>
              <a:rPr lang="en-US" altLang="ko-KR" dirty="0"/>
              <a:t>+1</a:t>
            </a:r>
            <a:r>
              <a:rPr lang="ko-KR" altLang="en-US" dirty="0"/>
              <a:t>로 확정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dirty="0"/>
              <a:t>S[F(k-1)] == S[k] </a:t>
            </a:r>
            <a:r>
              <a:rPr lang="ko-KR" altLang="en-US" dirty="0"/>
              <a:t>면 </a:t>
            </a:r>
            <a:r>
              <a:rPr lang="en-US" altLang="ko-KR" dirty="0"/>
              <a:t>F(k) = F(k-1) + 1 </a:t>
            </a:r>
            <a:r>
              <a:rPr lang="ko-KR" altLang="en-US" dirty="0"/>
              <a:t>이다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417729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6C3CE-9278-8D8E-A120-8878CAAAF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27B9B4-B8A7-590C-178E-EB91D7FCC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06F111E-C869-6573-71F8-795DE7B70B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🤔 왜 갑자기</a:t>
            </a:r>
            <a:br>
              <a:rPr lang="en-US" altLang="ko-KR" dirty="0"/>
            </a:br>
            <a:r>
              <a:rPr lang="en-US" altLang="ko-KR" dirty="0"/>
              <a:t>S[F(k-1)] == S[k] </a:t>
            </a:r>
            <a:r>
              <a:rPr lang="ko-KR" altLang="en-US" dirty="0"/>
              <a:t>면 </a:t>
            </a:r>
            <a:r>
              <a:rPr lang="en-US" altLang="ko-KR" dirty="0"/>
              <a:t>F(k) = F(k-1) + 1 </a:t>
            </a:r>
            <a:r>
              <a:rPr lang="ko-KR" altLang="en-US" dirty="0"/>
              <a:t>이다</a:t>
            </a:r>
            <a:r>
              <a:rPr lang="en-US" altLang="ko-KR" dirty="0"/>
              <a:t>. </a:t>
            </a:r>
            <a:r>
              <a:rPr lang="ko-KR" altLang="en-US" dirty="0"/>
              <a:t>라고 주장하는 가</a:t>
            </a:r>
            <a:r>
              <a:rPr lang="en-US" altLang="ko-KR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0615495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71E1A-3BCE-8F8D-7D5C-A547683A4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B77AFD-8FE4-0DAF-E9A5-A539153BD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04A176-571A-8AA8-5FB4-D07BBEC3F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🤔 왜 갑자기</a:t>
            </a:r>
            <a:br>
              <a:rPr lang="en-US" altLang="ko-KR" dirty="0"/>
            </a:br>
            <a:r>
              <a:rPr lang="en-US" altLang="ko-KR" dirty="0"/>
              <a:t>S[F(k-1)] == S[k] </a:t>
            </a:r>
            <a:r>
              <a:rPr lang="ko-KR" altLang="en-US" dirty="0"/>
              <a:t>면 </a:t>
            </a:r>
            <a:r>
              <a:rPr lang="en-US" altLang="ko-KR" dirty="0"/>
              <a:t>F(k) = F(k-1) + 1 </a:t>
            </a:r>
            <a:r>
              <a:rPr lang="ko-KR" altLang="en-US" dirty="0"/>
              <a:t>이다</a:t>
            </a:r>
            <a:r>
              <a:rPr lang="en-US" altLang="ko-KR" dirty="0"/>
              <a:t>. </a:t>
            </a:r>
            <a:r>
              <a:rPr lang="ko-KR" altLang="en-US" dirty="0"/>
              <a:t>라고 주장하는 가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F(k-1) = L</a:t>
            </a:r>
            <a:r>
              <a:rPr lang="ko-KR" altLang="en-US" dirty="0"/>
              <a:t>이라 하자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=&gt; 0</a:t>
            </a:r>
            <a:r>
              <a:rPr lang="ko-KR" altLang="en-US" dirty="0"/>
              <a:t>부터 </a:t>
            </a:r>
            <a:r>
              <a:rPr lang="en-US" altLang="ko-KR" dirty="0"/>
              <a:t>k</a:t>
            </a:r>
            <a:r>
              <a:rPr lang="ko-KR" altLang="en-US" dirty="0"/>
              <a:t>까지의 </a:t>
            </a:r>
            <a:r>
              <a:rPr lang="en-US" altLang="ko-KR" dirty="0"/>
              <a:t>k(=k-1+1)</a:t>
            </a:r>
            <a:r>
              <a:rPr lang="ko-KR" altLang="en-US" dirty="0"/>
              <a:t>글자 중 </a:t>
            </a:r>
            <a:r>
              <a:rPr lang="en-US" altLang="ko-KR" dirty="0"/>
              <a:t>L</a:t>
            </a:r>
            <a:r>
              <a:rPr lang="ko-KR" altLang="en-US" dirty="0"/>
              <a:t>글자만큼은 일치한다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L</a:t>
            </a:r>
            <a:r>
              <a:rPr lang="ko-KR" altLang="en-US" dirty="0"/>
              <a:t>글자 만큼일 때 인덱스는 </a:t>
            </a:r>
            <a:r>
              <a:rPr lang="en-US" altLang="ko-KR" dirty="0"/>
              <a:t>L-1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9FAD31-50D8-8C57-7A20-CE98090FC98B}"/>
              </a:ext>
            </a:extLst>
          </p:cNvPr>
          <p:cNvSpPr txBox="1"/>
          <p:nvPr/>
        </p:nvSpPr>
        <p:spPr>
          <a:xfrm>
            <a:off x="1159496" y="4269114"/>
            <a:ext cx="45599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1 2 3 ………………………………………………. k-1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7A034B-2427-31FF-0486-CD50469A56A4}"/>
              </a:ext>
            </a:extLst>
          </p:cNvPr>
          <p:cNvSpPr txBox="1"/>
          <p:nvPr/>
        </p:nvSpPr>
        <p:spPr>
          <a:xfrm>
            <a:off x="3439479" y="4834273"/>
            <a:ext cx="4771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1 2 3 …………….L-1………………………………. k-1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91693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106E5-7E64-2716-E8FF-DCE5D434A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CFB52-9192-A0F2-5532-ECAB2DF30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9BCB2D-B549-F409-41F0-6071DD1BA2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🤔 왜 갑자기</a:t>
            </a:r>
            <a:br>
              <a:rPr lang="en-US" altLang="ko-KR" dirty="0"/>
            </a:br>
            <a:r>
              <a:rPr lang="en-US" altLang="ko-KR" dirty="0"/>
              <a:t>S[F(k-1)] == S[k] </a:t>
            </a:r>
            <a:r>
              <a:rPr lang="ko-KR" altLang="en-US" dirty="0"/>
              <a:t>면 </a:t>
            </a:r>
            <a:r>
              <a:rPr lang="en-US" altLang="ko-KR" dirty="0"/>
              <a:t>F(k) = F(k-1) + 1 </a:t>
            </a:r>
            <a:r>
              <a:rPr lang="ko-KR" altLang="en-US" dirty="0"/>
              <a:t>이다</a:t>
            </a:r>
            <a:r>
              <a:rPr lang="en-US" altLang="ko-KR" dirty="0"/>
              <a:t>. </a:t>
            </a:r>
            <a:r>
              <a:rPr lang="ko-KR" altLang="en-US" dirty="0"/>
              <a:t>라고 주장하는 가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F(k-1) = L</a:t>
            </a:r>
            <a:r>
              <a:rPr lang="ko-KR" altLang="en-US" dirty="0"/>
              <a:t>이라 하자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=&gt; 0</a:t>
            </a:r>
            <a:r>
              <a:rPr lang="ko-KR" altLang="en-US" dirty="0"/>
              <a:t>부터 </a:t>
            </a:r>
            <a:r>
              <a:rPr lang="en-US" altLang="ko-KR" dirty="0"/>
              <a:t>k</a:t>
            </a:r>
            <a:r>
              <a:rPr lang="ko-KR" altLang="en-US" dirty="0"/>
              <a:t>까지의 </a:t>
            </a:r>
            <a:r>
              <a:rPr lang="en-US" altLang="ko-KR" dirty="0"/>
              <a:t>k(=k-1+1)</a:t>
            </a:r>
            <a:r>
              <a:rPr lang="ko-KR" altLang="en-US" dirty="0"/>
              <a:t>글자 중 </a:t>
            </a:r>
            <a:r>
              <a:rPr lang="en-US" altLang="ko-KR" dirty="0"/>
              <a:t>L</a:t>
            </a:r>
            <a:r>
              <a:rPr lang="ko-KR" altLang="en-US" dirty="0"/>
              <a:t>글자만큼은 일치한다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L</a:t>
            </a:r>
            <a:r>
              <a:rPr lang="ko-KR" altLang="en-US" dirty="0"/>
              <a:t>글자 만큼일 때 인덱스는 </a:t>
            </a:r>
            <a:r>
              <a:rPr lang="en-US" altLang="ko-KR" dirty="0"/>
              <a:t>L-1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5D3574-6081-3881-D068-1C17567750D6}"/>
              </a:ext>
            </a:extLst>
          </p:cNvPr>
          <p:cNvSpPr txBox="1"/>
          <p:nvPr/>
        </p:nvSpPr>
        <p:spPr>
          <a:xfrm>
            <a:off x="1159496" y="4269114"/>
            <a:ext cx="45599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1 2 3 ……………………</a:t>
            </a:r>
            <a:r>
              <a:rPr lang="en-US" altLang="ko-KR" dirty="0">
                <a:solidFill>
                  <a:srgbClr val="00B050"/>
                </a:solidFill>
              </a:rPr>
              <a:t>…………………………. k-1</a:t>
            </a:r>
            <a:endParaRPr lang="ko-KR" altLang="en-US" dirty="0">
              <a:solidFill>
                <a:srgbClr val="00B05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BD4A09-8751-B2B5-9905-9177D0730432}"/>
              </a:ext>
            </a:extLst>
          </p:cNvPr>
          <p:cNvSpPr txBox="1"/>
          <p:nvPr/>
        </p:nvSpPr>
        <p:spPr>
          <a:xfrm>
            <a:off x="3439479" y="4834273"/>
            <a:ext cx="4771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0 1 2 3 …………….L-1</a:t>
            </a:r>
            <a:r>
              <a:rPr lang="en-US" altLang="ko-KR" dirty="0"/>
              <a:t>………………………………. k-1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892962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679EE-C0C3-269C-AA21-C736ECBEE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41C72A-A135-5DE1-ABD3-A1E04B640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65C377-B589-E0DC-90C2-427D536750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🤔 왜 갑자기</a:t>
            </a:r>
            <a:br>
              <a:rPr lang="en-US" altLang="ko-KR" dirty="0"/>
            </a:br>
            <a:r>
              <a:rPr lang="en-US" altLang="ko-KR" dirty="0"/>
              <a:t>S[F(k-1)] == S[k] </a:t>
            </a:r>
            <a:r>
              <a:rPr lang="ko-KR" altLang="en-US" dirty="0"/>
              <a:t>면 </a:t>
            </a:r>
            <a:r>
              <a:rPr lang="en-US" altLang="ko-KR" dirty="0"/>
              <a:t>F(k) = F(k-1) + 1 </a:t>
            </a:r>
            <a:r>
              <a:rPr lang="ko-KR" altLang="en-US" dirty="0"/>
              <a:t>이다</a:t>
            </a:r>
            <a:r>
              <a:rPr lang="en-US" altLang="ko-KR" dirty="0"/>
              <a:t>. </a:t>
            </a:r>
            <a:r>
              <a:rPr lang="ko-KR" altLang="en-US" dirty="0"/>
              <a:t>라고 주장하는 가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F(k-1) = L</a:t>
            </a:r>
            <a:r>
              <a:rPr lang="ko-KR" altLang="en-US" dirty="0"/>
              <a:t>이라 하자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=&gt; 0</a:t>
            </a:r>
            <a:r>
              <a:rPr lang="ko-KR" altLang="en-US" dirty="0"/>
              <a:t>부터 </a:t>
            </a:r>
            <a:r>
              <a:rPr lang="en-US" altLang="ko-KR" dirty="0"/>
              <a:t>k</a:t>
            </a:r>
            <a:r>
              <a:rPr lang="ko-KR" altLang="en-US" dirty="0"/>
              <a:t>까지의 </a:t>
            </a:r>
            <a:r>
              <a:rPr lang="en-US" altLang="ko-KR" dirty="0"/>
              <a:t>k(=k-1+1)</a:t>
            </a:r>
            <a:r>
              <a:rPr lang="ko-KR" altLang="en-US" dirty="0"/>
              <a:t>글자 중 </a:t>
            </a:r>
            <a:r>
              <a:rPr lang="en-US" altLang="ko-KR" dirty="0"/>
              <a:t>L</a:t>
            </a:r>
            <a:r>
              <a:rPr lang="ko-KR" altLang="en-US" dirty="0"/>
              <a:t>글자만큼은 일치한다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L</a:t>
            </a:r>
            <a:r>
              <a:rPr lang="ko-KR" altLang="en-US" dirty="0"/>
              <a:t>글자 만큼일 때 인덱스는 </a:t>
            </a:r>
            <a:r>
              <a:rPr lang="en-US" altLang="ko-KR" dirty="0"/>
              <a:t>L-1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43517A-256B-B166-C0C8-AC4CA3A126F6}"/>
              </a:ext>
            </a:extLst>
          </p:cNvPr>
          <p:cNvSpPr txBox="1"/>
          <p:nvPr/>
        </p:nvSpPr>
        <p:spPr>
          <a:xfrm>
            <a:off x="1159496" y="4269114"/>
            <a:ext cx="45599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1 2 3 ……………………</a:t>
            </a:r>
            <a:r>
              <a:rPr lang="en-US" altLang="ko-KR" dirty="0">
                <a:solidFill>
                  <a:srgbClr val="00B050"/>
                </a:solidFill>
              </a:rPr>
              <a:t>…………………………. k-1</a:t>
            </a:r>
            <a:endParaRPr lang="ko-KR" altLang="en-US" dirty="0">
              <a:solidFill>
                <a:srgbClr val="00B05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5C9235-9A98-08FE-9055-BEC8401743B4}"/>
              </a:ext>
            </a:extLst>
          </p:cNvPr>
          <p:cNvSpPr txBox="1"/>
          <p:nvPr/>
        </p:nvSpPr>
        <p:spPr>
          <a:xfrm>
            <a:off x="3439479" y="4834273"/>
            <a:ext cx="4771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0 1 2 3 …………….L-1</a:t>
            </a:r>
            <a:r>
              <a:rPr lang="en-US" altLang="ko-KR" dirty="0"/>
              <a:t>………………………………. k-1</a:t>
            </a:r>
            <a:endParaRPr lang="ko-KR" altLang="en-US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C4F7C760-DAEC-E53C-0DF6-00AFB3ED34DE}"/>
              </a:ext>
            </a:extLst>
          </p:cNvPr>
          <p:cNvCxnSpPr/>
          <p:nvPr/>
        </p:nvCxnSpPr>
        <p:spPr>
          <a:xfrm flipV="1">
            <a:off x="5363852" y="5354425"/>
            <a:ext cx="0" cy="6693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4495F98-074C-FB66-D60A-E3474926B9FB}"/>
              </a:ext>
            </a:extLst>
          </p:cNvPr>
          <p:cNvSpPr txBox="1"/>
          <p:nvPr/>
        </p:nvSpPr>
        <p:spPr>
          <a:xfrm>
            <a:off x="4790265" y="6023728"/>
            <a:ext cx="1147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</a:rPr>
              <a:t>F(k-1) - 1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98656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A0A04-E738-29A6-4170-E813463B6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9EB445-C7BE-23BE-2F40-E777C2DCE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2D6B63-0E0A-A02D-4070-D79CB59209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🤔 왜 갑자기</a:t>
            </a:r>
            <a:br>
              <a:rPr lang="en-US" altLang="ko-KR" dirty="0"/>
            </a:br>
            <a:r>
              <a:rPr lang="en-US" altLang="ko-KR" dirty="0"/>
              <a:t>S[F(k-1)] == S[k] </a:t>
            </a:r>
            <a:r>
              <a:rPr lang="ko-KR" altLang="en-US" dirty="0"/>
              <a:t>면 </a:t>
            </a:r>
            <a:r>
              <a:rPr lang="en-US" altLang="ko-KR" dirty="0"/>
              <a:t>F(k) = F(k-1) + 1 </a:t>
            </a:r>
            <a:r>
              <a:rPr lang="ko-KR" altLang="en-US" dirty="0"/>
              <a:t>이다</a:t>
            </a:r>
            <a:r>
              <a:rPr lang="en-US" altLang="ko-KR" dirty="0"/>
              <a:t>. </a:t>
            </a:r>
            <a:r>
              <a:rPr lang="ko-KR" altLang="en-US" dirty="0"/>
              <a:t>라고 주장하는 가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F(k-1) = L</a:t>
            </a:r>
            <a:r>
              <a:rPr lang="ko-KR" altLang="en-US" dirty="0"/>
              <a:t>이라 하자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=&gt; 0</a:t>
            </a:r>
            <a:r>
              <a:rPr lang="ko-KR" altLang="en-US" dirty="0"/>
              <a:t>부터 </a:t>
            </a:r>
            <a:r>
              <a:rPr lang="en-US" altLang="ko-KR" dirty="0"/>
              <a:t>k</a:t>
            </a:r>
            <a:r>
              <a:rPr lang="ko-KR" altLang="en-US" dirty="0"/>
              <a:t>까지의 </a:t>
            </a:r>
            <a:r>
              <a:rPr lang="en-US" altLang="ko-KR" dirty="0"/>
              <a:t>k(=k-1+1)</a:t>
            </a:r>
            <a:r>
              <a:rPr lang="ko-KR" altLang="en-US" dirty="0"/>
              <a:t>글자 중 </a:t>
            </a:r>
            <a:r>
              <a:rPr lang="en-US" altLang="ko-KR" dirty="0"/>
              <a:t>L</a:t>
            </a:r>
            <a:r>
              <a:rPr lang="ko-KR" altLang="en-US" dirty="0"/>
              <a:t>글자만큼은 일치한다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L</a:t>
            </a:r>
            <a:r>
              <a:rPr lang="ko-KR" altLang="en-US" dirty="0"/>
              <a:t>글자 만큼일 때 인덱스는 </a:t>
            </a:r>
            <a:r>
              <a:rPr lang="en-US" altLang="ko-KR" dirty="0"/>
              <a:t>L-1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5448D2-0BE2-F709-97BD-A6FB8FAE6858}"/>
              </a:ext>
            </a:extLst>
          </p:cNvPr>
          <p:cNvSpPr txBox="1"/>
          <p:nvPr/>
        </p:nvSpPr>
        <p:spPr>
          <a:xfrm>
            <a:off x="1159496" y="4269114"/>
            <a:ext cx="45599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1 2 3 ……………………</a:t>
            </a:r>
            <a:r>
              <a:rPr lang="en-US" altLang="ko-KR" dirty="0">
                <a:solidFill>
                  <a:srgbClr val="00B050"/>
                </a:solidFill>
              </a:rPr>
              <a:t>…………………………. k-1</a:t>
            </a:r>
            <a:endParaRPr lang="ko-KR" altLang="en-US" dirty="0">
              <a:solidFill>
                <a:srgbClr val="00B05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7DFEBF-A467-9E72-36BE-1516E8C17D68}"/>
              </a:ext>
            </a:extLst>
          </p:cNvPr>
          <p:cNvSpPr txBox="1"/>
          <p:nvPr/>
        </p:nvSpPr>
        <p:spPr>
          <a:xfrm>
            <a:off x="3439479" y="4834273"/>
            <a:ext cx="4771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0 1 2 3 …………….L-1</a:t>
            </a:r>
            <a:r>
              <a:rPr lang="en-US" altLang="ko-KR" dirty="0"/>
              <a:t>………………………………. k-1</a:t>
            </a:r>
            <a:endParaRPr lang="ko-KR" altLang="en-US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2341CF9E-080A-FF97-719B-0BC61DBA21B1}"/>
              </a:ext>
            </a:extLst>
          </p:cNvPr>
          <p:cNvCxnSpPr/>
          <p:nvPr/>
        </p:nvCxnSpPr>
        <p:spPr>
          <a:xfrm flipV="1">
            <a:off x="5363852" y="5354425"/>
            <a:ext cx="0" cy="6693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874F230-A028-D306-0CBC-18822A259764}"/>
              </a:ext>
            </a:extLst>
          </p:cNvPr>
          <p:cNvSpPr txBox="1"/>
          <p:nvPr/>
        </p:nvSpPr>
        <p:spPr>
          <a:xfrm>
            <a:off x="4790265" y="6023728"/>
            <a:ext cx="1147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</a:rPr>
              <a:t>F(k-1) - 1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BBB0D547-AAA5-7FE5-5BE2-E36A15748FE2}"/>
              </a:ext>
            </a:extLst>
          </p:cNvPr>
          <p:cNvSpPr txBox="1">
            <a:spLocks/>
          </p:cNvSpPr>
          <p:nvPr/>
        </p:nvSpPr>
        <p:spPr>
          <a:xfrm>
            <a:off x="6511026" y="5540285"/>
            <a:ext cx="5362575" cy="9668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dirty="0"/>
              <a:t>즉</a:t>
            </a:r>
            <a:r>
              <a:rPr lang="en-US" altLang="ko-KR" dirty="0"/>
              <a:t>, S[F(k-1)] == S[k] </a:t>
            </a:r>
            <a:r>
              <a:rPr lang="ko-KR" altLang="en-US" dirty="0"/>
              <a:t>인지 판단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6884562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63CD9-2885-1C86-F094-1493EC650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D9B119-0154-6965-80AA-C3F22A3B8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15BCAA-A88D-CA71-E6D9-0515D771E6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 </a:t>
            </a:r>
          </a:p>
          <a:p>
            <a:endParaRPr lang="en-US" altLang="ko-KR" dirty="0"/>
          </a:p>
          <a:p>
            <a:r>
              <a:rPr lang="en-US" altLang="ko-KR" dirty="0"/>
              <a:t>F(0) : 0+1</a:t>
            </a:r>
            <a:r>
              <a:rPr lang="ko-KR" altLang="en-US" dirty="0"/>
              <a:t>글자에 대하여 자기</a:t>
            </a:r>
            <a:r>
              <a:rPr lang="en-US" altLang="ko-KR" dirty="0"/>
              <a:t> </a:t>
            </a:r>
            <a:r>
              <a:rPr lang="ko-KR" altLang="en-US" dirty="0"/>
              <a:t>자신을 빼니 무조건 </a:t>
            </a:r>
            <a:r>
              <a:rPr lang="en-US" altLang="ko-KR" dirty="0"/>
              <a:t>0</a:t>
            </a:r>
          </a:p>
          <a:p>
            <a:r>
              <a:rPr lang="en-US" altLang="ko-KR" dirty="0"/>
              <a:t>F(1) : 1+1</a:t>
            </a:r>
            <a:r>
              <a:rPr lang="ko-KR" altLang="en-US" dirty="0"/>
              <a:t>글자</a:t>
            </a:r>
            <a:r>
              <a:rPr lang="en-US" altLang="ko-KR" dirty="0"/>
              <a:t>(AB)</a:t>
            </a:r>
            <a:r>
              <a:rPr lang="ko-KR" altLang="en-US" dirty="0"/>
              <a:t>에 대하여         </a:t>
            </a:r>
            <a:r>
              <a:rPr lang="en-US" altLang="ko-KR" dirty="0"/>
              <a:t>F(1) = 0</a:t>
            </a:r>
          </a:p>
          <a:p>
            <a:endParaRPr lang="en-US" altLang="ko-KR" dirty="0"/>
          </a:p>
          <a:p>
            <a:r>
              <a:rPr lang="en-US" altLang="ko-KR" dirty="0"/>
              <a:t>F(2) : 2+1</a:t>
            </a:r>
            <a:r>
              <a:rPr lang="ko-KR" altLang="en-US" dirty="0"/>
              <a:t>글자</a:t>
            </a:r>
            <a:r>
              <a:rPr lang="en-US" altLang="ko-KR" dirty="0"/>
              <a:t>(ABA)</a:t>
            </a:r>
            <a:r>
              <a:rPr lang="ko-KR" altLang="en-US" dirty="0"/>
              <a:t>에 대하여             </a:t>
            </a:r>
            <a:r>
              <a:rPr lang="en-US" altLang="ko-KR" dirty="0"/>
              <a:t>F(2) = 1</a:t>
            </a:r>
          </a:p>
          <a:p>
            <a:endParaRPr lang="en-US" altLang="ko-KR" dirty="0"/>
          </a:p>
          <a:p>
            <a:r>
              <a:rPr lang="en-US" altLang="ko-KR" dirty="0"/>
              <a:t>F(3) : 3+1</a:t>
            </a:r>
            <a:r>
              <a:rPr lang="ko-KR" altLang="en-US" dirty="0"/>
              <a:t>글자</a:t>
            </a:r>
            <a:r>
              <a:rPr lang="en-US" altLang="ko-KR" dirty="0"/>
              <a:t>(ABAB)</a:t>
            </a:r>
            <a:r>
              <a:rPr lang="ko-KR" altLang="en-US" dirty="0"/>
              <a:t>에 대하여              </a:t>
            </a:r>
            <a:r>
              <a:rPr lang="en-US" altLang="ko-KR" dirty="0"/>
              <a:t>F(3) = 2 (F(2) </a:t>
            </a:r>
            <a:r>
              <a:rPr lang="ko-KR" altLang="en-US" dirty="0"/>
              <a:t>이용</a:t>
            </a:r>
            <a:r>
              <a:rPr lang="en-US" altLang="ko-KR" dirty="0"/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50A4CD-0833-F62F-DC48-06631A3B4159}"/>
              </a:ext>
            </a:extLst>
          </p:cNvPr>
          <p:cNvSpPr txBox="1"/>
          <p:nvPr/>
        </p:nvSpPr>
        <p:spPr>
          <a:xfrm>
            <a:off x="1517714" y="1886515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AC6AC6-1EAD-A81D-C441-3D92636F82C8}"/>
              </a:ext>
            </a:extLst>
          </p:cNvPr>
          <p:cNvSpPr txBox="1"/>
          <p:nvPr/>
        </p:nvSpPr>
        <p:spPr>
          <a:xfrm>
            <a:off x="5733066" y="3429000"/>
            <a:ext cx="55335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864DF5-D902-D6CF-306A-CFD2F279755B}"/>
              </a:ext>
            </a:extLst>
          </p:cNvPr>
          <p:cNvSpPr txBox="1"/>
          <p:nvPr/>
        </p:nvSpPr>
        <p:spPr>
          <a:xfrm>
            <a:off x="5978165" y="3886134"/>
            <a:ext cx="55335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E80192-F044-7D0D-7357-348FD9FFFF3D}"/>
              </a:ext>
            </a:extLst>
          </p:cNvPr>
          <p:cNvSpPr txBox="1"/>
          <p:nvPr/>
        </p:nvSpPr>
        <p:spPr>
          <a:xfrm>
            <a:off x="5970306" y="4401533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7F314E-2C8F-D3F2-1112-CB97BE598F68}"/>
              </a:ext>
            </a:extLst>
          </p:cNvPr>
          <p:cNvSpPr txBox="1"/>
          <p:nvPr/>
        </p:nvSpPr>
        <p:spPr>
          <a:xfrm>
            <a:off x="6427825" y="4843676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FC88EE-F93D-8FA2-69CB-A91D208B95D4}"/>
              </a:ext>
            </a:extLst>
          </p:cNvPr>
          <p:cNvSpPr txBox="1"/>
          <p:nvPr/>
        </p:nvSpPr>
        <p:spPr>
          <a:xfrm>
            <a:off x="6160412" y="5458910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C67C8E1-04B2-F4C7-F0D8-ED6F24D591DA}"/>
              </a:ext>
            </a:extLst>
          </p:cNvPr>
          <p:cNvSpPr txBox="1"/>
          <p:nvPr/>
        </p:nvSpPr>
        <p:spPr>
          <a:xfrm>
            <a:off x="6636785" y="5901053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3FAEA8-779E-1EF1-3ADC-8D5415DB5CB5}"/>
              </a:ext>
            </a:extLst>
          </p:cNvPr>
          <p:cNvSpPr txBox="1"/>
          <p:nvPr/>
        </p:nvSpPr>
        <p:spPr>
          <a:xfrm>
            <a:off x="6893837" y="5458910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1056D5-E370-02E3-CEC6-90FAA98AA6D2}"/>
              </a:ext>
            </a:extLst>
          </p:cNvPr>
          <p:cNvSpPr txBox="1"/>
          <p:nvPr/>
        </p:nvSpPr>
        <p:spPr>
          <a:xfrm>
            <a:off x="7517577" y="5901053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713598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4A9A9-CCB1-3A2F-B2A5-E8F94648E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C1DD00-9055-196D-E8DD-5710FA09C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679F2BE-9614-1BAA-F330-D906E70679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 </a:t>
            </a:r>
          </a:p>
          <a:p>
            <a:r>
              <a:rPr lang="en-US" altLang="ko-KR" dirty="0"/>
              <a:t>…</a:t>
            </a:r>
          </a:p>
          <a:p>
            <a:r>
              <a:rPr lang="ko-KR" altLang="en-US" dirty="0"/>
              <a:t>마지막을 구한다고 하자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S[F(9)] == S[F(8)-1(=3)] </a:t>
            </a:r>
            <a:r>
              <a:rPr lang="ko-KR" altLang="en-US" dirty="0"/>
              <a:t>이 각각 </a:t>
            </a:r>
            <a:r>
              <a:rPr lang="en-US" altLang="ko-KR" dirty="0"/>
              <a:t>A</a:t>
            </a:r>
            <a:r>
              <a:rPr lang="ko-KR" altLang="en-US" dirty="0"/>
              <a:t>와 </a:t>
            </a:r>
            <a:r>
              <a:rPr lang="en-US" altLang="ko-KR" dirty="0"/>
              <a:t>B</a:t>
            </a:r>
            <a:r>
              <a:rPr lang="ko-KR" altLang="en-US" dirty="0"/>
              <a:t>로 </a:t>
            </a:r>
            <a:r>
              <a:rPr lang="ko-KR" altLang="en-US" b="1" dirty="0">
                <a:solidFill>
                  <a:srgbClr val="FF0000"/>
                </a:solidFill>
              </a:rPr>
              <a:t>다르다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6043B5-0DEE-8673-46E0-287BFC711668}"/>
              </a:ext>
            </a:extLst>
          </p:cNvPr>
          <p:cNvSpPr txBox="1"/>
          <p:nvPr/>
        </p:nvSpPr>
        <p:spPr>
          <a:xfrm>
            <a:off x="1517714" y="1886515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16B4A9-7A9B-0C6A-A47A-738A901A7099}"/>
              </a:ext>
            </a:extLst>
          </p:cNvPr>
          <p:cNvSpPr txBox="1"/>
          <p:nvPr/>
        </p:nvSpPr>
        <p:spPr>
          <a:xfrm>
            <a:off x="1575846" y="3433807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F9FB2E-44D3-A8B0-7461-1AFBB3F75837}"/>
              </a:ext>
            </a:extLst>
          </p:cNvPr>
          <p:cNvSpPr txBox="1"/>
          <p:nvPr/>
        </p:nvSpPr>
        <p:spPr>
          <a:xfrm>
            <a:off x="1575846" y="3939328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0 1 2  3 4  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44814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DAE17-69EA-74DF-597A-D8AB2E01F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9AF931-0466-409D-0392-6B094FE3C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44410FF-E584-3243-87BF-5C969F1B73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 </a:t>
            </a:r>
          </a:p>
          <a:p>
            <a:endParaRPr lang="en-US" altLang="ko-KR" dirty="0"/>
          </a:p>
          <a:p>
            <a:r>
              <a:rPr lang="ko-KR" altLang="en-US" dirty="0"/>
              <a:t>물론 다음과 같이 밀어도 되지만 </a:t>
            </a:r>
            <a:r>
              <a:rPr lang="en-US" altLang="ko-KR" dirty="0"/>
              <a:t>(F(8)=4</a:t>
            </a:r>
            <a:r>
              <a:rPr lang="ko-KR" altLang="en-US" dirty="0"/>
              <a:t>니까 </a:t>
            </a:r>
            <a:r>
              <a:rPr lang="en-US" altLang="ko-KR" dirty="0"/>
              <a:t>5</a:t>
            </a:r>
            <a:r>
              <a:rPr lang="ko-KR" altLang="en-US" dirty="0"/>
              <a:t>부터 거꾸로</a:t>
            </a:r>
            <a:r>
              <a:rPr lang="en-US" altLang="ko-KR" dirty="0"/>
              <a:t>)</a:t>
            </a:r>
          </a:p>
          <a:p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4105FC-AA92-9DF9-81CF-FC71D09C6F11}"/>
              </a:ext>
            </a:extLst>
          </p:cNvPr>
          <p:cNvSpPr txBox="1"/>
          <p:nvPr/>
        </p:nvSpPr>
        <p:spPr>
          <a:xfrm>
            <a:off x="1517714" y="1886515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D9A553-4486-FCEB-5118-5C7E868C0C8F}"/>
              </a:ext>
            </a:extLst>
          </p:cNvPr>
          <p:cNvSpPr txBox="1"/>
          <p:nvPr/>
        </p:nvSpPr>
        <p:spPr>
          <a:xfrm>
            <a:off x="1517714" y="239078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0 1 2  3 4  ?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C1031E-561A-CED3-5DE8-54CF3FF2AF98}"/>
              </a:ext>
            </a:extLst>
          </p:cNvPr>
          <p:cNvSpPr txBox="1"/>
          <p:nvPr/>
        </p:nvSpPr>
        <p:spPr>
          <a:xfrm>
            <a:off x="2497317" y="3676380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</a:t>
            </a:r>
            <a:r>
              <a:rPr lang="en-US" altLang="ko-KR" b="1" dirty="0">
                <a:solidFill>
                  <a:srgbClr val="00B050"/>
                </a:solidFill>
              </a:rPr>
              <a:t>A B A B </a:t>
            </a:r>
            <a:r>
              <a:rPr lang="en-US" altLang="ko-KR" b="1" dirty="0">
                <a:solidFill>
                  <a:srgbClr val="FF0000"/>
                </a:solidFill>
              </a:rPr>
              <a:t>A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2A6F5A-73BC-819B-460C-90705A14D0A3}"/>
              </a:ext>
            </a:extLst>
          </p:cNvPr>
          <p:cNvSpPr txBox="1"/>
          <p:nvPr/>
        </p:nvSpPr>
        <p:spPr>
          <a:xfrm>
            <a:off x="3612035" y="4114023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A B A B 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2237638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F1ADD-E444-9B85-3E46-7786929C8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7D1E59-E539-59A1-32AE-CAE51A69A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4BFB7B-BE9C-2EEE-D862-6B02FB6850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 </a:t>
            </a:r>
          </a:p>
          <a:p>
            <a:endParaRPr lang="en-US" altLang="ko-KR" dirty="0"/>
          </a:p>
          <a:p>
            <a:r>
              <a:rPr lang="ko-KR" altLang="en-US" dirty="0"/>
              <a:t>물론 다음과 같이 밀어도 되지만 </a:t>
            </a:r>
            <a:r>
              <a:rPr lang="en-US" altLang="ko-KR" dirty="0"/>
              <a:t>(F(8)=4</a:t>
            </a:r>
            <a:r>
              <a:rPr lang="ko-KR" altLang="en-US" dirty="0"/>
              <a:t>니까 </a:t>
            </a:r>
            <a:r>
              <a:rPr lang="en-US" altLang="ko-KR" dirty="0"/>
              <a:t>5</a:t>
            </a:r>
            <a:r>
              <a:rPr lang="ko-KR" altLang="en-US" dirty="0"/>
              <a:t>부터 거꾸로</a:t>
            </a:r>
            <a:r>
              <a:rPr lang="en-US" altLang="ko-KR" dirty="0"/>
              <a:t>)</a:t>
            </a:r>
          </a:p>
          <a:p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069A15-8BDB-A661-34B7-11FA71EB78AB}"/>
              </a:ext>
            </a:extLst>
          </p:cNvPr>
          <p:cNvSpPr txBox="1"/>
          <p:nvPr/>
        </p:nvSpPr>
        <p:spPr>
          <a:xfrm>
            <a:off x="1517714" y="1886515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4527F9-17AF-0103-D4AF-2FBBE9576618}"/>
              </a:ext>
            </a:extLst>
          </p:cNvPr>
          <p:cNvSpPr txBox="1"/>
          <p:nvPr/>
        </p:nvSpPr>
        <p:spPr>
          <a:xfrm>
            <a:off x="1517714" y="239078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0 1 2  3 4  ?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1A2DA3-DB5B-67D5-4020-9ECB34245064}"/>
              </a:ext>
            </a:extLst>
          </p:cNvPr>
          <p:cNvSpPr txBox="1"/>
          <p:nvPr/>
        </p:nvSpPr>
        <p:spPr>
          <a:xfrm>
            <a:off x="2497317" y="3676380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</a:t>
            </a:r>
            <a:r>
              <a:rPr lang="en-US" altLang="ko-KR" b="1" dirty="0">
                <a:solidFill>
                  <a:srgbClr val="00B050"/>
                </a:solidFill>
              </a:rPr>
              <a:t>A B A B </a:t>
            </a:r>
            <a:r>
              <a:rPr lang="en-US" altLang="ko-KR" b="1" dirty="0">
                <a:solidFill>
                  <a:srgbClr val="FF0000"/>
                </a:solidFill>
              </a:rPr>
              <a:t>A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609EA9-61D3-4E8A-1487-5B2B429D8D0F}"/>
              </a:ext>
            </a:extLst>
          </p:cNvPr>
          <p:cNvSpPr txBox="1"/>
          <p:nvPr/>
        </p:nvSpPr>
        <p:spPr>
          <a:xfrm>
            <a:off x="3612035" y="4114023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A B A B A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70C368-0FB2-0E76-31A0-67A1EF39F60A}"/>
              </a:ext>
            </a:extLst>
          </p:cNvPr>
          <p:cNvSpPr txBox="1"/>
          <p:nvPr/>
        </p:nvSpPr>
        <p:spPr>
          <a:xfrm>
            <a:off x="6099926" y="366852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</a:t>
            </a:r>
            <a:r>
              <a:rPr lang="en-US" altLang="ko-KR" b="1" dirty="0">
                <a:solidFill>
                  <a:srgbClr val="FF0000"/>
                </a:solidFill>
              </a:rPr>
              <a:t>B A B A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B633844-B4C6-684C-3D12-6960E203D1D7}"/>
              </a:ext>
            </a:extLst>
          </p:cNvPr>
          <p:cNvSpPr txBox="1"/>
          <p:nvPr/>
        </p:nvSpPr>
        <p:spPr>
          <a:xfrm>
            <a:off x="7488024" y="4106167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A B A B</a:t>
            </a:r>
            <a:r>
              <a:rPr lang="en-US" altLang="ko-KR" dirty="0"/>
              <a:t> C A B A B 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3779377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E0B1F-35B0-3279-9078-4025766A9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FB8C84-B825-8372-648C-ED5F30EE5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2F542A-C7FD-AFFE-C175-98604AAA48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 </a:t>
            </a:r>
          </a:p>
          <a:p>
            <a:endParaRPr lang="en-US" altLang="ko-KR" dirty="0"/>
          </a:p>
          <a:p>
            <a:r>
              <a:rPr lang="ko-KR" altLang="en-US" dirty="0"/>
              <a:t>물론 다음과 같이 밀어도 되지만 </a:t>
            </a:r>
            <a:r>
              <a:rPr lang="en-US" altLang="ko-KR" dirty="0"/>
              <a:t>(F(8)=4</a:t>
            </a:r>
            <a:r>
              <a:rPr lang="ko-KR" altLang="en-US" dirty="0"/>
              <a:t>니까 </a:t>
            </a:r>
            <a:r>
              <a:rPr lang="en-US" altLang="ko-KR" dirty="0"/>
              <a:t>5</a:t>
            </a:r>
            <a:r>
              <a:rPr lang="ko-KR" altLang="en-US" dirty="0"/>
              <a:t>부터 거꾸로</a:t>
            </a:r>
            <a:r>
              <a:rPr lang="en-US" altLang="ko-KR" dirty="0"/>
              <a:t>)</a:t>
            </a:r>
          </a:p>
          <a:p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B4DB24-E2AB-EB07-C575-988ADC2F969F}"/>
              </a:ext>
            </a:extLst>
          </p:cNvPr>
          <p:cNvSpPr txBox="1"/>
          <p:nvPr/>
        </p:nvSpPr>
        <p:spPr>
          <a:xfrm>
            <a:off x="1517714" y="1886515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277EEE-6CB6-D450-FF43-B91A2D1B7A84}"/>
              </a:ext>
            </a:extLst>
          </p:cNvPr>
          <p:cNvSpPr txBox="1"/>
          <p:nvPr/>
        </p:nvSpPr>
        <p:spPr>
          <a:xfrm>
            <a:off x="1517714" y="239078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0 1 2  3 4  ?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BD2253-2F12-94E6-6CCD-F952C1EAF963}"/>
              </a:ext>
            </a:extLst>
          </p:cNvPr>
          <p:cNvSpPr txBox="1"/>
          <p:nvPr/>
        </p:nvSpPr>
        <p:spPr>
          <a:xfrm>
            <a:off x="2497317" y="3676380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</a:t>
            </a:r>
            <a:r>
              <a:rPr lang="en-US" altLang="ko-KR" b="1" dirty="0">
                <a:solidFill>
                  <a:srgbClr val="00B050"/>
                </a:solidFill>
              </a:rPr>
              <a:t>A B A B </a:t>
            </a:r>
            <a:r>
              <a:rPr lang="en-US" altLang="ko-KR" b="1" dirty="0">
                <a:solidFill>
                  <a:srgbClr val="FF0000"/>
                </a:solidFill>
              </a:rPr>
              <a:t>A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55B6C9-50C7-77D4-E7FF-626840176A3F}"/>
              </a:ext>
            </a:extLst>
          </p:cNvPr>
          <p:cNvSpPr txBox="1"/>
          <p:nvPr/>
        </p:nvSpPr>
        <p:spPr>
          <a:xfrm>
            <a:off x="3612035" y="4114023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A B A B A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B8BCD7-1981-3F61-1A13-29CD795E2B24}"/>
              </a:ext>
            </a:extLst>
          </p:cNvPr>
          <p:cNvSpPr txBox="1"/>
          <p:nvPr/>
        </p:nvSpPr>
        <p:spPr>
          <a:xfrm>
            <a:off x="6099926" y="366852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</a:t>
            </a:r>
            <a:r>
              <a:rPr lang="en-US" altLang="ko-KR" b="1" dirty="0">
                <a:solidFill>
                  <a:srgbClr val="FF0000"/>
                </a:solidFill>
              </a:rPr>
              <a:t>B A B A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36137A-6B9F-5ED6-4E37-530BB0146A9F}"/>
              </a:ext>
            </a:extLst>
          </p:cNvPr>
          <p:cNvSpPr txBox="1"/>
          <p:nvPr/>
        </p:nvSpPr>
        <p:spPr>
          <a:xfrm>
            <a:off x="7488024" y="4106167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A B A B</a:t>
            </a:r>
            <a:r>
              <a:rPr lang="en-US" altLang="ko-KR" dirty="0"/>
              <a:t> C A B A B A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D08BCA4-7A19-6099-AD4F-6CB82F80AFCD}"/>
              </a:ext>
            </a:extLst>
          </p:cNvPr>
          <p:cNvSpPr txBox="1"/>
          <p:nvPr/>
        </p:nvSpPr>
        <p:spPr>
          <a:xfrm>
            <a:off x="2498887" y="4884585"/>
            <a:ext cx="239841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</a:t>
            </a:r>
            <a:r>
              <a:rPr lang="en-US" altLang="ko-KR" b="1" dirty="0">
                <a:solidFill>
                  <a:srgbClr val="00B050"/>
                </a:solidFill>
              </a:rPr>
              <a:t>A B A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508769-0903-CFB7-6332-BFB10F4A6580}"/>
              </a:ext>
            </a:extLst>
          </p:cNvPr>
          <p:cNvSpPr txBox="1"/>
          <p:nvPr/>
        </p:nvSpPr>
        <p:spPr>
          <a:xfrm>
            <a:off x="4075519" y="5322228"/>
            <a:ext cx="239841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</a:t>
            </a:r>
            <a:r>
              <a:rPr lang="en-US" altLang="ko-KR" dirty="0"/>
              <a:t>B C A B A B 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8333059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8DF1E-D45E-0645-7242-8E751F655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A474BC-C425-F308-4D2A-B7E15B087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EF9657-32B6-A81B-BA3A-76312BA40D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 </a:t>
            </a:r>
          </a:p>
          <a:p>
            <a:endParaRPr lang="en-US" altLang="ko-KR" dirty="0"/>
          </a:p>
          <a:p>
            <a:r>
              <a:rPr lang="ko-KR" altLang="en-US" dirty="0"/>
              <a:t>물론 다음과 같이 밀어도 되지만 </a:t>
            </a:r>
            <a:r>
              <a:rPr lang="en-US" altLang="ko-KR" dirty="0"/>
              <a:t>(F(8)=4</a:t>
            </a:r>
            <a:r>
              <a:rPr lang="ko-KR" altLang="en-US" dirty="0"/>
              <a:t>니까 </a:t>
            </a:r>
            <a:r>
              <a:rPr lang="en-US" altLang="ko-KR" dirty="0"/>
              <a:t>5</a:t>
            </a:r>
            <a:r>
              <a:rPr lang="ko-KR" altLang="en-US" dirty="0"/>
              <a:t>부터 거꾸로</a:t>
            </a:r>
            <a:r>
              <a:rPr lang="en-US" altLang="ko-KR" dirty="0"/>
              <a:t>)</a:t>
            </a:r>
          </a:p>
          <a:p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BDB8BF-D0DA-7B59-1775-4147933A2647}"/>
              </a:ext>
            </a:extLst>
          </p:cNvPr>
          <p:cNvSpPr txBox="1"/>
          <p:nvPr/>
        </p:nvSpPr>
        <p:spPr>
          <a:xfrm>
            <a:off x="1517714" y="1886515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64C064-2E71-B2DC-D916-A374C7CE4093}"/>
              </a:ext>
            </a:extLst>
          </p:cNvPr>
          <p:cNvSpPr txBox="1"/>
          <p:nvPr/>
        </p:nvSpPr>
        <p:spPr>
          <a:xfrm>
            <a:off x="1517714" y="239078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0 1 2  3 4  ?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193AC5-F2ED-F685-B494-34168EC6E1E7}"/>
              </a:ext>
            </a:extLst>
          </p:cNvPr>
          <p:cNvSpPr txBox="1"/>
          <p:nvPr/>
        </p:nvSpPr>
        <p:spPr>
          <a:xfrm>
            <a:off x="2497317" y="3676380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</a:t>
            </a:r>
            <a:r>
              <a:rPr lang="en-US" altLang="ko-KR" b="1" dirty="0">
                <a:solidFill>
                  <a:srgbClr val="00B050"/>
                </a:solidFill>
              </a:rPr>
              <a:t>A B A B </a:t>
            </a:r>
            <a:r>
              <a:rPr lang="en-US" altLang="ko-KR" b="1" dirty="0">
                <a:solidFill>
                  <a:srgbClr val="FF0000"/>
                </a:solidFill>
              </a:rPr>
              <a:t>A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F53167-6694-5861-3D6B-2343D7D2A6EE}"/>
              </a:ext>
            </a:extLst>
          </p:cNvPr>
          <p:cNvSpPr txBox="1"/>
          <p:nvPr/>
        </p:nvSpPr>
        <p:spPr>
          <a:xfrm>
            <a:off x="3612035" y="4114023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A B A B A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692DCA-9EE5-AE9A-3EEC-115156A81FBD}"/>
              </a:ext>
            </a:extLst>
          </p:cNvPr>
          <p:cNvSpPr txBox="1"/>
          <p:nvPr/>
        </p:nvSpPr>
        <p:spPr>
          <a:xfrm>
            <a:off x="6099926" y="366852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</a:t>
            </a:r>
            <a:r>
              <a:rPr lang="en-US" altLang="ko-KR" b="1" dirty="0">
                <a:solidFill>
                  <a:srgbClr val="FF0000"/>
                </a:solidFill>
              </a:rPr>
              <a:t>B A B A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F321F1-6963-75B7-F15A-84E24C1D3A66}"/>
              </a:ext>
            </a:extLst>
          </p:cNvPr>
          <p:cNvSpPr txBox="1"/>
          <p:nvPr/>
        </p:nvSpPr>
        <p:spPr>
          <a:xfrm>
            <a:off x="7488024" y="4106167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A B A B</a:t>
            </a:r>
            <a:r>
              <a:rPr lang="en-US" altLang="ko-KR" dirty="0"/>
              <a:t> C A B A B A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EF0C5A-7155-EC7B-189E-BBA98495BA37}"/>
              </a:ext>
            </a:extLst>
          </p:cNvPr>
          <p:cNvSpPr txBox="1"/>
          <p:nvPr/>
        </p:nvSpPr>
        <p:spPr>
          <a:xfrm>
            <a:off x="2498887" y="4884585"/>
            <a:ext cx="239841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</a:t>
            </a:r>
            <a:r>
              <a:rPr lang="en-US" altLang="ko-KR" b="1" dirty="0">
                <a:solidFill>
                  <a:srgbClr val="00B050"/>
                </a:solidFill>
              </a:rPr>
              <a:t>A B A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05A8AA-C009-3787-0218-E7203BC5FED5}"/>
              </a:ext>
            </a:extLst>
          </p:cNvPr>
          <p:cNvSpPr txBox="1"/>
          <p:nvPr/>
        </p:nvSpPr>
        <p:spPr>
          <a:xfrm>
            <a:off x="4075519" y="5322228"/>
            <a:ext cx="239841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</a:t>
            </a:r>
            <a:r>
              <a:rPr lang="en-US" altLang="ko-KR" dirty="0"/>
              <a:t>B C A B A B A</a:t>
            </a:r>
            <a:endParaRPr lang="ko-KR" alt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864A3E4-1090-44A2-67C6-49E96570E1BB}"/>
              </a:ext>
            </a:extLst>
          </p:cNvPr>
          <p:cNvSpPr txBox="1">
            <a:spLocks/>
          </p:cNvSpPr>
          <p:nvPr/>
        </p:nvSpPr>
        <p:spPr>
          <a:xfrm>
            <a:off x="6511026" y="5540285"/>
            <a:ext cx="5362575" cy="9668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dirty="0"/>
              <a:t>F(9) = 3</a:t>
            </a:r>
          </a:p>
        </p:txBody>
      </p:sp>
    </p:spTree>
    <p:extLst>
      <p:ext uri="{BB962C8B-B14F-4D97-AF65-F5344CB8AC3E}">
        <p14:creationId xmlns:p14="http://schemas.microsoft.com/office/powerpoint/2010/main" val="416745109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F283D-51F8-E1B6-EA41-CA9F82A3A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E7E50C-77C6-6D7B-0480-A16945BDA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6B147B7-3ACD-4ABB-C2F2-BDAD264823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 </a:t>
            </a:r>
          </a:p>
          <a:p>
            <a:endParaRPr lang="en-US" altLang="ko-KR" dirty="0"/>
          </a:p>
          <a:p>
            <a:r>
              <a:rPr lang="ko-KR" altLang="en-US" dirty="0"/>
              <a:t>물론 다음과 같이 밀어도 되지만 </a:t>
            </a:r>
            <a:r>
              <a:rPr lang="en-US" altLang="ko-KR" dirty="0"/>
              <a:t>(F(8)=4</a:t>
            </a:r>
            <a:r>
              <a:rPr lang="ko-KR" altLang="en-US" dirty="0"/>
              <a:t>니까 </a:t>
            </a:r>
            <a:r>
              <a:rPr lang="en-US" altLang="ko-KR" dirty="0"/>
              <a:t>5</a:t>
            </a:r>
            <a:r>
              <a:rPr lang="ko-KR" altLang="en-US" dirty="0"/>
              <a:t>부터 거꾸로</a:t>
            </a:r>
            <a:r>
              <a:rPr lang="en-US" altLang="ko-KR" dirty="0"/>
              <a:t>)</a:t>
            </a:r>
          </a:p>
          <a:p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5A7C8F-26A3-D4C6-27DC-DD5ADC06F497}"/>
              </a:ext>
            </a:extLst>
          </p:cNvPr>
          <p:cNvSpPr txBox="1"/>
          <p:nvPr/>
        </p:nvSpPr>
        <p:spPr>
          <a:xfrm>
            <a:off x="1517714" y="1886515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440C24-E36F-14B5-A3DB-43D41FD643AF}"/>
              </a:ext>
            </a:extLst>
          </p:cNvPr>
          <p:cNvSpPr txBox="1"/>
          <p:nvPr/>
        </p:nvSpPr>
        <p:spPr>
          <a:xfrm>
            <a:off x="1517714" y="239078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0 1 2  3 4  ?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BBEB27-8121-9B8A-13D7-4C88954D1864}"/>
              </a:ext>
            </a:extLst>
          </p:cNvPr>
          <p:cNvSpPr txBox="1"/>
          <p:nvPr/>
        </p:nvSpPr>
        <p:spPr>
          <a:xfrm>
            <a:off x="2497317" y="3676380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</a:t>
            </a:r>
            <a:r>
              <a:rPr lang="en-US" altLang="ko-KR" b="1" dirty="0">
                <a:solidFill>
                  <a:srgbClr val="00B050"/>
                </a:solidFill>
              </a:rPr>
              <a:t>A B A B </a:t>
            </a:r>
            <a:r>
              <a:rPr lang="en-US" altLang="ko-KR" b="1" dirty="0">
                <a:solidFill>
                  <a:srgbClr val="FF0000"/>
                </a:solidFill>
              </a:rPr>
              <a:t>A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58DC60-27AF-6460-B06B-9F5FFB45F283}"/>
              </a:ext>
            </a:extLst>
          </p:cNvPr>
          <p:cNvSpPr txBox="1"/>
          <p:nvPr/>
        </p:nvSpPr>
        <p:spPr>
          <a:xfrm>
            <a:off x="3612035" y="4114023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A B A B A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956508-DEC7-D595-2666-37D6ECD27599}"/>
              </a:ext>
            </a:extLst>
          </p:cNvPr>
          <p:cNvSpPr txBox="1"/>
          <p:nvPr/>
        </p:nvSpPr>
        <p:spPr>
          <a:xfrm>
            <a:off x="6099926" y="366852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</a:t>
            </a:r>
            <a:r>
              <a:rPr lang="en-US" altLang="ko-KR" b="1" dirty="0">
                <a:solidFill>
                  <a:srgbClr val="FF0000"/>
                </a:solidFill>
              </a:rPr>
              <a:t>B A B A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7F7275-4FFF-5F88-9584-DA689A9635AA}"/>
              </a:ext>
            </a:extLst>
          </p:cNvPr>
          <p:cNvSpPr txBox="1"/>
          <p:nvPr/>
        </p:nvSpPr>
        <p:spPr>
          <a:xfrm>
            <a:off x="7488024" y="4106167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A B A B</a:t>
            </a:r>
            <a:r>
              <a:rPr lang="en-US" altLang="ko-KR" dirty="0"/>
              <a:t> C A B A B A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D86364-7D5A-9E40-852B-8BE459B99E56}"/>
              </a:ext>
            </a:extLst>
          </p:cNvPr>
          <p:cNvSpPr txBox="1"/>
          <p:nvPr/>
        </p:nvSpPr>
        <p:spPr>
          <a:xfrm>
            <a:off x="2498887" y="4884585"/>
            <a:ext cx="239841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</a:t>
            </a:r>
            <a:r>
              <a:rPr lang="en-US" altLang="ko-KR" b="1" dirty="0">
                <a:solidFill>
                  <a:srgbClr val="00B050"/>
                </a:solidFill>
              </a:rPr>
              <a:t>A B A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74ECAA9-15FE-1FCE-39C2-3F8076BF1CDE}"/>
              </a:ext>
            </a:extLst>
          </p:cNvPr>
          <p:cNvSpPr txBox="1"/>
          <p:nvPr/>
        </p:nvSpPr>
        <p:spPr>
          <a:xfrm>
            <a:off x="4075519" y="5322228"/>
            <a:ext cx="239841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</a:t>
            </a:r>
            <a:r>
              <a:rPr lang="en-US" altLang="ko-KR" dirty="0"/>
              <a:t>B C A B A B A</a:t>
            </a:r>
            <a:endParaRPr lang="ko-KR" alt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FA199D2-26BF-0721-AC82-3E474D761A77}"/>
              </a:ext>
            </a:extLst>
          </p:cNvPr>
          <p:cNvSpPr txBox="1">
            <a:spLocks/>
          </p:cNvSpPr>
          <p:nvPr/>
        </p:nvSpPr>
        <p:spPr>
          <a:xfrm>
            <a:off x="6511026" y="5540285"/>
            <a:ext cx="5362575" cy="9668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dirty="0"/>
              <a:t>그러나 더 영리하게 밀 순 없나</a:t>
            </a:r>
            <a:r>
              <a:rPr lang="en-US" altLang="ko-KR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9402826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9D300-6176-B84D-6DCC-D13920682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6BA349-5F91-096A-A8CF-6E1F2A260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21F29B-4A54-7DC7-00F3-A648E76D2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 </a:t>
            </a:r>
          </a:p>
          <a:p>
            <a:endParaRPr lang="en-US" altLang="ko-KR" dirty="0"/>
          </a:p>
          <a:p>
            <a:r>
              <a:rPr lang="ko-KR" altLang="en-US" dirty="0"/>
              <a:t>사실 </a:t>
            </a:r>
            <a:r>
              <a:rPr lang="en-US" altLang="ko-KR" dirty="0"/>
              <a:t>F(8) = 4 </a:t>
            </a:r>
            <a:r>
              <a:rPr lang="ko-KR" altLang="en-US" dirty="0"/>
              <a:t>라는 것으로 부터 실제 </a:t>
            </a:r>
            <a:r>
              <a:rPr lang="en-US" altLang="ko-KR" dirty="0"/>
              <a:t>4</a:t>
            </a:r>
            <a:r>
              <a:rPr lang="ko-KR" altLang="en-US" dirty="0"/>
              <a:t>글자가 일치한다는 걸 앎</a:t>
            </a:r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21B015-4ECA-FB1B-BC87-F7D9DB11DE08}"/>
              </a:ext>
            </a:extLst>
          </p:cNvPr>
          <p:cNvSpPr txBox="1"/>
          <p:nvPr/>
        </p:nvSpPr>
        <p:spPr>
          <a:xfrm>
            <a:off x="1517714" y="1886515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33274F-6FDE-0A9D-0D3E-D7833B52F17C}"/>
              </a:ext>
            </a:extLst>
          </p:cNvPr>
          <p:cNvSpPr txBox="1"/>
          <p:nvPr/>
        </p:nvSpPr>
        <p:spPr>
          <a:xfrm>
            <a:off x="1517714" y="239078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0 1 2  3 4  ?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2FC32C-164B-2B6B-AB14-1FE29D49178C}"/>
              </a:ext>
            </a:extLst>
          </p:cNvPr>
          <p:cNvSpPr txBox="1"/>
          <p:nvPr/>
        </p:nvSpPr>
        <p:spPr>
          <a:xfrm>
            <a:off x="2497317" y="3676380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</a:t>
            </a:r>
            <a:r>
              <a:rPr lang="en-US" altLang="ko-KR" b="1" dirty="0">
                <a:solidFill>
                  <a:srgbClr val="00B050"/>
                </a:solidFill>
              </a:rPr>
              <a:t>A B A B </a:t>
            </a:r>
            <a:r>
              <a:rPr lang="en-US" altLang="ko-KR" b="1" dirty="0">
                <a:solidFill>
                  <a:srgbClr val="FF0000"/>
                </a:solidFill>
              </a:rPr>
              <a:t>A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64EEB3-878B-0ACF-F41F-1A3FF453FDC3}"/>
              </a:ext>
            </a:extLst>
          </p:cNvPr>
          <p:cNvSpPr txBox="1"/>
          <p:nvPr/>
        </p:nvSpPr>
        <p:spPr>
          <a:xfrm>
            <a:off x="3612035" y="4114023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A B A B A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81A713-FAB0-5D08-6D83-9AF3F855E5E5}"/>
              </a:ext>
            </a:extLst>
          </p:cNvPr>
          <p:cNvSpPr txBox="1"/>
          <p:nvPr/>
        </p:nvSpPr>
        <p:spPr>
          <a:xfrm>
            <a:off x="3884067" y="4557339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A B A B 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8274934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DE61E-5533-C496-4A39-56226DD4F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4D0F70-998B-F7CA-D470-52564FE6B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8874DB-4707-8250-82F6-13D33CEB39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 </a:t>
            </a:r>
          </a:p>
          <a:p>
            <a:endParaRPr lang="en-US" altLang="ko-KR" dirty="0"/>
          </a:p>
          <a:p>
            <a:r>
              <a:rPr lang="ko-KR" altLang="en-US" dirty="0"/>
              <a:t>사실 </a:t>
            </a:r>
            <a:r>
              <a:rPr lang="en-US" altLang="ko-KR" dirty="0"/>
              <a:t>F(8) = 4 </a:t>
            </a:r>
            <a:r>
              <a:rPr lang="ko-KR" altLang="en-US" dirty="0"/>
              <a:t>라는 것으로 부터 실제 </a:t>
            </a:r>
            <a:r>
              <a:rPr lang="en-US" altLang="ko-KR" dirty="0"/>
              <a:t>4</a:t>
            </a:r>
            <a:r>
              <a:rPr lang="ko-KR" altLang="en-US" dirty="0"/>
              <a:t>글자가 일치한다는 걸 앎</a:t>
            </a:r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0FE86D-096D-F9B5-7205-B2061D5F1A92}"/>
              </a:ext>
            </a:extLst>
          </p:cNvPr>
          <p:cNvSpPr txBox="1"/>
          <p:nvPr/>
        </p:nvSpPr>
        <p:spPr>
          <a:xfrm>
            <a:off x="1517714" y="1886515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F22F06-BD56-1A35-F5ED-854EB4A8B6D6}"/>
              </a:ext>
            </a:extLst>
          </p:cNvPr>
          <p:cNvSpPr txBox="1"/>
          <p:nvPr/>
        </p:nvSpPr>
        <p:spPr>
          <a:xfrm>
            <a:off x="1517714" y="239078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0 1 2  3 4  ?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E1F563-95A3-3215-5800-CA565B3B464D}"/>
              </a:ext>
            </a:extLst>
          </p:cNvPr>
          <p:cNvSpPr txBox="1"/>
          <p:nvPr/>
        </p:nvSpPr>
        <p:spPr>
          <a:xfrm>
            <a:off x="3612035" y="4114023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A B A B A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ABBB93-25AD-4B49-074D-E5B7A16FC2E7}"/>
              </a:ext>
            </a:extLst>
          </p:cNvPr>
          <p:cNvSpPr txBox="1"/>
          <p:nvPr/>
        </p:nvSpPr>
        <p:spPr>
          <a:xfrm>
            <a:off x="3884067" y="4557339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A B A B A</a:t>
            </a:r>
            <a:endParaRPr lang="ko-KR" altLang="en-US" dirty="0"/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B68A99CC-4450-8EBC-708A-AF5B1F552DD9}"/>
              </a:ext>
            </a:extLst>
          </p:cNvPr>
          <p:cNvSpPr txBox="1">
            <a:spLocks/>
          </p:cNvSpPr>
          <p:nvPr/>
        </p:nvSpPr>
        <p:spPr>
          <a:xfrm>
            <a:off x="6454465" y="4258562"/>
            <a:ext cx="5362575" cy="96688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dirty="0"/>
              <a:t>밀어낸 상태의 </a:t>
            </a:r>
            <a:r>
              <a:rPr lang="ko-KR" altLang="en-US" dirty="0" err="1"/>
              <a:t>접두</a:t>
            </a:r>
            <a:r>
              <a:rPr lang="ko-KR" altLang="en-US" dirty="0"/>
              <a:t> 쪽을 다시</a:t>
            </a:r>
            <a:endParaRPr lang="en-US" altLang="ko-KR" dirty="0"/>
          </a:p>
          <a:p>
            <a:pPr marL="0" indent="0" algn="ctr">
              <a:buNone/>
            </a:pPr>
            <a:r>
              <a:rPr lang="ko-KR" altLang="en-US" dirty="0"/>
              <a:t>놓고 비교를 한다면</a:t>
            </a:r>
            <a:r>
              <a:rPr lang="en-US" altLang="ko-KR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42575385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9CA74-6C71-F434-2074-C1BC7BBAB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6F8A2C-7BDE-37C1-3EE3-C08F7BEBA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3AB888-3EF4-B638-C972-BE40CCECC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 </a:t>
            </a:r>
          </a:p>
          <a:p>
            <a:endParaRPr lang="en-US" altLang="ko-KR" dirty="0"/>
          </a:p>
          <a:p>
            <a:r>
              <a:rPr lang="ko-KR" altLang="en-US" dirty="0"/>
              <a:t>사실 </a:t>
            </a:r>
            <a:r>
              <a:rPr lang="en-US" altLang="ko-KR" dirty="0"/>
              <a:t>F(8) = 4 </a:t>
            </a:r>
            <a:r>
              <a:rPr lang="ko-KR" altLang="en-US" dirty="0"/>
              <a:t>라는 것으로 부터 실제 </a:t>
            </a:r>
            <a:r>
              <a:rPr lang="en-US" altLang="ko-KR" dirty="0"/>
              <a:t>4</a:t>
            </a:r>
            <a:r>
              <a:rPr lang="ko-KR" altLang="en-US" dirty="0"/>
              <a:t>글자가 일치한다는 걸 앎</a:t>
            </a:r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FFEAE8-B001-1611-F0C1-1DB71BB9D329}"/>
              </a:ext>
            </a:extLst>
          </p:cNvPr>
          <p:cNvSpPr txBox="1"/>
          <p:nvPr/>
        </p:nvSpPr>
        <p:spPr>
          <a:xfrm>
            <a:off x="1517714" y="1886515"/>
            <a:ext cx="241284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F0"/>
                </a:solidFill>
              </a:rPr>
              <a:t>A B A B C </a:t>
            </a:r>
            <a:r>
              <a:rPr lang="en-US" altLang="ko-KR" dirty="0"/>
              <a:t>A B A B A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A5EFBE-DC40-B766-1BDC-8A0C532BFB9B}"/>
              </a:ext>
            </a:extLst>
          </p:cNvPr>
          <p:cNvSpPr txBox="1"/>
          <p:nvPr/>
        </p:nvSpPr>
        <p:spPr>
          <a:xfrm>
            <a:off x="1517714" y="239078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0 1 2  3 4  ?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01AA5B-C802-D838-C444-76FD7E01DE21}"/>
              </a:ext>
            </a:extLst>
          </p:cNvPr>
          <p:cNvSpPr txBox="1"/>
          <p:nvPr/>
        </p:nvSpPr>
        <p:spPr>
          <a:xfrm>
            <a:off x="3612035" y="4114023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A B A B A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51D872-8AF7-90D6-189B-DF0076A017C0}"/>
              </a:ext>
            </a:extLst>
          </p:cNvPr>
          <p:cNvSpPr txBox="1"/>
          <p:nvPr/>
        </p:nvSpPr>
        <p:spPr>
          <a:xfrm>
            <a:off x="3884067" y="4557339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A B A B A</a:t>
            </a:r>
            <a:endParaRPr lang="ko-KR" altLang="en-US" dirty="0"/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83D23EE-8A40-BB41-4C4C-4CABF3713EEC}"/>
              </a:ext>
            </a:extLst>
          </p:cNvPr>
          <p:cNvSpPr txBox="1">
            <a:spLocks/>
          </p:cNvSpPr>
          <p:nvPr/>
        </p:nvSpPr>
        <p:spPr>
          <a:xfrm>
            <a:off x="6454465" y="4258562"/>
            <a:ext cx="5362575" cy="96688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dirty="0"/>
              <a:t>밀어낸 상태의 </a:t>
            </a:r>
            <a:r>
              <a:rPr lang="ko-KR" altLang="en-US" dirty="0" err="1"/>
              <a:t>접두</a:t>
            </a:r>
            <a:r>
              <a:rPr lang="ko-KR" altLang="en-US" dirty="0"/>
              <a:t> 쪽을 다시</a:t>
            </a:r>
            <a:endParaRPr lang="en-US" altLang="ko-KR" dirty="0"/>
          </a:p>
          <a:p>
            <a:pPr marL="0" indent="0" algn="ctr">
              <a:buNone/>
            </a:pPr>
            <a:r>
              <a:rPr lang="ko-KR" altLang="en-US" dirty="0"/>
              <a:t>놓고 비교를 한다면</a:t>
            </a:r>
            <a:r>
              <a:rPr lang="en-US" altLang="ko-KR" dirty="0"/>
              <a:t>…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808A851-B233-A18A-B099-FA383310FDCD}"/>
              </a:ext>
            </a:extLst>
          </p:cNvPr>
          <p:cNvSpPr txBox="1">
            <a:spLocks/>
          </p:cNvSpPr>
          <p:nvPr/>
        </p:nvSpPr>
        <p:spPr>
          <a:xfrm>
            <a:off x="4183475" y="2115995"/>
            <a:ext cx="5362575" cy="9668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dirty="0"/>
              <a:t>갑자기 이 부분이 눈에 들어온다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6380711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BFADB-0CE8-C74D-C30F-8D786568C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EC075D-1BD7-D18F-605A-C03A88580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BEC09C-C320-3136-DBD5-2257BA5713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 </a:t>
            </a:r>
          </a:p>
          <a:p>
            <a:endParaRPr lang="en-US" altLang="ko-KR" dirty="0"/>
          </a:p>
          <a:p>
            <a:r>
              <a:rPr lang="ko-KR" altLang="en-US" dirty="0"/>
              <a:t>사실 </a:t>
            </a:r>
            <a:r>
              <a:rPr lang="en-US" altLang="ko-KR" dirty="0"/>
              <a:t>F(8) = 4 </a:t>
            </a:r>
            <a:r>
              <a:rPr lang="ko-KR" altLang="en-US" dirty="0"/>
              <a:t>라는 것으로 부터 실제 </a:t>
            </a:r>
            <a:r>
              <a:rPr lang="en-US" altLang="ko-KR" dirty="0"/>
              <a:t>4</a:t>
            </a:r>
            <a:r>
              <a:rPr lang="ko-KR" altLang="en-US" dirty="0"/>
              <a:t>글자가 일치한다는 걸 앎</a:t>
            </a:r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F0D64C-FAED-1F72-C317-782960169531}"/>
              </a:ext>
            </a:extLst>
          </p:cNvPr>
          <p:cNvSpPr txBox="1"/>
          <p:nvPr/>
        </p:nvSpPr>
        <p:spPr>
          <a:xfrm>
            <a:off x="1517714" y="1886515"/>
            <a:ext cx="241284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F0"/>
                </a:solidFill>
              </a:rPr>
              <a:t>A B A B C </a:t>
            </a:r>
            <a:r>
              <a:rPr lang="en-US" altLang="ko-KR" dirty="0"/>
              <a:t>A B A B A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444905-E0DF-3767-0083-4C5750BC2FE8}"/>
              </a:ext>
            </a:extLst>
          </p:cNvPr>
          <p:cNvSpPr txBox="1"/>
          <p:nvPr/>
        </p:nvSpPr>
        <p:spPr>
          <a:xfrm>
            <a:off x="1517714" y="239078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0 1 2  3 4  ?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72757B-E65A-0C91-01A5-291131A3D3DF}"/>
              </a:ext>
            </a:extLst>
          </p:cNvPr>
          <p:cNvSpPr txBox="1"/>
          <p:nvPr/>
        </p:nvSpPr>
        <p:spPr>
          <a:xfrm>
            <a:off x="3612035" y="4114023"/>
            <a:ext cx="135966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C8BA41-2403-EE73-5C1A-1754C6E103E8}"/>
              </a:ext>
            </a:extLst>
          </p:cNvPr>
          <p:cNvSpPr txBox="1"/>
          <p:nvPr/>
        </p:nvSpPr>
        <p:spPr>
          <a:xfrm>
            <a:off x="3884067" y="4557339"/>
            <a:ext cx="135966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3145714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8D9F6-9F4F-F4B8-88D4-7E97E64A2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340C8B-18A3-4504-0A72-27AF807D1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5D6775-E806-C8BA-DB2B-05C2824B9E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 </a:t>
            </a:r>
          </a:p>
          <a:p>
            <a:endParaRPr lang="en-US" altLang="ko-KR" dirty="0"/>
          </a:p>
          <a:p>
            <a:r>
              <a:rPr lang="ko-KR" altLang="en-US" dirty="0"/>
              <a:t>사실 </a:t>
            </a:r>
            <a:r>
              <a:rPr lang="en-US" altLang="ko-KR" dirty="0"/>
              <a:t>F(8) = 4 </a:t>
            </a:r>
            <a:r>
              <a:rPr lang="ko-KR" altLang="en-US" dirty="0"/>
              <a:t>라는 것으로 부터 실제 </a:t>
            </a:r>
            <a:r>
              <a:rPr lang="en-US" altLang="ko-KR" dirty="0"/>
              <a:t>4</a:t>
            </a:r>
            <a:r>
              <a:rPr lang="ko-KR" altLang="en-US" dirty="0"/>
              <a:t>글자가 일치한다는 걸 앎</a:t>
            </a:r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3D5A13-BA83-A510-98D5-9E0B6FE8A630}"/>
              </a:ext>
            </a:extLst>
          </p:cNvPr>
          <p:cNvSpPr txBox="1"/>
          <p:nvPr/>
        </p:nvSpPr>
        <p:spPr>
          <a:xfrm>
            <a:off x="1517714" y="1886515"/>
            <a:ext cx="241284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F0"/>
                </a:solidFill>
              </a:rPr>
              <a:t>A B A B C </a:t>
            </a:r>
            <a:r>
              <a:rPr lang="en-US" altLang="ko-KR" dirty="0"/>
              <a:t>A B A B A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89450F-BC4C-DAC5-3429-FAE8EAF8DDE4}"/>
              </a:ext>
            </a:extLst>
          </p:cNvPr>
          <p:cNvSpPr txBox="1"/>
          <p:nvPr/>
        </p:nvSpPr>
        <p:spPr>
          <a:xfrm>
            <a:off x="1517714" y="239078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0 1 2  3 4  ?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5E717D-5862-C098-60AE-07DA7EEAE145}"/>
              </a:ext>
            </a:extLst>
          </p:cNvPr>
          <p:cNvSpPr txBox="1"/>
          <p:nvPr/>
        </p:nvSpPr>
        <p:spPr>
          <a:xfrm>
            <a:off x="3612035" y="4114023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</a:t>
            </a:r>
            <a:r>
              <a:rPr lang="en-US" altLang="ko-KR" b="1" dirty="0">
                <a:solidFill>
                  <a:srgbClr val="00B050"/>
                </a:solidFill>
              </a:rPr>
              <a:t>A B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C2A5D3-4A7A-FC70-285D-50AF2EAB344C}"/>
              </a:ext>
            </a:extLst>
          </p:cNvPr>
          <p:cNvSpPr txBox="1"/>
          <p:nvPr/>
        </p:nvSpPr>
        <p:spPr>
          <a:xfrm>
            <a:off x="4072604" y="4557339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</a:t>
            </a:r>
            <a:r>
              <a:rPr lang="en-US" altLang="ko-KR" dirty="0"/>
              <a:t> A B 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E0DF1148-35F3-7900-9671-F4DDF744612A}"/>
              </a:ext>
            </a:extLst>
          </p:cNvPr>
          <p:cNvSpPr txBox="1">
            <a:spLocks/>
          </p:cNvSpPr>
          <p:nvPr/>
        </p:nvSpPr>
        <p:spPr>
          <a:xfrm>
            <a:off x="5297865" y="4079223"/>
            <a:ext cx="6443762" cy="1325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dirty="0"/>
              <a:t>4</a:t>
            </a:r>
            <a:r>
              <a:rPr lang="ko-KR" altLang="en-US" dirty="0"/>
              <a:t>글자라는 것은 </a:t>
            </a:r>
            <a:r>
              <a:rPr lang="en-US" altLang="ko-KR" dirty="0"/>
              <a:t>3+1</a:t>
            </a:r>
            <a:r>
              <a:rPr lang="ko-KR" altLang="en-US" dirty="0" err="1"/>
              <a:t>글자니까</a:t>
            </a:r>
            <a:endParaRPr lang="en-US" altLang="ko-KR" dirty="0"/>
          </a:p>
          <a:p>
            <a:pPr marL="0" indent="0" algn="ctr">
              <a:buNone/>
            </a:pPr>
            <a:r>
              <a:rPr lang="en-US" altLang="ko-KR" dirty="0"/>
              <a:t>F(3) = 2 </a:t>
            </a:r>
            <a:r>
              <a:rPr lang="ko-KR" altLang="en-US" dirty="0"/>
              <a:t>인 것을 활용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99051825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1D7A6-AF45-6CED-6499-DF38220FA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AEFF30-AA65-61A0-EFF9-4CE78D1BF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363343-43B5-D752-D145-9B49544CAD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 </a:t>
            </a:r>
          </a:p>
          <a:p>
            <a:endParaRPr lang="en-US" altLang="ko-KR" dirty="0"/>
          </a:p>
          <a:p>
            <a:r>
              <a:rPr lang="ko-KR" altLang="en-US" dirty="0"/>
              <a:t>사실 </a:t>
            </a:r>
            <a:r>
              <a:rPr lang="en-US" altLang="ko-KR" dirty="0"/>
              <a:t>F(8) = 4 </a:t>
            </a:r>
            <a:r>
              <a:rPr lang="ko-KR" altLang="en-US" dirty="0"/>
              <a:t>라는 것으로 부터 실제 </a:t>
            </a:r>
            <a:r>
              <a:rPr lang="en-US" altLang="ko-KR" dirty="0"/>
              <a:t>4</a:t>
            </a:r>
            <a:r>
              <a:rPr lang="ko-KR" altLang="en-US" dirty="0"/>
              <a:t>글자가 일치한다는 걸 앎</a:t>
            </a:r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F0CF34-8E61-1A4B-26E0-366756126C3E}"/>
              </a:ext>
            </a:extLst>
          </p:cNvPr>
          <p:cNvSpPr txBox="1"/>
          <p:nvPr/>
        </p:nvSpPr>
        <p:spPr>
          <a:xfrm>
            <a:off x="1517714" y="1886515"/>
            <a:ext cx="241284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F0"/>
                </a:solidFill>
              </a:rPr>
              <a:t>A B A B C </a:t>
            </a:r>
            <a:r>
              <a:rPr lang="en-US" altLang="ko-KR" dirty="0"/>
              <a:t>A B A B A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DF5563-87B2-F3B2-648E-72D623CB283F}"/>
              </a:ext>
            </a:extLst>
          </p:cNvPr>
          <p:cNvSpPr txBox="1"/>
          <p:nvPr/>
        </p:nvSpPr>
        <p:spPr>
          <a:xfrm>
            <a:off x="1517714" y="239078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0 1 2  3 4  ?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419C3E-DA37-28B9-CFE8-A9CF55384CC2}"/>
              </a:ext>
            </a:extLst>
          </p:cNvPr>
          <p:cNvSpPr txBox="1"/>
          <p:nvPr/>
        </p:nvSpPr>
        <p:spPr>
          <a:xfrm>
            <a:off x="3612035" y="4114023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</a:t>
            </a:r>
            <a:r>
              <a:rPr lang="en-US" altLang="ko-KR" b="1" dirty="0">
                <a:solidFill>
                  <a:srgbClr val="00B050"/>
                </a:solidFill>
              </a:rPr>
              <a:t>A B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568059-04EF-CF54-BF2F-8ACFF73B71C6}"/>
              </a:ext>
            </a:extLst>
          </p:cNvPr>
          <p:cNvSpPr txBox="1"/>
          <p:nvPr/>
        </p:nvSpPr>
        <p:spPr>
          <a:xfrm>
            <a:off x="4072604" y="4557339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</a:t>
            </a:r>
            <a:r>
              <a:rPr lang="en-US" altLang="ko-KR" dirty="0"/>
              <a:t> A B 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2A99EDF9-77D8-EC53-C5EC-CDE1730C1B4B}"/>
              </a:ext>
            </a:extLst>
          </p:cNvPr>
          <p:cNvSpPr txBox="1">
            <a:spLocks/>
          </p:cNvSpPr>
          <p:nvPr/>
        </p:nvSpPr>
        <p:spPr>
          <a:xfrm>
            <a:off x="5297865" y="4079223"/>
            <a:ext cx="6443762" cy="1325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dirty="0"/>
              <a:t>4</a:t>
            </a:r>
            <a:r>
              <a:rPr lang="ko-KR" altLang="en-US" dirty="0"/>
              <a:t>글자라는 것은 </a:t>
            </a:r>
            <a:r>
              <a:rPr lang="en-US" altLang="ko-KR" dirty="0"/>
              <a:t>3+1</a:t>
            </a:r>
            <a:r>
              <a:rPr lang="ko-KR" altLang="en-US" dirty="0" err="1"/>
              <a:t>글자니까</a:t>
            </a:r>
            <a:endParaRPr lang="en-US" altLang="ko-KR" dirty="0"/>
          </a:p>
          <a:p>
            <a:pPr marL="0" indent="0" algn="ctr">
              <a:buNone/>
            </a:pPr>
            <a:r>
              <a:rPr lang="en-US" altLang="ko-KR" dirty="0"/>
              <a:t>F(3) = 2 </a:t>
            </a:r>
            <a:r>
              <a:rPr lang="ko-KR" altLang="en-US" dirty="0"/>
              <a:t>인 것을 활용</a:t>
            </a:r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B90C41-66CE-3CC8-4CD4-8BC9BBA8EDA0}"/>
              </a:ext>
            </a:extLst>
          </p:cNvPr>
          <p:cNvSpPr txBox="1"/>
          <p:nvPr/>
        </p:nvSpPr>
        <p:spPr>
          <a:xfrm>
            <a:off x="4565717" y="4115591"/>
            <a:ext cx="34657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4108658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9C442-4070-94DC-AC6B-1E9147F98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7DB86D-7CA8-AA46-9816-49F9CBCDD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41A08D-2305-AA38-C593-5AEFB4983F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 </a:t>
            </a:r>
          </a:p>
          <a:p>
            <a:endParaRPr lang="en-US" altLang="ko-KR" dirty="0"/>
          </a:p>
          <a:p>
            <a:r>
              <a:rPr lang="ko-KR" altLang="en-US" dirty="0"/>
              <a:t>사실 </a:t>
            </a:r>
            <a:r>
              <a:rPr lang="en-US" altLang="ko-KR" dirty="0"/>
              <a:t>F(8) = 4 </a:t>
            </a:r>
            <a:r>
              <a:rPr lang="ko-KR" altLang="en-US" dirty="0"/>
              <a:t>라는 것으로 부터 실제 </a:t>
            </a:r>
            <a:r>
              <a:rPr lang="en-US" altLang="ko-KR" dirty="0"/>
              <a:t>4</a:t>
            </a:r>
            <a:r>
              <a:rPr lang="ko-KR" altLang="en-US" dirty="0"/>
              <a:t>글자가 일치한다는 걸 앎</a:t>
            </a:r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D56EF5-C9A7-E6CD-086E-31C5EF0BBAC1}"/>
              </a:ext>
            </a:extLst>
          </p:cNvPr>
          <p:cNvSpPr txBox="1"/>
          <p:nvPr/>
        </p:nvSpPr>
        <p:spPr>
          <a:xfrm>
            <a:off x="1517714" y="1886515"/>
            <a:ext cx="241284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F0"/>
                </a:solidFill>
              </a:rPr>
              <a:t>A B A B C </a:t>
            </a:r>
            <a:r>
              <a:rPr lang="en-US" altLang="ko-KR" dirty="0"/>
              <a:t>A B A B A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49C894-0788-CF97-3D7D-C7CFF971A5C5}"/>
              </a:ext>
            </a:extLst>
          </p:cNvPr>
          <p:cNvSpPr txBox="1"/>
          <p:nvPr/>
        </p:nvSpPr>
        <p:spPr>
          <a:xfrm>
            <a:off x="1517714" y="239078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0 1 2  3 4  ?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8FADB3-087A-5199-7B3C-EFE5C22F6C3D}"/>
              </a:ext>
            </a:extLst>
          </p:cNvPr>
          <p:cNvSpPr txBox="1"/>
          <p:nvPr/>
        </p:nvSpPr>
        <p:spPr>
          <a:xfrm>
            <a:off x="3612035" y="4114023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</a:t>
            </a:r>
            <a:r>
              <a:rPr lang="en-US" altLang="ko-KR" b="1" dirty="0">
                <a:solidFill>
                  <a:srgbClr val="00B050"/>
                </a:solidFill>
              </a:rPr>
              <a:t>A B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4AB3EF-497D-7087-0B3E-AEE9998D3D27}"/>
              </a:ext>
            </a:extLst>
          </p:cNvPr>
          <p:cNvSpPr txBox="1"/>
          <p:nvPr/>
        </p:nvSpPr>
        <p:spPr>
          <a:xfrm>
            <a:off x="4072604" y="4557339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7030A0"/>
                </a:solidFill>
              </a:rPr>
              <a:t>A</a:t>
            </a:r>
            <a:r>
              <a:rPr lang="en-US" altLang="ko-KR" dirty="0"/>
              <a:t> B 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57F67518-B5F0-A584-39CF-990DE273786E}"/>
              </a:ext>
            </a:extLst>
          </p:cNvPr>
          <p:cNvSpPr txBox="1">
            <a:spLocks/>
          </p:cNvSpPr>
          <p:nvPr/>
        </p:nvSpPr>
        <p:spPr>
          <a:xfrm>
            <a:off x="5297865" y="4079223"/>
            <a:ext cx="6443762" cy="19539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dirty="0"/>
              <a:t>그 다음 인덱스의</a:t>
            </a:r>
            <a:r>
              <a:rPr lang="en-US" altLang="ko-KR" dirty="0"/>
              <a:t> </a:t>
            </a:r>
            <a:r>
              <a:rPr lang="ko-KR" altLang="en-US" dirty="0"/>
              <a:t>값이</a:t>
            </a:r>
            <a:endParaRPr lang="en-US" altLang="ko-KR" dirty="0"/>
          </a:p>
          <a:p>
            <a:pPr marL="0" indent="0" algn="ctr">
              <a:buNone/>
            </a:pPr>
            <a:r>
              <a:rPr lang="en-US" altLang="ko-KR" b="1" dirty="0">
                <a:solidFill>
                  <a:srgbClr val="7030A0"/>
                </a:solidFill>
              </a:rPr>
              <a:t>A</a:t>
            </a:r>
            <a:r>
              <a:rPr lang="ko-KR" altLang="en-US" dirty="0"/>
              <a:t>로 일치 </a:t>
            </a:r>
            <a:r>
              <a:rPr lang="en-US" altLang="ko-KR" dirty="0"/>
              <a:t>-&gt; +1 </a:t>
            </a:r>
            <a:r>
              <a:rPr lang="ko-KR" altLang="en-US" dirty="0"/>
              <a:t>처리</a:t>
            </a:r>
            <a:endParaRPr lang="en-US" altLang="ko-KR" dirty="0"/>
          </a:p>
          <a:p>
            <a:pPr marL="0" indent="0" algn="ctr">
              <a:buNone/>
            </a:pPr>
            <a:r>
              <a:rPr lang="ko-KR" altLang="en-US" dirty="0"/>
              <a:t>따라서</a:t>
            </a:r>
            <a:r>
              <a:rPr lang="en-US" altLang="ko-KR" dirty="0"/>
              <a:t>, F(9) = </a:t>
            </a:r>
            <a:r>
              <a:rPr lang="en-US" altLang="ko-KR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BB2978-053A-D1DE-771A-37D2EAA6F4EE}"/>
              </a:ext>
            </a:extLst>
          </p:cNvPr>
          <p:cNvSpPr txBox="1"/>
          <p:nvPr/>
        </p:nvSpPr>
        <p:spPr>
          <a:xfrm>
            <a:off x="4546863" y="4106164"/>
            <a:ext cx="34657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7030A0"/>
                </a:solidFill>
              </a:rPr>
              <a:t>A</a:t>
            </a:r>
            <a:endParaRPr lang="ko-KR" altLang="en-US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819169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DFE072-F1B5-EBD8-21E1-2A468C516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650348-8A68-3AB5-72CF-BD1464F0866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코드로 작성</a:t>
            </a:r>
          </a:p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BC4CFE-573B-273D-80EE-2642DDB2F3C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000" dirty="0"/>
              <a:t>패턴 벡터 </a:t>
            </a:r>
            <a:r>
              <a:rPr lang="en-US" altLang="ko-KR" sz="2000" dirty="0"/>
              <a:t>failure</a:t>
            </a:r>
          </a:p>
          <a:p>
            <a:r>
              <a:rPr lang="ko-KR" altLang="en-US" sz="2000" dirty="0"/>
              <a:t>실패함수 벡터 초기 </a:t>
            </a:r>
            <a:r>
              <a:rPr lang="en-US" altLang="ko-KR" sz="2000" dirty="0"/>
              <a:t>0</a:t>
            </a:r>
          </a:p>
          <a:p>
            <a:endParaRPr lang="en-US" altLang="ko-KR" sz="2000" dirty="0"/>
          </a:p>
          <a:p>
            <a:r>
              <a:rPr lang="en-US" altLang="ko-KR" sz="2000" dirty="0"/>
              <a:t>j -&gt;</a:t>
            </a:r>
            <a:r>
              <a:rPr lang="ko-KR" altLang="en-US" sz="2000" dirty="0"/>
              <a:t> 현재 일치하는 접두사 끝</a:t>
            </a:r>
            <a:endParaRPr lang="en-US" altLang="ko-KR" sz="2000" dirty="0"/>
          </a:p>
          <a:p>
            <a:pPr lvl="1"/>
            <a:r>
              <a:rPr lang="en-US" altLang="ko-KR" sz="1800" dirty="0"/>
              <a:t>F(9) </a:t>
            </a:r>
            <a:r>
              <a:rPr lang="ko-KR" altLang="en-US" sz="1800" dirty="0"/>
              <a:t>구하는 거 기준 </a:t>
            </a:r>
            <a:r>
              <a:rPr lang="en-US" altLang="ko-KR" sz="1800" dirty="0"/>
              <a:t>F(8)=4, j=4</a:t>
            </a:r>
          </a:p>
          <a:p>
            <a:r>
              <a:rPr lang="en-US" altLang="ko-KR" sz="2000" dirty="0"/>
              <a:t>i</a:t>
            </a:r>
            <a:r>
              <a:rPr lang="ko-KR" altLang="en-US" sz="2000" dirty="0"/>
              <a:t> </a:t>
            </a:r>
            <a:r>
              <a:rPr lang="en-US" altLang="ko-KR" sz="2000" dirty="0"/>
              <a:t>-&gt; 1</a:t>
            </a:r>
            <a:r>
              <a:rPr lang="ko-KR" altLang="en-US" sz="2000" dirty="0"/>
              <a:t>번 인덱스부터 끝까지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같으면 </a:t>
            </a:r>
            <a:r>
              <a:rPr lang="en-US" altLang="ko-KR" sz="2000" dirty="0"/>
              <a:t>++j</a:t>
            </a:r>
          </a:p>
          <a:p>
            <a:r>
              <a:rPr lang="ko-KR" altLang="en-US" sz="2000" dirty="0"/>
              <a:t>다르면 지금까지 길이 포기하고 앞으로 이동 </a:t>
            </a:r>
            <a:r>
              <a:rPr lang="en-US" altLang="ko-KR" sz="2000" dirty="0"/>
              <a:t>F(j-1) </a:t>
            </a:r>
            <a:r>
              <a:rPr lang="ko-KR" altLang="en-US" sz="2000" dirty="0"/>
              <a:t>인덱스로</a:t>
            </a:r>
            <a:endParaRPr lang="en-US" altLang="ko-KR" sz="2000" dirty="0"/>
          </a:p>
          <a:p>
            <a:pPr lvl="1"/>
            <a:r>
              <a:rPr lang="ko-KR" altLang="en-US" sz="1800" dirty="0"/>
              <a:t>결국 </a:t>
            </a:r>
            <a:r>
              <a:rPr lang="en-US" altLang="ko-KR" sz="1800" dirty="0"/>
              <a:t>j</a:t>
            </a:r>
            <a:r>
              <a:rPr lang="ko-KR" altLang="en-US" sz="1800" dirty="0"/>
              <a:t>가 </a:t>
            </a:r>
            <a:r>
              <a:rPr lang="en-US" altLang="ko-KR" sz="1800" dirty="0"/>
              <a:t>4</a:t>
            </a:r>
            <a:r>
              <a:rPr lang="ko-KR" altLang="en-US" sz="1800" dirty="0"/>
              <a:t>였으니 </a:t>
            </a:r>
            <a:r>
              <a:rPr lang="en-US" altLang="ko-KR" sz="1800" dirty="0"/>
              <a:t>4-1</a:t>
            </a:r>
            <a:r>
              <a:rPr lang="ko-KR" altLang="en-US" sz="1800" dirty="0"/>
              <a:t>인 </a:t>
            </a:r>
            <a:r>
              <a:rPr lang="en-US" altLang="ko-KR" sz="1800" dirty="0"/>
              <a:t>F(3)</a:t>
            </a:r>
            <a:r>
              <a:rPr lang="ko-KR" altLang="en-US" sz="1800" dirty="0"/>
              <a:t>을 활용함</a:t>
            </a:r>
            <a:endParaRPr lang="en-US" altLang="ko-KR" sz="18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9245EE5-E760-8D61-FDF8-49813E93C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9064" y="2505628"/>
            <a:ext cx="3115110" cy="2619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052766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B59AF-9536-5E98-32C5-971EF8558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BBD3E0-4439-5C94-C47D-FE5A88AEA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26E8D85-E473-7C04-334D-1D5AE7246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</a:t>
            </a:r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260AE6-C6B8-DD04-9AC3-9A428616650B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ADE75C-0600-BF3B-ADD8-C4D0F25C1CE1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FCE0B0-85CE-37C7-CFFD-96306CC4A84E}"/>
              </a:ext>
            </a:extLst>
          </p:cNvPr>
          <p:cNvSpPr txBox="1"/>
          <p:nvPr/>
        </p:nvSpPr>
        <p:spPr>
          <a:xfrm>
            <a:off x="2912883" y="3413527"/>
            <a:ext cx="214193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0  0 1 2 3  0 1 2 3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230561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3448</Words>
  <Application>Microsoft Office PowerPoint</Application>
  <PresentationFormat>와이드스크린</PresentationFormat>
  <Paragraphs>512</Paragraphs>
  <Slides>56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56</vt:i4>
      </vt:variant>
    </vt:vector>
  </HeadingPairs>
  <TitlesOfParts>
    <vt:vector size="59" baseType="lpstr">
      <vt:lpstr>맑은 고딕</vt:lpstr>
      <vt:lpstr>Arial</vt:lpstr>
      <vt:lpstr>Office 테마</vt:lpstr>
      <vt:lpstr>KMP 알고리즘</vt:lpstr>
      <vt:lpstr>목차</vt:lpstr>
      <vt:lpstr>0x00 알고리즘 설명</vt:lpstr>
      <vt:lpstr>0x00 알고리즘 설명</vt:lpstr>
      <vt:lpstr>0x00 알고리즘 설명</vt:lpstr>
      <vt:lpstr>0x00 알고리즘 설명</vt:lpstr>
      <vt:lpstr>0x00 알고리즘 설명</vt:lpstr>
      <vt:lpstr>0x00 알고리즘 설명</vt:lpstr>
      <vt:lpstr>0x00 알고리즘 설명</vt:lpstr>
      <vt:lpstr>0x00 알고리즘 설명</vt:lpstr>
      <vt:lpstr>0x00 알고리즘 설명</vt:lpstr>
      <vt:lpstr>0x00 알고리즘 설명</vt:lpstr>
      <vt:lpstr>0x00 알고리즘 설명</vt:lpstr>
      <vt:lpstr>0x00 알고리즘 설명</vt:lpstr>
      <vt:lpstr>0x00 알고리즘 설명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0x02 KMP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김정향</dc:creator>
  <cp:lastModifiedBy>필링크 011</cp:lastModifiedBy>
  <cp:revision>5</cp:revision>
  <dcterms:created xsi:type="dcterms:W3CDTF">2026-06-08T06:19:00Z</dcterms:created>
  <dcterms:modified xsi:type="dcterms:W3CDTF">2026-06-08T09:01:17Z</dcterms:modified>
</cp:coreProperties>
</file>