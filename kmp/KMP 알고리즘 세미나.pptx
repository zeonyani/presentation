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9" r:id="rId13"/>
    <p:sldId id="268" r:id="rId14"/>
    <p:sldId id="266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3" r:id="rId28"/>
    <p:sldId id="282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1" r:id="rId56"/>
    <p:sldId id="312" r:id="rId57"/>
    <p:sldId id="319" r:id="rId58"/>
    <p:sldId id="314" r:id="rId59"/>
    <p:sldId id="315" r:id="rId60"/>
    <p:sldId id="320" r:id="rId61"/>
    <p:sldId id="324" r:id="rId62"/>
    <p:sldId id="317" r:id="rId63"/>
    <p:sldId id="322" r:id="rId64"/>
    <p:sldId id="323" r:id="rId65"/>
    <p:sldId id="321" r:id="rId66"/>
    <p:sldId id="325" r:id="rId67"/>
    <p:sldId id="326" r:id="rId68"/>
    <p:sldId id="329" r:id="rId69"/>
    <p:sldId id="331" r:id="rId70"/>
    <p:sldId id="330" r:id="rId71"/>
    <p:sldId id="332" r:id="rId72"/>
    <p:sldId id="333" r:id="rId73"/>
    <p:sldId id="335" r:id="rId74"/>
    <p:sldId id="334" r:id="rId75"/>
    <p:sldId id="338" r:id="rId76"/>
    <p:sldId id="337" r:id="rId77"/>
    <p:sldId id="339" r:id="rId78"/>
    <p:sldId id="340" r:id="rId79"/>
    <p:sldId id="341" r:id="rId80"/>
    <p:sldId id="342" r:id="rId81"/>
    <p:sldId id="343" r:id="rId82"/>
    <p:sldId id="344" r:id="rId83"/>
    <p:sldId id="345" r:id="rId84"/>
    <p:sldId id="346" r:id="rId85"/>
    <p:sldId id="347" r:id="rId86"/>
    <p:sldId id="348" r:id="rId87"/>
    <p:sldId id="349" r:id="rId88"/>
    <p:sldId id="350" r:id="rId89"/>
    <p:sldId id="351" r:id="rId90"/>
    <p:sldId id="352" r:id="rId91"/>
    <p:sldId id="354" r:id="rId92"/>
    <p:sldId id="355" r:id="rId93"/>
    <p:sldId id="356" r:id="rId94"/>
    <p:sldId id="353" r:id="rId95"/>
    <p:sldId id="357" r:id="rId96"/>
    <p:sldId id="358" r:id="rId97"/>
    <p:sldId id="359" r:id="rId98"/>
    <p:sldId id="360" r:id="rId99"/>
    <p:sldId id="361" r:id="rId100"/>
    <p:sldId id="328" r:id="rId10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82" autoAdjust="0"/>
    <p:restoredTop sz="94660"/>
  </p:normalViewPr>
  <p:slideViewPr>
    <p:cSldViewPr snapToGrid="0">
      <p:cViewPr varScale="1">
        <p:scale>
          <a:sx n="99" d="100"/>
          <a:sy n="99" d="100"/>
        </p:scale>
        <p:origin x="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85DF9C-E6AC-484E-BBF2-9314B577B671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7573A8-D025-446C-8C67-05AAB470FA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23008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1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37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95973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56C2B-E2B8-4660-2BB5-E40565400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32350BF-F5D6-25F4-4E1B-0DBE1BAECE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EBC668A-D625-0223-3AFC-F0E5562D4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3FB661-5C02-9FF8-EDC9-B2C746C05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9378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12EC-C369-3A98-39B6-C96ACD38A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56AC3D7-E2F5-C7B9-2921-8AF035B13D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90E07-22EC-43CD-5833-BBBB96DB6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A859A28-550C-8BD6-95E5-DF5F069A2C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44159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482D3-EB5C-6900-ABB4-735E43D09A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DA0062-2CDC-63FE-AD7F-CE84DECF1E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770E141-78E5-12B1-8889-BF724993A7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7E55FB-6E04-BD0D-E950-ECF8B24B80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66752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427E13-89F3-6791-4CE0-A61A0A794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539C45-C4EB-1B1A-B976-B76D538E37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15B7B91-D02B-1D14-FDAA-997878E208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F0F655-943B-A548-857A-FE897A61F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0488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FD2CD-1F7D-F701-3391-26F8CB37B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622E2B-C97B-11D3-BD65-EC2BA2C2D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D5794B-FA12-217E-C187-72F82DB98A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BC91E9-1F78-FF82-C178-3F40BA0DB5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07909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49458-508C-0DF4-CE0D-BF98BD57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D243144-F7BA-0A0A-7432-B308D6283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406ACE-76A5-BEA0-A3F7-918993135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71EC22-1251-BA9F-2802-99CC9B3084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83687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127B6-5F24-BAE1-42EB-F26133ABE0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E7D8FD5-B8E3-5FC0-0E28-0EC7BDC429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060675-A8EC-7ADB-C40D-868325B608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A90170-CEBA-515F-4A21-1E16D9D57E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23932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A3E2B-383F-923F-5FA0-6340B3E2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323F706-69D8-4A91-D23D-C05ED85633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00C5BD-FCC6-A3AE-2729-522A4D65AF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6ABEC2-C258-62B3-9156-90EE12453B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21618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CD28DF-2366-9401-005D-B48993505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924004-2A47-6F51-9B0A-FE1C77F811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3B43793-9509-8745-6F23-7B6FA005F4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5CF116-640F-EB6E-27AA-E85B23B3B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82015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39E9E-4D06-3452-231C-58BADD12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8894279-2C02-CD6D-E2F8-1C1F6BB1C7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F2DF13F-DADB-F975-A5EA-BD691F0B82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52C8B5-BB58-E837-8F75-8ED26E6F5D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31719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BB615-EF37-FF67-B6C0-F4A9587BA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001898D-D20D-9B41-5059-A38D19190E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02AD94E-E6EF-6250-EF4E-7BB4C8A9C9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C2ACE2-8530-E3C8-9E2C-DA89AB6E4A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77648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FBDC7D-96AD-270C-B0AF-8A8BC9356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D3D5C12-920D-03CC-A02F-9A260A3221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DED6A68-9F3D-A840-2643-0AFE70BFE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B0EE4F-4F84-0B18-5583-34F5382D9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32278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B2D7DA-42C6-8BAE-EDC6-F74311909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2F47764-A956-EDF5-0289-412E9B3FB2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5BAA081-EFF0-7120-C50E-2667856EBC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47D567D-5EB4-878C-DD5C-1FED77AA53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6812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5A8C80-9816-F664-423C-B8151C34F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9D0CDC9-11F3-251F-33B5-813A979C95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E1D61C-03D4-A8B7-9E71-AFE6294FA7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69F68-A511-F017-B2F8-8462DB1074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39704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7418C-170D-1E57-EE84-09755AB39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2B65344-C14F-F33F-870C-12E8640FF8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A75FA18-A7BA-6CE6-5669-3B03B8DAB0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0BCE3B-E06E-5286-039B-F641FD538F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324213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A2C8-6EB4-DB24-2911-A404F26B5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1CCE4B4-18EC-7033-5B61-5239A33586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74B39CA-389E-6748-6381-512A115B36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7335FD-3BF3-D62B-CDBD-010776A206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048007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8C02D-BD50-D9E2-F930-60E64D5AD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1AC578A-D5C0-F148-B0D0-3C5D7C83A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139870-50FE-7EE2-3260-435477EA0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DAEF07-6218-C5A7-F3B6-5834B4F41E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1977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86563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68FC-54B8-7846-4328-B0B41DE47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4217E8-5612-8006-A622-11BE0AD9CE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2D277E1-7285-CC2F-E6ED-B622424123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64DB57-697C-6037-86DD-91C65F45FD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3458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751642-EF79-082F-5A31-066560F55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09B73B1-5904-45C4-B631-B028E90627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A800D0-0A02-20BF-9904-CCF29AAE77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944550A-19F9-F937-4E35-824A339C5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8058248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CF9455-27E9-3E18-564B-B6827033B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26F93FE-24D7-A2ED-2FFE-76655099AA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1173263-2607-B1C0-5D12-3234338AE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AB7249-BA4D-30AE-1B63-9A52F5C73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59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3855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4BF68-4739-EEB1-E08E-FFB1EA800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F54BE2C-3AE6-B456-8BBA-2AA0B17361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16D960A-BC8E-94EB-5096-24037778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1F25E4-E01E-D6BE-C94A-CE2F8ED8CF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265492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C0997-ECA0-6074-4B9A-7D743A1A5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DF36D2-B542-3E8D-AAFD-BEB7BD50F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D81603F-0891-3AA6-4590-1FD05C0B02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FE77D3-67EA-BDD9-08D0-EA7733C9C0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654962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990A2-83CD-8014-4D67-577B46260A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06D8E-3CCC-1A24-12F4-DEE1458239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DBAAF28-33D9-4460-1512-749043771A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FCA4F6-52A2-872A-4616-23875AD8B6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86033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52CA2B-CB16-0D7A-F637-512C18F0F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B55FFE-B027-DC74-84FE-86BDC622F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923B826-00C4-D033-048B-CB189135D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254AE-E89C-0248-A4E1-1A05457150A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438761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FE1C2-8B49-7B29-8142-ECA3F083A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540C248-CDA3-2FD8-7534-0E8DD686D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A70186-6A0F-FDF4-0E43-B42B042DEA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8A16CB-5ABC-AF52-6244-C1C0E43B7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3001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6132E-121D-2627-EF43-6519730D8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36F396-F33C-F745-C0E2-218A273BF3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F8463C-CAE1-05F1-0E8B-71BD8FC683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74691ED-8D73-F5D0-3117-8E28FC274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995017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E1E30-2E9B-8BEC-5A2D-25D1E7FA4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9A39421-CCFC-A742-1041-E4055BD43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84CDE2-06B4-EC29-E229-7ABC7731C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5F7C5F-CCF8-5E01-DC16-6768C866F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07117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2021D-77BB-FA3A-71FD-EC65710AC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85C431-A7E4-9BA2-F2AB-813110B5A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2377D3-1A72-FE76-0D55-672B0C900A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676E24E-8B21-72D9-0539-0C773B81D9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382372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7726C-6094-47F5-3AEA-CC4EBB7BB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1DA4419-3733-32DC-9159-94B9C88F21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487559-C584-B663-FAD3-BCC04E6877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841F9C-D711-1EA4-4D70-A454313D02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110402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7652B-39DA-7AAA-3299-39270F687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C2E4384-D834-C194-C1EF-D68B6AFF9B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690D17-9F64-6D88-42F2-46D92F3FC8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230DA25-4F42-923E-8DAC-9F2EFE6A78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69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2463120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9A977-3B68-A660-8607-A7BFB390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5D22136-B940-2C09-5506-2C326427C1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0522BD1-31A7-2EDE-FCE2-D252F25CB3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ED25E76-53D6-7B6A-5A7C-C726CA9059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402773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82913-85CB-602E-387A-F81F82079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31C053-CB16-2145-EE6F-AD4C713FD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18B432-2CA7-4521-4EDF-17FE1DDBB9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B674D8-2DA2-BED3-75E0-4EBA26E0F5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445033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A13D0-9DE0-6411-06C0-AAF5D3D03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F35C5BF-CEAE-03DD-6338-E6AFD4CECE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EE052A1-EC43-1016-0AD7-77DADCF7C6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249DF-0765-F028-55F1-6249322EDA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91234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17C49-B32A-C9B8-B912-4915F9156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C8463E0-2C40-C050-2155-7B71196339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C6CC444-51E8-68FE-7A15-DCC1F5E0CE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705FC4-8EE2-5EB6-0DB4-89A94EA35F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407049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9E269-1622-DCEE-7B16-BD4C42545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BCC4EE2-603D-5707-80B1-D7F0114115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60AB654-17BA-EB5A-6975-BAEF5EFD3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1230581-BA72-4601-5CD9-60916D08C4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273029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8754E-B8CE-6138-6F1B-CBA7A2CA5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04E2B-6C9A-6E3D-C39A-4CC3AB658A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7D75E2-52E2-B8F7-06BF-E81EE851BE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6FD54F-3BDB-B724-536F-5E0AA1F5C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118220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BA6E8-A8FD-3B5F-EE42-C232AA319C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754AFC6-F4B2-C9AF-685A-3B83C82DC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F49D3B3-C380-0F4A-69EA-74A225E24A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54EC91-9B68-F8A9-7EB0-6DDE0A50E8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5922236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62C66-A203-A486-A3B8-B2050B44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159CC4-E547-A00B-C1CB-40FEC06DB6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C2267B3-2027-9BA9-9341-1EFDAAF07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7AECA69-058A-5E06-EBA6-67137019D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85275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6E9DA-E596-E287-A139-BE332475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9C20BAF-8DEB-CE47-8867-8C84F22DE5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B3B2AE-2EDB-5279-0D04-4C6A02C65D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72D501-A386-B872-F71A-F694BD17B9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27398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9E7EB-A163-EFBF-9C6F-5E342E5BB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ACCFCC3-1069-0B50-F89E-FADD76533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D0596E5-8C8B-EC9E-47CC-D61D8A57C4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21EBA5-5760-4777-F807-70849F331F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79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059986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73440-D8E5-AB5B-0EF7-201A993851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A70ED95-4B6C-5C6E-9758-2E9454C7D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FCEFDA5-A7E4-6064-3C80-F4DF56C206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66F1D9-DBA3-A972-16C9-D6D7577DF7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441160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52DA68-132B-5784-0641-FDDEC4507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ABB8ED-C1AC-A73A-2269-08E9144C8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72729CC-48F3-7880-E08C-530E029930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0D733A1-A5B1-8428-5C14-F9F1D2ED3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94455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46414C-2552-E121-5B2A-93FF7C8D8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FEBF7E-755A-D3A2-6711-8449F66395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D878495-86C8-EB18-3526-4C346E67FD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2B0773-FD0F-3C5A-1920-7504A2E51F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0264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E466FE-1F45-505F-5591-086FCF4803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C06ACC-FDEC-C608-9469-3BDDA7ADB0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C07B819-6700-3B6D-CD8B-87E80F0CEB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8569D4-A33D-431C-FDD9-34D563B30B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82604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176EDE-509C-C7F3-61D9-E39E467DE6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849C48B-BB47-F13A-5563-6700F9EF04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52DF06D-E179-0EA7-C52D-E3A7A23C6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5957FE-EA0E-ACE0-280A-267BE2BC4E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61714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4B3D9-AA22-AE4B-C059-21CC014B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37DCD70-6E85-1E67-282C-A781F95F43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DE176B-83FA-A63B-CC5C-FEDF03E41C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18D40CD-6EE9-0486-CE76-4E500EAFD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387275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C6BCB-519E-60AF-4303-E0049004C9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5D2BE-5BBC-07FD-5B1D-3E0A9BE218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2DBB68D-D3F9-E6A4-B755-6401592BC0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EE38A1-96F9-BDAD-3D37-69D97A4C62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8237260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63530E-2C6E-EF6D-A922-04A55B177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CA75A6-10C8-1DB4-64D3-5F3DCF6204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B09ADB-16E9-43BB-CF78-795526DDD8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969CE1-F670-BB9B-246D-E3C749D8F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7573A8-D025-446C-8C67-05AAB470FAB2}" type="slidenum">
              <a:rPr lang="ko-KR" altLang="en-US" smtClean="0"/>
              <a:t>87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007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8335FB-E70C-8BDD-AA1C-2FBD70F315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0076E84-4189-4D06-E196-3AE7A7F2F1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F839787-8402-53EE-7919-5B570D48D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F2AE213-57DE-111D-E75A-43C1EBB88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1AEE71B-B5AB-6E38-9D02-1CFD7A676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996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174B1-F018-95E2-42A0-8A0F97F8A3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8FB27F-82AD-28A6-DC23-F8E691FF1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94E9490-1DC7-553A-1D4C-CA51CC82B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59215CF-727B-498C-9FDA-D3D07628E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EAE4F3-9124-45CA-AA64-06E58DF4C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5940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0656E8-F735-DCF4-D1DB-67F5FCF6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F9F3643-EA9D-37D9-FAAF-C23A54F60F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C306E2-9930-544E-552C-7AC7366C4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9AAA61-4DCD-FB2E-6720-57EF71AE9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A6BEDC-2E34-ECEC-12D1-DF3C585C7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478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56B55D-5ECB-3B75-5749-09BD3DCF2F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13EF1D-7985-EE7A-7A98-FF3E004CB8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5BFDA55-FA16-F79C-E0AA-4FE3CB8277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23670FA-910D-2F51-08B2-FE87915C8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5F2FEF-721D-70A8-1B6A-B561ECAD1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BFC909B-DDFB-D1F5-363F-52666263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36326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45229-CB7E-E309-C288-407808E89B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3045307-7098-ACD4-602E-C680904E2B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942ECF-0006-DD5C-46FF-F94885BA32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4CE124-C428-644E-FA9E-B1B3C7C974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196E6F7-488F-35B5-9E27-75BD4A03A3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74B8660D-92FE-92A5-E5CD-86382D288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A397651-77EA-25E0-438A-5D03E9833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49333AF-D3BC-1A71-17FA-D1A2CECFB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6902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BE94CF-B399-1474-46D3-F28AD9258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350A55-1BD1-C007-C38D-7E9A16EF4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EE58F1C-FCA8-7E20-A170-A78661E13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2B4CFBB-1604-7B91-6973-838BEA308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690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6F7FDCD-2A7B-7975-E9B5-559269C97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DDFA35B5-CC74-37CA-7C53-81DC9E61D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CB4E8E-33DF-64DD-2D60-2AE937FEC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06322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9B8EC4-A783-D461-8B69-6EA35D482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330B80-2D44-62B1-A423-91D115DEEE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BBA2C8-D6C9-4E3C-E6E9-1E4ACE27F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FFA8A61-C4CE-CC26-13BF-5178F7D5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B69362F-F117-B76B-E8BE-23596D7E9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E209D1-9D10-B93A-48B0-D124395A3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2942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54423D-1DA3-C807-3F76-3CAC5D9A2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2136469-944D-6B7D-97DD-BAFFD41D6F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A34DE9-D145-C78E-99B8-6CE9435AB8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B2DE10-836F-E39D-507D-7B2655545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F10DC7-4D70-51C4-D209-8B83007AC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6391576-B6E4-8887-1115-959EDC41D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81959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74D394-7430-BD60-B3B4-647F0E6A0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649B15-8700-F6F8-1911-FDFBEE83D0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78F245-24E1-9427-465B-63634019D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131D59-8AF0-B6AC-7CC6-9C090CFAB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2E2FB4-E3AF-25EB-A817-EC9E8C30D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65943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4DE357F-9779-6264-2598-D2C1964DEC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8D7D510-E2D8-8A0B-F64A-A09E74C49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5386EA-84C9-A82C-A0EE-78F55EE4A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88AC0B-E9C2-89A9-4449-D9B15D1F7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03C66B-9E3C-A635-DFF5-518DC98E7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637071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DA8D735-7BDA-E914-14EE-6A98945C1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F42E54-E089-FF9B-6CC9-16A01D7F53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6784E6D-83CE-0E06-E6BB-456C455489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3B412C-0C1D-4DF1-8A8A-F8F892BEDF2B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68270D8-0C49-6AA9-BE78-9C8AA4BCAF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84062B-3F89-0A14-625B-0E6D96F9AE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28090C-F848-46BE-88A7-71E3F02856C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247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zeonyani/presentation/tree/main/kmp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memo.tistory.com/181" TargetMode="External"/><Relationship Id="rId2" Type="http://schemas.openxmlformats.org/officeDocument/2006/relationships/hyperlink" Target="https://blog.encrypted.gg/104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velog.io/@emplam27/%EC%95%8C%EA%B3%A0%EB%A6%AC%EC%A6%98-%EA%B7%B8%EB%A6%BC%EC%9C%BC%EB%A1%9C-%EC%95%8C%EC%95%84%EB%B3%B4%EB%8A%94-%EB%AC%B8%EC%9E%90%EC%97%B4-%EA%B2%80%EC%83%89-%EC%95%8C%EA%B3%A0%EB%A6%AC%EC%A6%98-%EB%B3%B4%EC%9D%B4%EC%96%B4-%EB%AC%B4%EC%96%B4-%EC%95%8C%EA%B3%A0%EB%A6%AC%EC%A6%98-%EB%9D%BC%EB%B9%88-%EC%B9%B4%ED%94%84-%EC%95%8C%EA%B3%A0%EB%A6%AC%EC%A6%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410A6E-292E-2BC9-841B-419582B820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KMP </a:t>
            </a:r>
            <a:r>
              <a:rPr lang="ko-KR" altLang="en-US" dirty="0"/>
              <a:t>알고리즘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1E9A2AB-1860-26DC-3E9A-DF31C05462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2026.06.11.</a:t>
            </a:r>
            <a:r>
              <a:rPr lang="ko-KR" altLang="en-US" dirty="0"/>
              <a:t>목 </a:t>
            </a:r>
            <a:r>
              <a:rPr lang="en-US" altLang="ko-KR" dirty="0"/>
              <a:t>8F 10:00 ~</a:t>
            </a:r>
          </a:p>
          <a:p>
            <a:r>
              <a:rPr lang="ko-KR" altLang="en-US" dirty="0" err="1"/>
              <a:t>김정향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0737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91955-7F5F-75D2-FA23-745A6F731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0E5394-0B90-1943-5A2C-12E284D091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  <a:endParaRPr lang="en-US" altLang="ko-KR" dirty="0"/>
          </a:p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  <a:endParaRPr lang="en-US" altLang="ko-KR" dirty="0"/>
          </a:p>
          <a:p>
            <a:r>
              <a:rPr lang="en-US" altLang="ko-KR" dirty="0"/>
              <a:t>0x02 KMP</a:t>
            </a:r>
          </a:p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  <a:endParaRPr lang="en-US" altLang="ko-KR" dirty="0"/>
          </a:p>
          <a:p>
            <a:r>
              <a:rPr lang="en-US" altLang="ko-KR" dirty="0"/>
              <a:t>0x04 </a:t>
            </a:r>
            <a:r>
              <a:rPr lang="ko-KR" altLang="en-US" dirty="0"/>
              <a:t>추가 사항</a:t>
            </a:r>
            <a:endParaRPr lang="en-US" altLang="ko-KR" dirty="0"/>
          </a:p>
          <a:p>
            <a:r>
              <a:rPr lang="en-US" altLang="ko-KR" dirty="0"/>
              <a:t>0x05 </a:t>
            </a:r>
            <a:r>
              <a:rPr lang="ko-KR" altLang="en-US" dirty="0"/>
              <a:t>참고 자료</a:t>
            </a:r>
          </a:p>
        </p:txBody>
      </p:sp>
    </p:spTree>
    <p:extLst>
      <p:ext uri="{BB962C8B-B14F-4D97-AF65-F5344CB8AC3E}">
        <p14:creationId xmlns:p14="http://schemas.microsoft.com/office/powerpoint/2010/main" val="28242774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65D228-1616-F7EF-6F23-6891587E5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35FBC6-905A-6D93-65FD-2D10B5D17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왜</a:t>
            </a:r>
            <a:r>
              <a:rPr lang="en-US" altLang="ko-KR" dirty="0"/>
              <a:t>? </a:t>
            </a:r>
            <a:r>
              <a:rPr lang="ko-KR" altLang="en-US" dirty="0"/>
              <a:t>스팸차단 문구 알고리즘에서 </a:t>
            </a:r>
            <a:r>
              <a:rPr lang="en-US" altLang="ko-KR" dirty="0"/>
              <a:t>Aho-</a:t>
            </a:r>
            <a:r>
              <a:rPr lang="en-US" altLang="ko-KR" dirty="0" err="1"/>
              <a:t>Corasick</a:t>
            </a:r>
            <a:r>
              <a:rPr lang="en-US" altLang="ko-KR" dirty="0"/>
              <a:t> </a:t>
            </a:r>
            <a:r>
              <a:rPr lang="ko-KR" altLang="en-US" dirty="0"/>
              <a:t>기법을 사용해 효율적으로 사용</a:t>
            </a:r>
            <a:endParaRPr lang="en-US" altLang="ko-KR" dirty="0"/>
          </a:p>
          <a:p>
            <a:r>
              <a:rPr lang="en-US" altLang="ko-KR" dirty="0"/>
              <a:t>Aho-</a:t>
            </a:r>
            <a:r>
              <a:rPr lang="en-US" altLang="ko-KR" dirty="0" err="1"/>
              <a:t>Corasick</a:t>
            </a:r>
            <a:r>
              <a:rPr lang="en-US" altLang="ko-KR" dirty="0"/>
              <a:t> (KMP</a:t>
            </a:r>
            <a:r>
              <a:rPr lang="ko-KR" altLang="en-US" dirty="0"/>
              <a:t> 알고리즘 </a:t>
            </a:r>
            <a:r>
              <a:rPr lang="en-US" altLang="ko-KR" dirty="0"/>
              <a:t>+ </a:t>
            </a:r>
            <a:r>
              <a:rPr lang="ko-KR" altLang="en-US" dirty="0"/>
              <a:t>트라이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용어 정리</a:t>
            </a:r>
            <a:endParaRPr lang="en-US" altLang="ko-KR" dirty="0"/>
          </a:p>
          <a:p>
            <a:pPr lvl="1"/>
            <a:r>
              <a:rPr lang="en-US" altLang="ko-KR" dirty="0"/>
              <a:t>S[</a:t>
            </a:r>
            <a:r>
              <a:rPr lang="en-US" altLang="ko-KR" dirty="0" err="1"/>
              <a:t>a:b</a:t>
            </a:r>
            <a:r>
              <a:rPr lang="en-US" altLang="ko-KR" dirty="0"/>
              <a:t>] a</a:t>
            </a:r>
            <a:r>
              <a:rPr lang="ko-KR" altLang="en-US" dirty="0"/>
              <a:t>부터 </a:t>
            </a:r>
            <a:r>
              <a:rPr lang="en-US" altLang="ko-KR" dirty="0">
                <a:highlight>
                  <a:srgbClr val="FFFF00"/>
                </a:highlight>
              </a:rPr>
              <a:t>b-1</a:t>
            </a:r>
            <a:r>
              <a:rPr lang="en-US" altLang="ko-KR" dirty="0"/>
              <a:t> </a:t>
            </a:r>
            <a:r>
              <a:rPr lang="ko-KR" altLang="en-US" dirty="0"/>
              <a:t>까지</a:t>
            </a:r>
            <a:endParaRPr lang="en-US" altLang="ko-KR" dirty="0"/>
          </a:p>
          <a:p>
            <a:pPr lvl="1"/>
            <a:r>
              <a:rPr lang="ko-KR" altLang="en-US" dirty="0"/>
              <a:t>접두사 </a:t>
            </a:r>
            <a:r>
              <a:rPr lang="en-US" altLang="ko-KR" dirty="0"/>
              <a:t>= S[0:x]</a:t>
            </a:r>
          </a:p>
          <a:p>
            <a:pPr lvl="1"/>
            <a:r>
              <a:rPr lang="ko-KR" altLang="en-US" dirty="0"/>
              <a:t>접미사 </a:t>
            </a:r>
            <a:r>
              <a:rPr lang="en-US" altLang="ko-KR" dirty="0"/>
              <a:t>= S[x:|S|]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54086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6789F1-E2AB-5A1C-6587-5C21DB879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6354A3-F9BA-D20D-730D-C001020A1E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501A7-AFC9-5970-B117-3932966D1178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O </a:t>
            </a:r>
            <a:r>
              <a:rPr lang="en-US" altLang="ko-KR" b="1" dirty="0">
                <a:solidFill>
                  <a:srgbClr val="FF0000"/>
                </a:solidFill>
              </a:rPr>
              <a:t>N T I </a:t>
            </a:r>
            <a:r>
              <a:rPr lang="en-US" altLang="ko-KR" dirty="0"/>
              <a:t>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EC6B92-D1D9-EDF9-521C-F828FCAB9E7A}"/>
              </a:ext>
            </a:extLst>
          </p:cNvPr>
          <p:cNvSpPr txBox="1"/>
          <p:nvPr/>
        </p:nvSpPr>
        <p:spPr>
          <a:xfrm>
            <a:off x="2026763" y="2748061"/>
            <a:ext cx="71045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N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98423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F8590-483A-6667-3BC5-34480450A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F9C21F-02F3-A9FC-61EE-D450E4923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899CCA2-FC09-C4B2-FB9B-59687270D9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EF0322-41E0-B55C-2C4A-130559BF1CF9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dirty="0"/>
              <a:t> R O N D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0778D1-7DDE-503B-8CE4-A459C714F10C}"/>
              </a:ext>
            </a:extLst>
          </p:cNvPr>
          <p:cNvSpPr txBox="1"/>
          <p:nvPr/>
        </p:nvSpPr>
        <p:spPr>
          <a:xfrm>
            <a:off x="2026763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14441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8816C-71C6-3071-B69D-22CC409262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77E2E6-ECD2-11F7-AF57-16342B135D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774DA47-D3BD-F9AD-5E3C-29DDB3DD4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6148F7-486C-BA83-2EDE-E4416EC580A9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</a:t>
            </a:r>
            <a:r>
              <a:rPr lang="en-US" altLang="ko-KR" b="1" dirty="0">
                <a:solidFill>
                  <a:srgbClr val="FF0000"/>
                </a:solidFill>
              </a:rPr>
              <a:t>R</a:t>
            </a:r>
            <a:r>
              <a:rPr lang="en-US" altLang="ko-KR" dirty="0"/>
              <a:t> O N D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CE2FAD-AA72-5F7B-1289-82AC68CF604B}"/>
              </a:ext>
            </a:extLst>
          </p:cNvPr>
          <p:cNvSpPr txBox="1"/>
          <p:nvPr/>
        </p:nvSpPr>
        <p:spPr>
          <a:xfrm>
            <a:off x="2300139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646948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703A6-324F-CF6B-11F5-0ADC34882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9E2F37-C2EB-8C96-2725-48906E422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E8064F9-F8A2-043B-0A41-8939E80E7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48ACA1-9243-9A40-43C7-CB9C4AB7EEAB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dirty="0"/>
              <a:t> N D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8E2EA88-77A6-B96B-4234-206EE9D3F5EE}"/>
              </a:ext>
            </a:extLst>
          </p:cNvPr>
          <p:cNvSpPr txBox="1"/>
          <p:nvPr/>
        </p:nvSpPr>
        <p:spPr>
          <a:xfrm>
            <a:off x="2498103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15290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486D3-472C-7595-B83A-7EFA50D13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24599-1898-3B7A-3F34-4D174468B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6EF784-014B-F834-019D-86E6CADA77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60B455-0353-0B92-3549-CF350FD2B390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</a:t>
            </a:r>
            <a:r>
              <a:rPr lang="en-US" altLang="ko-KR" b="1" dirty="0">
                <a:solidFill>
                  <a:srgbClr val="00B050"/>
                </a:solidFill>
              </a:rPr>
              <a:t>N</a:t>
            </a:r>
            <a:r>
              <a:rPr lang="en-US" altLang="ko-KR" dirty="0"/>
              <a:t> D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29E220-E45E-5F08-C4F5-8CA3A230669D}"/>
              </a:ext>
            </a:extLst>
          </p:cNvPr>
          <p:cNvSpPr txBox="1"/>
          <p:nvPr/>
        </p:nvSpPr>
        <p:spPr>
          <a:xfrm>
            <a:off x="2762052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609456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B3F5A-8134-AA96-5B40-8B352D366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4BDC6A-4756-D3F0-2E11-0FECF31C0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D9C408-BEC4-108F-C7E1-2B1AAA61B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DE63D5-B2A0-9746-9C1A-91843BDB012E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</a:t>
            </a:r>
            <a:r>
              <a:rPr lang="en-US" altLang="ko-KR" b="1" dirty="0">
                <a:solidFill>
                  <a:srgbClr val="00B050"/>
                </a:solidFill>
              </a:rPr>
              <a:t>N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7FEEF0-AD6A-F95C-5206-F921E2B854FD}"/>
              </a:ext>
            </a:extLst>
          </p:cNvPr>
          <p:cNvSpPr txBox="1"/>
          <p:nvPr/>
        </p:nvSpPr>
        <p:spPr>
          <a:xfrm>
            <a:off x="2762052" y="2748061"/>
            <a:ext cx="72968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T</a:t>
            </a:r>
            <a:r>
              <a:rPr lang="en-US" altLang="ko-KR" dirty="0"/>
              <a:t>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03354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A9053-323A-0F51-1C98-8C733B52F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8E9989-A2B1-36CD-C48A-1B969AC23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E5FB06-3728-D069-9608-F4128D0BBC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CDDB4-5D95-8F6C-76D3-2CA69AAE07B9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O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D73921-2EF1-F888-DDC8-EDAD70A452B4}"/>
              </a:ext>
            </a:extLst>
          </p:cNvPr>
          <p:cNvSpPr txBox="1"/>
          <p:nvPr/>
        </p:nvSpPr>
        <p:spPr>
          <a:xfrm>
            <a:off x="3007151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6959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F9082-B7F1-EC3D-5DB2-DE82FEEBFD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3DDF10-5B54-D578-735F-C22A3B952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A636AC-8BDC-6AF7-6593-DD541ADFA8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F09C95-1DB8-30CA-E9C0-CE7DE6C4E7D1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</a:t>
            </a:r>
            <a:r>
              <a:rPr lang="en-US" altLang="ko-KR" b="1" dirty="0">
                <a:solidFill>
                  <a:srgbClr val="FF0000"/>
                </a:solidFill>
              </a:rPr>
              <a:t>O</a:t>
            </a:r>
            <a:r>
              <a:rPr lang="en-US" altLang="ko-KR" dirty="0"/>
              <a:t> N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B38A0-FFF5-17AD-425A-C90B72D30758}"/>
              </a:ext>
            </a:extLst>
          </p:cNvPr>
          <p:cNvSpPr txBox="1"/>
          <p:nvPr/>
        </p:nvSpPr>
        <p:spPr>
          <a:xfrm>
            <a:off x="3280530" y="2748061"/>
            <a:ext cx="718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N</a:t>
            </a:r>
            <a:r>
              <a:rPr lang="en-US" altLang="ko-KR" dirty="0"/>
              <a:t> 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083673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DC626-DB58-BB20-5C22-D3F0270199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1CCB98-6679-B202-E467-1137B4708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9D7121-1059-8C74-51C2-DEC9D59D69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B64C2F-2679-4E3B-5D78-02FEC2F1BBF2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O </a:t>
            </a:r>
            <a:r>
              <a:rPr lang="en-US" altLang="ko-KR" b="1" dirty="0">
                <a:solidFill>
                  <a:srgbClr val="00B050"/>
                </a:solidFill>
              </a:rPr>
              <a:t>N</a:t>
            </a:r>
            <a:r>
              <a:rPr lang="en-US" altLang="ko-KR" dirty="0"/>
              <a:t> T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00FA47-FA9F-FF12-1020-F1EF6FB48259}"/>
              </a:ext>
            </a:extLst>
          </p:cNvPr>
          <p:cNvSpPr txBox="1"/>
          <p:nvPr/>
        </p:nvSpPr>
        <p:spPr>
          <a:xfrm>
            <a:off x="3497343" y="2748061"/>
            <a:ext cx="7393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 </a:t>
            </a:r>
            <a:r>
              <a:rPr lang="en-US" altLang="ko-KR" dirty="0"/>
              <a:t>T 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1698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957DEE-80EE-9CB9-9A1C-AD792866B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A57BCC-FE95-53E9-2C56-F2A0B4B1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E20C46-8482-35C4-083C-5189A01BF3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6EB7E8-13F6-7C32-98F3-2DEC5FBCB0D4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O </a:t>
            </a:r>
            <a:r>
              <a:rPr lang="en-US" altLang="ko-KR" b="1" dirty="0">
                <a:solidFill>
                  <a:srgbClr val="00B050"/>
                </a:solidFill>
              </a:rPr>
              <a:t>N T</a:t>
            </a:r>
            <a:r>
              <a:rPr lang="en-US" altLang="ko-KR" dirty="0"/>
              <a:t> I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730554-51A3-FDF8-DB45-0BF5AFB6DF2C}"/>
              </a:ext>
            </a:extLst>
          </p:cNvPr>
          <p:cNvSpPr txBox="1"/>
          <p:nvPr/>
        </p:nvSpPr>
        <p:spPr>
          <a:xfrm>
            <a:off x="3497343" y="2748061"/>
            <a:ext cx="7393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 T </a:t>
            </a:r>
            <a:r>
              <a:rPr lang="en-US" altLang="ko-KR" dirty="0"/>
              <a:t>I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315155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B64E-A963-2C3E-C727-EEA0116797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1F91E9-6344-4488-20DF-D68A894B3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170CEE-FFAE-0E20-50D4-CE2DF678B2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2A227C-9C0C-7804-659D-0E34EBDD3106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O </a:t>
            </a:r>
            <a:r>
              <a:rPr lang="en-US" altLang="ko-KR" b="1" dirty="0">
                <a:solidFill>
                  <a:srgbClr val="00B050"/>
                </a:solidFill>
              </a:rPr>
              <a:t>N T I</a:t>
            </a:r>
            <a:r>
              <a:rPr lang="en-US" altLang="ko-KR" dirty="0"/>
              <a:t>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3B231A-F81E-31EB-D922-8D4E20EFDB86}"/>
              </a:ext>
            </a:extLst>
          </p:cNvPr>
          <p:cNvSpPr txBox="1"/>
          <p:nvPr/>
        </p:nvSpPr>
        <p:spPr>
          <a:xfrm>
            <a:off x="3497343" y="2748061"/>
            <a:ext cx="7393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 T I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60246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0A6E1-F7A3-9FBF-1BC7-2250BBF7C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733914-64A1-D64B-7B0E-58E1A841D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0x00 </a:t>
            </a:r>
            <a:r>
              <a:rPr lang="ko-KR" altLang="en-US" dirty="0"/>
              <a:t>알고리즘 설명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9BBA0E-739B-58E3-11ED-D1B6BB33E3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패턴 매칭 문제</a:t>
            </a:r>
            <a:endParaRPr lang="en-US" altLang="ko-KR" dirty="0"/>
          </a:p>
          <a:p>
            <a:pPr lvl="1"/>
            <a:r>
              <a:rPr lang="en-US" altLang="ko-KR" dirty="0"/>
              <a:t>A</a:t>
            </a:r>
          </a:p>
          <a:p>
            <a:pPr lvl="1"/>
            <a:r>
              <a:rPr lang="en-US" altLang="ko-KR" dirty="0"/>
              <a:t>B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829E2F-D8BB-475D-18D5-7BA704387B65}"/>
              </a:ext>
            </a:extLst>
          </p:cNvPr>
          <p:cNvSpPr txBox="1"/>
          <p:nvPr/>
        </p:nvSpPr>
        <p:spPr>
          <a:xfrm>
            <a:off x="2026763" y="2300140"/>
            <a:ext cx="265970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O R O N D O </a:t>
            </a:r>
            <a:r>
              <a:rPr lang="en-US" altLang="ko-KR" b="1" dirty="0">
                <a:solidFill>
                  <a:srgbClr val="00B050"/>
                </a:solidFill>
              </a:rPr>
              <a:t>N T I</a:t>
            </a:r>
            <a:r>
              <a:rPr lang="en-US" altLang="ko-KR" dirty="0"/>
              <a:t> S </a:t>
            </a:r>
            <a:r>
              <a:rPr lang="en-US" altLang="ko-KR" dirty="0" err="1"/>
              <a:t>S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DB6443-B648-4A1C-A5AA-0E8F6DDE4954}"/>
              </a:ext>
            </a:extLst>
          </p:cNvPr>
          <p:cNvSpPr txBox="1"/>
          <p:nvPr/>
        </p:nvSpPr>
        <p:spPr>
          <a:xfrm>
            <a:off x="3497343" y="2748061"/>
            <a:ext cx="73930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N T I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0482C91-5FF0-BBBE-E7E4-C37E2D1DDD73}"/>
              </a:ext>
            </a:extLst>
          </p:cNvPr>
          <p:cNvSpPr txBox="1">
            <a:spLocks/>
          </p:cNvSpPr>
          <p:nvPr/>
        </p:nvSpPr>
        <p:spPr>
          <a:xfrm>
            <a:off x="6096000" y="4317206"/>
            <a:ext cx="5362575" cy="22815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>
                <a:solidFill>
                  <a:srgbClr val="FF0000"/>
                </a:solidFill>
              </a:rPr>
              <a:t>최악의 경우</a:t>
            </a:r>
            <a:endParaRPr lang="en-US" altLang="ko-KR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n-US" altLang="ko-KR" dirty="0"/>
              <a:t>O(|A| x |B|) </a:t>
            </a:r>
            <a:r>
              <a:rPr lang="ko-KR" altLang="en-US" dirty="0"/>
              <a:t>에 동작하게 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42762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E60336-41A2-8615-39CF-1FA5E51A0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A32CFA-F57B-6BE8-6B3A-78E4DA44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5D98BA6-3C47-B21F-F665-868DC91757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KMP: </a:t>
            </a:r>
            <a:r>
              <a:rPr lang="ko-KR" altLang="en-US" dirty="0"/>
              <a:t>패턴 매칭 문제를 </a:t>
            </a:r>
            <a:r>
              <a:rPr lang="en-US" altLang="ko-KR" dirty="0"/>
              <a:t>O(|A| + |B|)</a:t>
            </a:r>
            <a:r>
              <a:rPr lang="ko-KR" altLang="en-US" dirty="0"/>
              <a:t>에 해결</a:t>
            </a:r>
            <a:endParaRPr lang="en-US" altLang="ko-KR" dirty="0"/>
          </a:p>
          <a:p>
            <a:r>
              <a:rPr lang="ko-KR" altLang="en-US" dirty="0"/>
              <a:t>⚠️굉장히 헷갈림⚠️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실패 함수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F(x) : </a:t>
            </a:r>
            <a:r>
              <a:rPr lang="ko-KR" altLang="en-US" dirty="0"/>
              <a:t>문자열 </a:t>
            </a:r>
            <a:r>
              <a:rPr lang="en-US" altLang="ko-KR" dirty="0"/>
              <a:t>S[0:x+1] </a:t>
            </a:r>
            <a:r>
              <a:rPr lang="ko-KR" altLang="en-US" dirty="0"/>
              <a:t>에서 접두사와 접미사가 일치하는 최대 길이</a:t>
            </a:r>
            <a:endParaRPr lang="en-US" altLang="ko-KR" dirty="0"/>
          </a:p>
          <a:p>
            <a:pPr lvl="2"/>
            <a:r>
              <a:rPr lang="en-US" altLang="ko-KR" dirty="0"/>
              <a:t>S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F(2) </a:t>
            </a:r>
            <a:r>
              <a:rPr lang="ko-KR" altLang="en-US" dirty="0"/>
              <a:t>란</a:t>
            </a:r>
            <a:r>
              <a:rPr lang="en-US" altLang="ko-KR" dirty="0"/>
              <a:t>? S[0:</a:t>
            </a:r>
            <a:r>
              <a:rPr lang="en-US" altLang="ko-KR" b="1" dirty="0">
                <a:solidFill>
                  <a:srgbClr val="0070C0"/>
                </a:solidFill>
              </a:rPr>
              <a:t>3</a:t>
            </a:r>
            <a:r>
              <a:rPr lang="en-US" altLang="ko-KR" dirty="0"/>
              <a:t>]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0070C0"/>
                </a:solidFill>
              </a:rPr>
              <a:t>+1</a:t>
            </a:r>
            <a:r>
              <a:rPr lang="en-US" altLang="ko-KR" dirty="0"/>
              <a:t> </a:t>
            </a:r>
            <a:r>
              <a:rPr lang="ko-KR" altLang="en-US" dirty="0"/>
              <a:t>글자 내에서 자기 자신을 제외하고 접두사와 접미사가 일치하는 최대 길이</a:t>
            </a:r>
            <a:endParaRPr lang="en-US" altLang="ko-KR" dirty="0"/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ABA </a:t>
            </a:r>
            <a:r>
              <a:rPr lang="ko-KR" altLang="en-US" dirty="0"/>
              <a:t>글자 내에서 </a:t>
            </a:r>
            <a:r>
              <a:rPr lang="ko-KR" altLang="en-US" dirty="0" err="1"/>
              <a:t>접두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접미</a:t>
            </a:r>
            <a:r>
              <a:rPr lang="ko-KR" altLang="en-US" dirty="0"/>
              <a:t> 인 최대 길이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84BD02-1FA6-53C8-985C-95DA6324A1CA}"/>
              </a:ext>
            </a:extLst>
          </p:cNvPr>
          <p:cNvSpPr txBox="1"/>
          <p:nvPr/>
        </p:nvSpPr>
        <p:spPr>
          <a:xfrm>
            <a:off x="2394408" y="420435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6618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2A46E-11AA-0B7C-30D8-38C70D0FA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D1F047-DD46-E206-9068-553C25484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A510E3-B2CB-2EF6-7B89-59E63E73A5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KMP: </a:t>
            </a:r>
            <a:r>
              <a:rPr lang="ko-KR" altLang="en-US" dirty="0"/>
              <a:t>패턴 매칭 문제를 </a:t>
            </a:r>
            <a:r>
              <a:rPr lang="en-US" altLang="ko-KR" dirty="0"/>
              <a:t>O(|A| + |B|)</a:t>
            </a:r>
            <a:r>
              <a:rPr lang="ko-KR" altLang="en-US" dirty="0"/>
              <a:t>에 해결</a:t>
            </a:r>
            <a:endParaRPr lang="en-US" altLang="ko-KR" dirty="0"/>
          </a:p>
          <a:p>
            <a:r>
              <a:rPr lang="ko-KR" altLang="en-US" dirty="0"/>
              <a:t>⚠️굉장히 헷갈림⚠️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실패 함수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F(x) : </a:t>
            </a:r>
            <a:r>
              <a:rPr lang="ko-KR" altLang="en-US" dirty="0"/>
              <a:t>문자열 </a:t>
            </a:r>
            <a:r>
              <a:rPr lang="en-US" altLang="ko-KR" dirty="0"/>
              <a:t>S[0:x+1] </a:t>
            </a:r>
            <a:r>
              <a:rPr lang="ko-KR" altLang="en-US" dirty="0"/>
              <a:t>에서 접두사와 접미사가 일치하는 최대 길이</a:t>
            </a:r>
            <a:endParaRPr lang="en-US" altLang="ko-KR" dirty="0"/>
          </a:p>
          <a:p>
            <a:pPr lvl="2"/>
            <a:r>
              <a:rPr lang="en-US" altLang="ko-KR" dirty="0"/>
              <a:t>S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F(2) </a:t>
            </a:r>
            <a:r>
              <a:rPr lang="ko-KR" altLang="en-US" dirty="0"/>
              <a:t>란</a:t>
            </a:r>
            <a:r>
              <a:rPr lang="en-US" altLang="ko-KR" dirty="0"/>
              <a:t>? S[0:</a:t>
            </a:r>
            <a:r>
              <a:rPr lang="en-US" altLang="ko-KR" b="1" dirty="0">
                <a:solidFill>
                  <a:srgbClr val="0070C0"/>
                </a:solidFill>
              </a:rPr>
              <a:t>3</a:t>
            </a:r>
            <a:r>
              <a:rPr lang="en-US" altLang="ko-KR" dirty="0"/>
              <a:t>]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0070C0"/>
                </a:solidFill>
              </a:rPr>
              <a:t>+1</a:t>
            </a:r>
            <a:r>
              <a:rPr lang="en-US" altLang="ko-KR" dirty="0"/>
              <a:t> </a:t>
            </a:r>
            <a:r>
              <a:rPr lang="ko-KR" altLang="en-US" dirty="0"/>
              <a:t>글자 내에서 자기 자신을 제외하고 접두사와 접미사가 일치하는 최대 길이</a:t>
            </a:r>
            <a:endParaRPr lang="en-US" altLang="ko-KR" dirty="0"/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ABA </a:t>
            </a:r>
            <a:r>
              <a:rPr lang="ko-KR" altLang="en-US" dirty="0"/>
              <a:t>글자 내에서 </a:t>
            </a:r>
            <a:r>
              <a:rPr lang="ko-KR" altLang="en-US" dirty="0" err="1"/>
              <a:t>접두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접미</a:t>
            </a:r>
            <a:r>
              <a:rPr lang="ko-KR" altLang="en-US" dirty="0"/>
              <a:t> 인 최대 길이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7DD379-CC0F-C71C-3D16-7715F262D231}"/>
              </a:ext>
            </a:extLst>
          </p:cNvPr>
          <p:cNvSpPr txBox="1"/>
          <p:nvPr/>
        </p:nvSpPr>
        <p:spPr>
          <a:xfrm>
            <a:off x="2394408" y="420435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D1DC838-9BD9-9C90-0383-6E0F73437203}"/>
              </a:ext>
            </a:extLst>
          </p:cNvPr>
          <p:cNvSpPr txBox="1"/>
          <p:nvPr/>
        </p:nvSpPr>
        <p:spPr>
          <a:xfrm>
            <a:off x="7400040" y="5453554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 B </a:t>
            </a:r>
            <a:r>
              <a:rPr lang="en-US" altLang="ko-KR" b="1" dirty="0">
                <a:solidFill>
                  <a:srgbClr val="00B050"/>
                </a:solidFill>
              </a:rPr>
              <a:t>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69A098F-289A-AD33-A859-112B96B47429}"/>
              </a:ext>
            </a:extLst>
          </p:cNvPr>
          <p:cNvSpPr txBox="1"/>
          <p:nvPr/>
        </p:nvSpPr>
        <p:spPr>
          <a:xfrm>
            <a:off x="7885183" y="5942568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</a:t>
            </a:r>
            <a:r>
              <a:rPr lang="en-US" altLang="ko-KR" b="1" dirty="0"/>
              <a:t> B 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3585368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E2D43-4C66-933F-7B7A-6AB672BA9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AC3F02-6C4D-38FC-274C-3D3857C21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95E581-C71C-0095-F6C0-988DFB69B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KMP: </a:t>
            </a:r>
            <a:r>
              <a:rPr lang="ko-KR" altLang="en-US" dirty="0"/>
              <a:t>패턴 매칭 문제를 </a:t>
            </a:r>
            <a:r>
              <a:rPr lang="en-US" altLang="ko-KR" dirty="0"/>
              <a:t>O(|A| + |B|)</a:t>
            </a:r>
            <a:r>
              <a:rPr lang="ko-KR" altLang="en-US" dirty="0"/>
              <a:t>에 해결</a:t>
            </a:r>
            <a:endParaRPr lang="en-US" altLang="ko-KR" dirty="0"/>
          </a:p>
          <a:p>
            <a:r>
              <a:rPr lang="ko-KR" altLang="en-US" dirty="0"/>
              <a:t>⚠️굉장히 헷갈림⚠️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실패 함수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F(x) : </a:t>
            </a:r>
            <a:r>
              <a:rPr lang="ko-KR" altLang="en-US" dirty="0"/>
              <a:t>문자열 </a:t>
            </a:r>
            <a:r>
              <a:rPr lang="en-US" altLang="ko-KR" dirty="0"/>
              <a:t>S[0:x+1] </a:t>
            </a:r>
            <a:r>
              <a:rPr lang="ko-KR" altLang="en-US" dirty="0"/>
              <a:t>에서 접두사와 접미사가 일치하는 최대 길이</a:t>
            </a:r>
            <a:endParaRPr lang="en-US" altLang="ko-KR" dirty="0"/>
          </a:p>
          <a:p>
            <a:pPr lvl="2"/>
            <a:r>
              <a:rPr lang="en-US" altLang="ko-KR" dirty="0"/>
              <a:t>S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F(2) </a:t>
            </a:r>
            <a:r>
              <a:rPr lang="ko-KR" altLang="en-US" dirty="0"/>
              <a:t>란</a:t>
            </a:r>
            <a:r>
              <a:rPr lang="en-US" altLang="ko-KR" dirty="0"/>
              <a:t>? S[0:</a:t>
            </a:r>
            <a:r>
              <a:rPr lang="en-US" altLang="ko-KR" b="1" dirty="0">
                <a:solidFill>
                  <a:srgbClr val="0070C0"/>
                </a:solidFill>
              </a:rPr>
              <a:t>3</a:t>
            </a:r>
            <a:r>
              <a:rPr lang="en-US" altLang="ko-KR" dirty="0"/>
              <a:t>]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0070C0"/>
                </a:solidFill>
              </a:rPr>
              <a:t>+1</a:t>
            </a:r>
            <a:r>
              <a:rPr lang="en-US" altLang="ko-KR" dirty="0"/>
              <a:t> </a:t>
            </a:r>
            <a:r>
              <a:rPr lang="ko-KR" altLang="en-US" dirty="0"/>
              <a:t>글자 내에서 자기 자신을 제외하고 접두사와 접미사가 일치하는 최대 길이</a:t>
            </a:r>
            <a:endParaRPr lang="en-US" altLang="ko-KR" dirty="0"/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ABA </a:t>
            </a:r>
            <a:r>
              <a:rPr lang="ko-KR" altLang="en-US" dirty="0"/>
              <a:t>글자 내에서 </a:t>
            </a:r>
            <a:r>
              <a:rPr lang="ko-KR" altLang="en-US" dirty="0" err="1"/>
              <a:t>접두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접미</a:t>
            </a:r>
            <a:r>
              <a:rPr lang="ko-KR" altLang="en-US" dirty="0"/>
              <a:t> 인 최대 길이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F625DC-4A8F-154D-4263-EEF53CE8ADC8}"/>
              </a:ext>
            </a:extLst>
          </p:cNvPr>
          <p:cNvSpPr txBox="1"/>
          <p:nvPr/>
        </p:nvSpPr>
        <p:spPr>
          <a:xfrm>
            <a:off x="2394408" y="420435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1C3275-8D02-8AB9-B56B-8F07EB2C5152}"/>
              </a:ext>
            </a:extLst>
          </p:cNvPr>
          <p:cNvSpPr txBox="1"/>
          <p:nvPr/>
        </p:nvSpPr>
        <p:spPr>
          <a:xfrm>
            <a:off x="7400040" y="5453554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 </a:t>
            </a:r>
            <a:r>
              <a:rPr lang="en-US" altLang="ko-KR" b="1" dirty="0">
                <a:solidFill>
                  <a:srgbClr val="FF0000"/>
                </a:solidFill>
              </a:rPr>
              <a:t>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105522C-5E9A-B96F-AB28-B33C31D9BEED}"/>
              </a:ext>
            </a:extLst>
          </p:cNvPr>
          <p:cNvSpPr txBox="1"/>
          <p:nvPr/>
        </p:nvSpPr>
        <p:spPr>
          <a:xfrm>
            <a:off x="7630656" y="5942568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</a:t>
            </a:r>
            <a:r>
              <a:rPr lang="en-US" altLang="ko-KR" b="1" dirty="0"/>
              <a:t> 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77237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B624D-C309-AF8D-9B59-3F364BBB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80AAFA-BF21-AF55-0063-C0C839024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D768DC-CD0F-98EB-4F08-DD48B1134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KMP: </a:t>
            </a:r>
            <a:r>
              <a:rPr lang="ko-KR" altLang="en-US" dirty="0"/>
              <a:t>패턴 매칭 문제를 </a:t>
            </a:r>
            <a:r>
              <a:rPr lang="en-US" altLang="ko-KR" dirty="0"/>
              <a:t>O(|A| + |B|)</a:t>
            </a:r>
            <a:r>
              <a:rPr lang="ko-KR" altLang="en-US" dirty="0"/>
              <a:t>에 해결</a:t>
            </a:r>
            <a:endParaRPr lang="en-US" altLang="ko-KR" dirty="0"/>
          </a:p>
          <a:p>
            <a:r>
              <a:rPr lang="ko-KR" altLang="en-US" dirty="0"/>
              <a:t>⚠️굉장히 헷갈림⚠️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실패 함수</a:t>
            </a:r>
            <a:r>
              <a:rPr lang="en-US" altLang="ko-KR" dirty="0"/>
              <a:t>?</a:t>
            </a:r>
          </a:p>
          <a:p>
            <a:pPr lvl="1"/>
            <a:r>
              <a:rPr lang="en-US" altLang="ko-KR" dirty="0"/>
              <a:t>F(x) : </a:t>
            </a:r>
            <a:r>
              <a:rPr lang="ko-KR" altLang="en-US" dirty="0"/>
              <a:t>문자열 </a:t>
            </a:r>
            <a:r>
              <a:rPr lang="en-US" altLang="ko-KR" dirty="0"/>
              <a:t>S[0:x+1] </a:t>
            </a:r>
            <a:r>
              <a:rPr lang="ko-KR" altLang="en-US" dirty="0"/>
              <a:t>에서 접두사와 접미사가 일치하는 최대 길이</a:t>
            </a:r>
            <a:endParaRPr lang="en-US" altLang="ko-KR" dirty="0"/>
          </a:p>
          <a:p>
            <a:pPr lvl="2"/>
            <a:r>
              <a:rPr lang="en-US" altLang="ko-KR" dirty="0"/>
              <a:t>S</a:t>
            </a:r>
          </a:p>
          <a:p>
            <a:pPr lvl="2"/>
            <a:endParaRPr lang="en-US" altLang="ko-KR" dirty="0"/>
          </a:p>
          <a:p>
            <a:pPr lvl="2"/>
            <a:r>
              <a:rPr lang="en-US" altLang="ko-KR" dirty="0"/>
              <a:t>F(2) </a:t>
            </a:r>
            <a:r>
              <a:rPr lang="ko-KR" altLang="en-US" dirty="0"/>
              <a:t>란</a:t>
            </a:r>
            <a:r>
              <a:rPr lang="en-US" altLang="ko-KR" dirty="0"/>
              <a:t>? S[0:</a:t>
            </a:r>
            <a:r>
              <a:rPr lang="en-US" altLang="ko-KR" b="1" dirty="0">
                <a:solidFill>
                  <a:srgbClr val="0070C0"/>
                </a:solidFill>
              </a:rPr>
              <a:t>3</a:t>
            </a:r>
            <a:r>
              <a:rPr lang="en-US" altLang="ko-KR" dirty="0"/>
              <a:t>]</a:t>
            </a:r>
            <a:r>
              <a:rPr lang="ko-KR" altLang="en-US" dirty="0"/>
              <a:t>인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0070C0"/>
                </a:solidFill>
              </a:rPr>
              <a:t>+1</a:t>
            </a:r>
            <a:r>
              <a:rPr lang="en-US" altLang="ko-KR" dirty="0"/>
              <a:t> </a:t>
            </a:r>
            <a:r>
              <a:rPr lang="ko-KR" altLang="en-US" dirty="0"/>
              <a:t>글자 내에서 자기 자신을 제외하고 접두사와 접미사가 일치하는 최대 길이</a:t>
            </a:r>
            <a:endParaRPr lang="en-US" altLang="ko-KR" dirty="0"/>
          </a:p>
          <a:p>
            <a:pPr lvl="3"/>
            <a:r>
              <a:rPr lang="ko-KR" altLang="en-US" dirty="0"/>
              <a:t>즉</a:t>
            </a:r>
            <a:r>
              <a:rPr lang="en-US" altLang="ko-KR" dirty="0"/>
              <a:t>, ABA </a:t>
            </a:r>
            <a:r>
              <a:rPr lang="ko-KR" altLang="en-US" dirty="0"/>
              <a:t>글자 내에서 </a:t>
            </a:r>
            <a:r>
              <a:rPr lang="ko-KR" altLang="en-US" dirty="0" err="1"/>
              <a:t>접두</a:t>
            </a:r>
            <a:r>
              <a:rPr lang="ko-KR" altLang="en-US" dirty="0"/>
              <a:t> </a:t>
            </a:r>
            <a:r>
              <a:rPr lang="en-US" altLang="ko-KR" dirty="0"/>
              <a:t>= </a:t>
            </a:r>
            <a:r>
              <a:rPr lang="ko-KR" altLang="en-US" dirty="0" err="1"/>
              <a:t>접미</a:t>
            </a:r>
            <a:r>
              <a:rPr lang="ko-KR" altLang="en-US" dirty="0"/>
              <a:t> 인 최대 길이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5667B3-93CF-A410-FD12-2025450DA7E7}"/>
              </a:ext>
            </a:extLst>
          </p:cNvPr>
          <p:cNvSpPr txBox="1"/>
          <p:nvPr/>
        </p:nvSpPr>
        <p:spPr>
          <a:xfrm>
            <a:off x="2394408" y="420435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AE752A-B135-9BC3-F149-FE93259EC115}"/>
              </a:ext>
            </a:extLst>
          </p:cNvPr>
          <p:cNvSpPr txBox="1"/>
          <p:nvPr/>
        </p:nvSpPr>
        <p:spPr>
          <a:xfrm>
            <a:off x="7400040" y="5453554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/>
              <a:t>A </a:t>
            </a:r>
            <a:r>
              <a:rPr lang="en-US" altLang="ko-KR" b="1" dirty="0">
                <a:solidFill>
                  <a:srgbClr val="FF0000"/>
                </a:solidFill>
              </a:rPr>
              <a:t>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DE7478E-D3CC-922D-B055-9A0280E1249C}"/>
              </a:ext>
            </a:extLst>
          </p:cNvPr>
          <p:cNvSpPr txBox="1"/>
          <p:nvPr/>
        </p:nvSpPr>
        <p:spPr>
          <a:xfrm>
            <a:off x="7630656" y="5942568"/>
            <a:ext cx="81945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</a:t>
            </a:r>
            <a:r>
              <a:rPr lang="en-US" altLang="ko-KR" b="1" dirty="0"/>
              <a:t> A</a:t>
            </a:r>
            <a:endParaRPr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6BFBA7-6253-41C1-B4C1-5AAB7E22E208}"/>
              </a:ext>
            </a:extLst>
          </p:cNvPr>
          <p:cNvSpPr txBox="1"/>
          <p:nvPr/>
        </p:nvSpPr>
        <p:spPr>
          <a:xfrm>
            <a:off x="9392040" y="5638220"/>
            <a:ext cx="10695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F(2) = 1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767396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B4CE5B-9290-599B-4ECC-5D10107C5E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615710-C088-CF86-34C7-6384ACAC1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C31A12-B992-21E4-814A-F348ECD605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B74587-079D-969F-5AB0-CAF17FFB6A47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8638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7B7965-E881-F8ED-038F-A7F596242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4A5D60-F01B-73CC-4082-D23DC9010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A14A5E-3FFC-8B08-932A-692B358845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“</a:t>
            </a:r>
            <a:r>
              <a:rPr lang="ko-KR" altLang="en-US" dirty="0"/>
              <a:t>최대 길이</a:t>
            </a:r>
            <a:r>
              <a:rPr lang="en-US" altLang="ko-KR" dirty="0"/>
              <a:t>”</a:t>
            </a:r>
            <a:r>
              <a:rPr lang="ko-KR" altLang="en-US" dirty="0"/>
              <a:t>니까 거꾸로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2FB3BD-3C26-55ED-CBF9-5574235C5265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B6C06D-6132-7F56-CDD4-BD0DDDDB149E}"/>
              </a:ext>
            </a:extLst>
          </p:cNvPr>
          <p:cNvSpPr txBox="1"/>
          <p:nvPr/>
        </p:nvSpPr>
        <p:spPr>
          <a:xfrm>
            <a:off x="1555421" y="3909594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</a:t>
            </a:r>
            <a:r>
              <a:rPr lang="en-US" altLang="ko-KR" dirty="0">
                <a:solidFill>
                  <a:srgbClr val="FF0000"/>
                </a:solidFill>
              </a:rPr>
              <a:t>B A B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A007E-45F2-A665-B449-F8D98F2762E3}"/>
              </a:ext>
            </a:extLst>
          </p:cNvPr>
          <p:cNvSpPr txBox="1"/>
          <p:nvPr/>
        </p:nvSpPr>
        <p:spPr>
          <a:xfrm>
            <a:off x="1773809" y="4413863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A B C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D458D4-133C-53C5-C15A-C0AFC25382A8}"/>
              </a:ext>
            </a:extLst>
          </p:cNvPr>
          <p:cNvSpPr txBox="1"/>
          <p:nvPr/>
        </p:nvSpPr>
        <p:spPr>
          <a:xfrm>
            <a:off x="1650453" y="524011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95065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57185-27B8-85D8-A6FD-84810ED5D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2C8E7E-4F11-85D8-83FD-FC5BB5DD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DE9FCF7-1C2D-E0E0-99CC-88C0207F5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“</a:t>
            </a:r>
            <a:r>
              <a:rPr lang="ko-KR" altLang="en-US" dirty="0"/>
              <a:t>최대 길이</a:t>
            </a:r>
            <a:r>
              <a:rPr lang="en-US" altLang="ko-KR" dirty="0"/>
              <a:t>”</a:t>
            </a:r>
            <a:r>
              <a:rPr lang="ko-KR" altLang="en-US" dirty="0"/>
              <a:t>니까 거꾸로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B56DD2-54AA-635C-07A1-56DC66626585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941405-4018-0697-1B15-D78072C9FA86}"/>
              </a:ext>
            </a:extLst>
          </p:cNvPr>
          <p:cNvSpPr txBox="1"/>
          <p:nvPr/>
        </p:nvSpPr>
        <p:spPr>
          <a:xfrm>
            <a:off x="1555421" y="3909594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</a:t>
            </a:r>
            <a:r>
              <a:rPr lang="en-US" altLang="ko-KR" dirty="0">
                <a:solidFill>
                  <a:srgbClr val="FF0000"/>
                </a:solidFill>
              </a:rPr>
              <a:t>B A B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8109E-370F-3033-91E1-4DD478067055}"/>
              </a:ext>
            </a:extLst>
          </p:cNvPr>
          <p:cNvSpPr txBox="1"/>
          <p:nvPr/>
        </p:nvSpPr>
        <p:spPr>
          <a:xfrm>
            <a:off x="1773809" y="4413863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A B C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6062E49-94BA-482A-34C1-4B534CFBE091}"/>
              </a:ext>
            </a:extLst>
          </p:cNvPr>
          <p:cNvSpPr txBox="1"/>
          <p:nvPr/>
        </p:nvSpPr>
        <p:spPr>
          <a:xfrm>
            <a:off x="1650453" y="524011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5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95A6F21-51E2-4C05-5F34-2133525F627B}"/>
              </a:ext>
            </a:extLst>
          </p:cNvPr>
          <p:cNvSpPr txBox="1"/>
          <p:nvPr/>
        </p:nvSpPr>
        <p:spPr>
          <a:xfrm>
            <a:off x="3932547" y="3920589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A B</a:t>
            </a:r>
            <a:r>
              <a:rPr lang="en-US" altLang="ko-KR" dirty="0">
                <a:solidFill>
                  <a:srgbClr val="FF0000"/>
                </a:solidFill>
              </a:rPr>
              <a:t>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CA9E72-DE78-09EC-7CFF-A1C5C85F8389}"/>
              </a:ext>
            </a:extLst>
          </p:cNvPr>
          <p:cNvSpPr txBox="1"/>
          <p:nvPr/>
        </p:nvSpPr>
        <p:spPr>
          <a:xfrm>
            <a:off x="4396036" y="4424858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A B</a:t>
            </a:r>
            <a:r>
              <a:rPr lang="en-US" altLang="ko-KR" dirty="0">
                <a:solidFill>
                  <a:srgbClr val="FF0000"/>
                </a:solidFill>
              </a:rPr>
              <a:t> A B C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8F17655-31D2-01FF-66E8-953291FE381A}"/>
              </a:ext>
            </a:extLst>
          </p:cNvPr>
          <p:cNvSpPr txBox="1"/>
          <p:nvPr/>
        </p:nvSpPr>
        <p:spPr>
          <a:xfrm>
            <a:off x="4027579" y="5251108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984631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FF57A-EBAE-D15F-5B80-5D90A5238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AAB4A-CBB2-329D-0C07-832A66A48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0D6A0B-2630-50A6-49EE-474092495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“</a:t>
            </a:r>
            <a:r>
              <a:rPr lang="ko-KR" altLang="en-US" dirty="0"/>
              <a:t>최대 길이</a:t>
            </a:r>
            <a:r>
              <a:rPr lang="en-US" altLang="ko-KR" dirty="0"/>
              <a:t>”</a:t>
            </a:r>
            <a:r>
              <a:rPr lang="ko-KR" altLang="en-US" dirty="0"/>
              <a:t>니까 거꾸로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46EC67-3567-DF33-FBD9-EBA21D62DA1A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8C5CD-71EF-DD44-A06A-C1B4DFBB1281}"/>
              </a:ext>
            </a:extLst>
          </p:cNvPr>
          <p:cNvSpPr txBox="1"/>
          <p:nvPr/>
        </p:nvSpPr>
        <p:spPr>
          <a:xfrm>
            <a:off x="1555421" y="3909594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</a:t>
            </a:r>
            <a:r>
              <a:rPr lang="en-US" altLang="ko-KR" dirty="0">
                <a:solidFill>
                  <a:srgbClr val="FF0000"/>
                </a:solidFill>
              </a:rPr>
              <a:t>B A B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7BC7498-7473-82F9-4E71-B4B4B770EF27}"/>
              </a:ext>
            </a:extLst>
          </p:cNvPr>
          <p:cNvSpPr txBox="1"/>
          <p:nvPr/>
        </p:nvSpPr>
        <p:spPr>
          <a:xfrm>
            <a:off x="1773809" y="4413863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A B C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56BF6E2-979B-D57F-EA71-E296C503377A}"/>
              </a:ext>
            </a:extLst>
          </p:cNvPr>
          <p:cNvSpPr txBox="1"/>
          <p:nvPr/>
        </p:nvSpPr>
        <p:spPr>
          <a:xfrm>
            <a:off x="1650453" y="524011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5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3B43DE-C4C9-2A04-3696-3CED8C3BDB99}"/>
              </a:ext>
            </a:extLst>
          </p:cNvPr>
          <p:cNvSpPr txBox="1"/>
          <p:nvPr/>
        </p:nvSpPr>
        <p:spPr>
          <a:xfrm>
            <a:off x="3932547" y="3920589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A B</a:t>
            </a:r>
            <a:r>
              <a:rPr lang="en-US" altLang="ko-KR" dirty="0">
                <a:solidFill>
                  <a:srgbClr val="FF0000"/>
                </a:solidFill>
              </a:rPr>
              <a:t>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863C456-07D5-0896-C782-247C93BA8B56}"/>
              </a:ext>
            </a:extLst>
          </p:cNvPr>
          <p:cNvSpPr txBox="1"/>
          <p:nvPr/>
        </p:nvSpPr>
        <p:spPr>
          <a:xfrm>
            <a:off x="4396036" y="4424858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A B</a:t>
            </a:r>
            <a:r>
              <a:rPr lang="en-US" altLang="ko-KR" dirty="0">
                <a:solidFill>
                  <a:srgbClr val="FF0000"/>
                </a:solidFill>
              </a:rPr>
              <a:t> A B </a:t>
            </a:r>
            <a:r>
              <a:rPr lang="en-US" altLang="ko-KR" dirty="0"/>
              <a:t>C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490F97-2DFE-018E-5CC3-F2B57EC6CCB3}"/>
              </a:ext>
            </a:extLst>
          </p:cNvPr>
          <p:cNvSpPr txBox="1"/>
          <p:nvPr/>
        </p:nvSpPr>
        <p:spPr>
          <a:xfrm>
            <a:off x="4027579" y="5251108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4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C79AC97-60E0-56FB-AA61-1104E0BF8F0C}"/>
              </a:ext>
            </a:extLst>
          </p:cNvPr>
          <p:cNvSpPr txBox="1"/>
          <p:nvPr/>
        </p:nvSpPr>
        <p:spPr>
          <a:xfrm>
            <a:off x="6526491" y="3922157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A</a:t>
            </a:r>
            <a:r>
              <a:rPr lang="en-US" altLang="ko-KR" dirty="0">
                <a:solidFill>
                  <a:srgbClr val="00B05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B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E9D0DD-2DFB-506C-AD39-74AD660C018F}"/>
              </a:ext>
            </a:extLst>
          </p:cNvPr>
          <p:cNvSpPr txBox="1"/>
          <p:nvPr/>
        </p:nvSpPr>
        <p:spPr>
          <a:xfrm>
            <a:off x="7225655" y="4426426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A </a:t>
            </a:r>
            <a:r>
              <a:rPr lang="en-US" altLang="ko-KR" dirty="0"/>
              <a:t>B C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42118E-BE6C-6ABB-BFFA-638725F7F766}"/>
              </a:ext>
            </a:extLst>
          </p:cNvPr>
          <p:cNvSpPr txBox="1"/>
          <p:nvPr/>
        </p:nvSpPr>
        <p:spPr>
          <a:xfrm>
            <a:off x="6979747" y="5252676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28445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8E82B-3F3A-1F71-BC40-6CEDD880D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6F24E0-B06B-CA93-227A-2EBD7B4E5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F234C8-6D14-FBCE-0D0E-A7D9EF36F4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“</a:t>
            </a:r>
            <a:r>
              <a:rPr lang="ko-KR" altLang="en-US" dirty="0"/>
              <a:t>최대 길이</a:t>
            </a:r>
            <a:r>
              <a:rPr lang="en-US" altLang="ko-KR" dirty="0"/>
              <a:t>”</a:t>
            </a:r>
            <a:r>
              <a:rPr lang="ko-KR" altLang="en-US" dirty="0"/>
              <a:t>니까 거꾸로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36C571-224E-3796-4962-005C6D1FD4A8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CFCE07A-D9B5-0F12-F94B-0A7986DA112C}"/>
              </a:ext>
            </a:extLst>
          </p:cNvPr>
          <p:cNvSpPr txBox="1"/>
          <p:nvPr/>
        </p:nvSpPr>
        <p:spPr>
          <a:xfrm>
            <a:off x="1555421" y="3909594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B</a:t>
            </a:r>
            <a:r>
              <a:rPr lang="en-US" altLang="ko-KR" dirty="0">
                <a:solidFill>
                  <a:srgbClr val="FF0000"/>
                </a:solidFill>
              </a:rPr>
              <a:t>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BB548E-3EC9-EAC9-8674-2443386ED312}"/>
              </a:ext>
            </a:extLst>
          </p:cNvPr>
          <p:cNvSpPr txBox="1"/>
          <p:nvPr/>
        </p:nvSpPr>
        <p:spPr>
          <a:xfrm>
            <a:off x="2499676" y="4413863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</a:t>
            </a:r>
            <a:r>
              <a:rPr lang="en-US" altLang="ko-KR" dirty="0"/>
              <a:t>A B C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551CD3-1180-DD1A-C661-7B78C1F315E6}"/>
              </a:ext>
            </a:extLst>
          </p:cNvPr>
          <p:cNvSpPr txBox="1"/>
          <p:nvPr/>
        </p:nvSpPr>
        <p:spPr>
          <a:xfrm>
            <a:off x="2131222" y="524011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4184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0A51A-393F-54DA-320B-137707D75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811695-2B2D-9F08-EDB2-1F37A6222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F754E0-19C8-9DEA-0F53-87FA879780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일단 실패함수가 </a:t>
            </a:r>
            <a:r>
              <a:rPr lang="en-US" altLang="ko-KR" dirty="0"/>
              <a:t>“</a:t>
            </a:r>
            <a:r>
              <a:rPr lang="ko-KR" altLang="en-US" dirty="0"/>
              <a:t>왜</a:t>
            </a:r>
            <a:r>
              <a:rPr lang="en-US" altLang="ko-KR" dirty="0"/>
              <a:t>“ </a:t>
            </a:r>
            <a:r>
              <a:rPr lang="ko-KR" altLang="en-US" dirty="0"/>
              <a:t>필요한지 이전에 </a:t>
            </a:r>
            <a:r>
              <a:rPr lang="ko-KR" altLang="en-US" u="sng" dirty="0"/>
              <a:t>어떻게 구하는 지</a:t>
            </a:r>
            <a:r>
              <a:rPr lang="en-US" altLang="ko-KR" dirty="0"/>
              <a:t>!</a:t>
            </a:r>
          </a:p>
          <a:p>
            <a:r>
              <a:rPr lang="en-US" altLang="ko-KR" dirty="0"/>
              <a:t>S</a:t>
            </a:r>
          </a:p>
          <a:p>
            <a:endParaRPr lang="en-US" altLang="ko-KR" dirty="0"/>
          </a:p>
          <a:p>
            <a:r>
              <a:rPr lang="en-US" altLang="ko-KR" dirty="0"/>
              <a:t>F(5) </a:t>
            </a:r>
            <a:r>
              <a:rPr lang="ko-KR" altLang="en-US" dirty="0"/>
              <a:t>는</a:t>
            </a:r>
            <a:r>
              <a:rPr lang="en-US" altLang="ko-KR" dirty="0"/>
              <a:t>? 5</a:t>
            </a:r>
            <a:r>
              <a:rPr lang="en-US" altLang="ko-KR" b="1" dirty="0">
                <a:solidFill>
                  <a:srgbClr val="0070C0"/>
                </a:solidFill>
              </a:rPr>
              <a:t>+1 </a:t>
            </a:r>
            <a:r>
              <a:rPr lang="ko-KR" altLang="en-US" dirty="0"/>
              <a:t>글자를 본다</a:t>
            </a:r>
            <a:r>
              <a:rPr lang="en-US" altLang="ko-KR" dirty="0"/>
              <a:t>. </a:t>
            </a:r>
            <a:r>
              <a:rPr lang="ko-KR" altLang="en-US" dirty="0"/>
              <a:t>근데 </a:t>
            </a:r>
            <a:r>
              <a:rPr lang="en-US" altLang="ko-KR" dirty="0"/>
              <a:t>“</a:t>
            </a:r>
            <a:r>
              <a:rPr lang="ko-KR" altLang="en-US" dirty="0"/>
              <a:t>최대 길이</a:t>
            </a:r>
            <a:r>
              <a:rPr lang="en-US" altLang="ko-KR" dirty="0"/>
              <a:t>”</a:t>
            </a:r>
            <a:r>
              <a:rPr lang="ko-KR" altLang="en-US" dirty="0"/>
              <a:t>니까 거꾸로</a:t>
            </a:r>
            <a:endParaRPr lang="en-US" altLang="ko-KR" dirty="0"/>
          </a:p>
          <a:p>
            <a:pPr lvl="1"/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5A9FBC-CDB1-057A-1D4D-E21E9C4A0160}"/>
              </a:ext>
            </a:extLst>
          </p:cNvPr>
          <p:cNvSpPr txBox="1"/>
          <p:nvPr/>
        </p:nvSpPr>
        <p:spPr>
          <a:xfrm>
            <a:off x="1555422" y="2394409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2C1215-004F-6B9F-115B-1A333B5CE7CD}"/>
              </a:ext>
            </a:extLst>
          </p:cNvPr>
          <p:cNvSpPr txBox="1"/>
          <p:nvPr/>
        </p:nvSpPr>
        <p:spPr>
          <a:xfrm>
            <a:off x="1555421" y="3909594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B</a:t>
            </a:r>
            <a:r>
              <a:rPr lang="en-US" altLang="ko-KR" dirty="0">
                <a:solidFill>
                  <a:srgbClr val="FF0000"/>
                </a:solidFill>
              </a:rPr>
              <a:t> C A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554487-76B1-1676-E01D-357D7B53DFF2}"/>
              </a:ext>
            </a:extLst>
          </p:cNvPr>
          <p:cNvSpPr txBox="1"/>
          <p:nvPr/>
        </p:nvSpPr>
        <p:spPr>
          <a:xfrm>
            <a:off x="2499676" y="4413863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FF0000"/>
                </a:solidFill>
              </a:rPr>
              <a:t>A B </a:t>
            </a:r>
            <a:r>
              <a:rPr lang="en-US" altLang="ko-KR" dirty="0"/>
              <a:t>A B C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67F8BE-BB2D-4821-19B1-DDE5A75E229F}"/>
              </a:ext>
            </a:extLst>
          </p:cNvPr>
          <p:cNvSpPr txBox="1"/>
          <p:nvPr/>
        </p:nvSpPr>
        <p:spPr>
          <a:xfrm>
            <a:off x="2131222" y="5240113"/>
            <a:ext cx="10871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!= 2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A945E62-8343-5C18-84E6-38497F11CC43}"/>
              </a:ext>
            </a:extLst>
          </p:cNvPr>
          <p:cNvSpPr txBox="1"/>
          <p:nvPr/>
        </p:nvSpPr>
        <p:spPr>
          <a:xfrm>
            <a:off x="5535101" y="3920589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B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C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00B050"/>
                </a:solidFill>
              </a:rPr>
              <a:t>A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E0DEC34-7EF7-F99B-2CA1-60BE5EC25899}"/>
              </a:ext>
            </a:extLst>
          </p:cNvPr>
          <p:cNvSpPr txBox="1"/>
          <p:nvPr/>
        </p:nvSpPr>
        <p:spPr>
          <a:xfrm>
            <a:off x="6658467" y="4424858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A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B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en-US" altLang="ko-KR" dirty="0"/>
              <a:t>A B C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9E9E54-6556-A550-88FD-072D1738B3FB}"/>
              </a:ext>
            </a:extLst>
          </p:cNvPr>
          <p:cNvSpPr txBox="1"/>
          <p:nvPr/>
        </p:nvSpPr>
        <p:spPr>
          <a:xfrm>
            <a:off x="6110902" y="5251108"/>
            <a:ext cx="11817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F(5) == 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12059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ED7CE-D0CC-183E-9390-4720E757B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6460D-159C-5043-077F-259120CB2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F2AA521-E484-51F1-C7BB-C0E67C7A52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</p:txBody>
      </p:sp>
    </p:spTree>
    <p:extLst>
      <p:ext uri="{BB962C8B-B14F-4D97-AF65-F5344CB8AC3E}">
        <p14:creationId xmlns:p14="http://schemas.microsoft.com/office/powerpoint/2010/main" val="4136837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E1608-2AD9-8461-6F57-2A99801AC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3F0848-EB58-D4F2-8948-0AB5A5063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0D031-8522-5DE8-09AE-EDFBACB83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  <a:p>
            <a:endParaRPr lang="en-US" altLang="ko-KR" dirty="0"/>
          </a:p>
          <a:p>
            <a:r>
              <a:rPr lang="en-US" altLang="ko-KR" dirty="0"/>
              <a:t>F(x) </a:t>
            </a:r>
            <a:r>
              <a:rPr lang="ko-KR" altLang="en-US" dirty="0"/>
              <a:t>를 </a:t>
            </a:r>
            <a:r>
              <a:rPr lang="ko-KR" altLang="en-US" u="sng" dirty="0"/>
              <a:t>이전의 </a:t>
            </a:r>
            <a:r>
              <a:rPr lang="en-US" altLang="ko-KR" u="sng" dirty="0"/>
              <a:t>F</a:t>
            </a:r>
            <a:r>
              <a:rPr lang="ko-KR" altLang="en-US" u="sng" dirty="0"/>
              <a:t>값을 활용</a:t>
            </a:r>
            <a:r>
              <a:rPr lang="ko-KR" altLang="en-US" dirty="0"/>
              <a:t>해서 구할 순 없을까</a:t>
            </a:r>
            <a:r>
              <a:rPr lang="en-US" altLang="ko-KR" dirty="0"/>
              <a:t>? </a:t>
            </a:r>
            <a:r>
              <a:rPr lang="en-US" altLang="ko-KR" sz="1600" dirty="0"/>
              <a:t>(like </a:t>
            </a:r>
            <a:r>
              <a:rPr lang="ko-KR" altLang="en-US" sz="1600" dirty="0"/>
              <a:t>다이나믹 프로그래밍</a:t>
            </a:r>
            <a:r>
              <a:rPr lang="en-US" altLang="ko-KR" sz="1600" dirty="0"/>
              <a:t>)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9746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0350F-3B00-FD5C-314C-C7AB8D6C9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92A94-D929-B62C-1787-70D19A83F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D32367-A88C-70D8-1AED-95359B6702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  <a:p>
            <a:endParaRPr lang="en-US" altLang="ko-KR" dirty="0"/>
          </a:p>
          <a:p>
            <a:r>
              <a:rPr lang="en-US" altLang="ko-KR" dirty="0"/>
              <a:t>F(x) </a:t>
            </a:r>
            <a:r>
              <a:rPr lang="ko-KR" altLang="en-US" dirty="0"/>
              <a:t>를 이전의 </a:t>
            </a:r>
            <a:r>
              <a:rPr lang="en-US" altLang="ko-KR" dirty="0"/>
              <a:t>F</a:t>
            </a:r>
            <a:r>
              <a:rPr lang="ko-KR" altLang="en-US" dirty="0"/>
              <a:t>값을 활용해서 구할 순 없을까</a:t>
            </a:r>
            <a:r>
              <a:rPr lang="en-US" altLang="ko-KR" dirty="0"/>
              <a:t>? </a:t>
            </a:r>
            <a:r>
              <a:rPr lang="en-US" altLang="ko-KR" sz="1600" dirty="0"/>
              <a:t>(like </a:t>
            </a:r>
            <a:r>
              <a:rPr lang="ko-KR" altLang="en-US" sz="1600" dirty="0"/>
              <a:t>다이나믹 프로그래밍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en-US" altLang="ko-KR" dirty="0"/>
              <a:t>S                            F(5) = 1</a:t>
            </a:r>
            <a:r>
              <a:rPr lang="ko-KR" altLang="en-US" dirty="0"/>
              <a:t>임을 알고 있는 상태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4CEC68-997A-4918-AF31-E988DD7CA9CE}"/>
              </a:ext>
            </a:extLst>
          </p:cNvPr>
          <p:cNvSpPr txBox="1"/>
          <p:nvPr/>
        </p:nvSpPr>
        <p:spPr>
          <a:xfrm>
            <a:off x="1913640" y="4213782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236BEF-6B43-572A-8E4C-3FEFDDBCDB06}"/>
              </a:ext>
            </a:extLst>
          </p:cNvPr>
          <p:cNvSpPr txBox="1"/>
          <p:nvPr/>
        </p:nvSpPr>
        <p:spPr>
          <a:xfrm>
            <a:off x="1913640" y="4718051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6E91997-FC7D-2BF9-DA3C-B8034F438DC2}"/>
              </a:ext>
            </a:extLst>
          </p:cNvPr>
          <p:cNvSpPr txBox="1"/>
          <p:nvPr/>
        </p:nvSpPr>
        <p:spPr>
          <a:xfrm>
            <a:off x="3049681" y="5195372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</a:t>
            </a:r>
            <a:r>
              <a:rPr lang="en-US" altLang="ko-KR" dirty="0"/>
              <a:t> B A B C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572099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6DE6E4-EE6C-E778-0F38-DC7FB1BE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EF2A1-B5D9-B6F2-1A1B-3A6E5EDC4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BADBCEE-169C-39DB-9A26-017A0B6A1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  <a:p>
            <a:endParaRPr lang="en-US" altLang="ko-KR" dirty="0"/>
          </a:p>
          <a:p>
            <a:r>
              <a:rPr lang="en-US" altLang="ko-KR" dirty="0"/>
              <a:t>F(x) </a:t>
            </a:r>
            <a:r>
              <a:rPr lang="ko-KR" altLang="en-US" dirty="0"/>
              <a:t>를 이전의 </a:t>
            </a:r>
            <a:r>
              <a:rPr lang="en-US" altLang="ko-KR" dirty="0"/>
              <a:t>F</a:t>
            </a:r>
            <a:r>
              <a:rPr lang="ko-KR" altLang="en-US" dirty="0"/>
              <a:t>값을 활용해서 구할 순 없을까</a:t>
            </a:r>
            <a:r>
              <a:rPr lang="en-US" altLang="ko-KR" dirty="0"/>
              <a:t>? </a:t>
            </a:r>
            <a:r>
              <a:rPr lang="en-US" altLang="ko-KR" sz="1600" dirty="0"/>
              <a:t>(like </a:t>
            </a:r>
            <a:r>
              <a:rPr lang="ko-KR" altLang="en-US" sz="1600" dirty="0"/>
              <a:t>다이나믹 프로그래밍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en-US" altLang="ko-KR" dirty="0"/>
              <a:t>S                            F(5) = 1</a:t>
            </a:r>
            <a:r>
              <a:rPr lang="ko-KR" altLang="en-US" dirty="0"/>
              <a:t>임을 알고 있는 상태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DB1A7C-D373-0C5B-00E7-68EF529D9814}"/>
              </a:ext>
            </a:extLst>
          </p:cNvPr>
          <p:cNvSpPr txBox="1"/>
          <p:nvPr/>
        </p:nvSpPr>
        <p:spPr>
          <a:xfrm>
            <a:off x="1913640" y="4213782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26EF425-30F7-E0C9-0535-DF34163247AA}"/>
              </a:ext>
            </a:extLst>
          </p:cNvPr>
          <p:cNvSpPr txBox="1"/>
          <p:nvPr/>
        </p:nvSpPr>
        <p:spPr>
          <a:xfrm>
            <a:off x="1913640" y="4718051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19A47C-91E3-7D04-7C17-7F3738116F90}"/>
              </a:ext>
            </a:extLst>
          </p:cNvPr>
          <p:cNvSpPr txBox="1"/>
          <p:nvPr/>
        </p:nvSpPr>
        <p:spPr>
          <a:xfrm>
            <a:off x="3049681" y="5195372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</a:t>
            </a:r>
            <a:r>
              <a:rPr lang="en-US" altLang="ko-KR" dirty="0"/>
              <a:t> B A B C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97058-6CD5-7B38-D96B-6EEA8C851A1D}"/>
              </a:ext>
            </a:extLst>
          </p:cNvPr>
          <p:cNvSpPr txBox="1"/>
          <p:nvPr/>
        </p:nvSpPr>
        <p:spPr>
          <a:xfrm>
            <a:off x="3444801" y="4718051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45EB8FB-E976-8ED9-F7EE-A4EA9A5ED4D3}"/>
              </a:ext>
            </a:extLst>
          </p:cNvPr>
          <p:cNvSpPr txBox="1"/>
          <p:nvPr/>
        </p:nvSpPr>
        <p:spPr>
          <a:xfrm>
            <a:off x="4568163" y="5190965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804823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9C6C-4DF5-22F8-1439-153EB6FB9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79C93-2155-82E6-49DF-44D748B62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F680C1-F233-A158-B4CF-8F311040F6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  <a:p>
            <a:endParaRPr lang="en-US" altLang="ko-KR" dirty="0"/>
          </a:p>
          <a:p>
            <a:r>
              <a:rPr lang="en-US" altLang="ko-KR" dirty="0"/>
              <a:t>F(x) </a:t>
            </a:r>
            <a:r>
              <a:rPr lang="ko-KR" altLang="en-US" dirty="0"/>
              <a:t>를 이전의 </a:t>
            </a:r>
            <a:r>
              <a:rPr lang="en-US" altLang="ko-KR" dirty="0"/>
              <a:t>F</a:t>
            </a:r>
            <a:r>
              <a:rPr lang="ko-KR" altLang="en-US" dirty="0"/>
              <a:t>값을 활용해서 구할 순 없을까</a:t>
            </a:r>
            <a:r>
              <a:rPr lang="en-US" altLang="ko-KR" dirty="0"/>
              <a:t>? </a:t>
            </a:r>
            <a:r>
              <a:rPr lang="en-US" altLang="ko-KR" sz="1600" dirty="0"/>
              <a:t>(like </a:t>
            </a:r>
            <a:r>
              <a:rPr lang="ko-KR" altLang="en-US" sz="1600" dirty="0"/>
              <a:t>다이나믹 프로그래밍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en-US" altLang="ko-KR" dirty="0"/>
              <a:t>S                            F(5) = 1</a:t>
            </a:r>
            <a:r>
              <a:rPr lang="ko-KR" altLang="en-US" dirty="0"/>
              <a:t>임을 알고 있는 상태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582D5F-7C7F-F787-98E5-11383418174E}"/>
              </a:ext>
            </a:extLst>
          </p:cNvPr>
          <p:cNvSpPr txBox="1"/>
          <p:nvPr/>
        </p:nvSpPr>
        <p:spPr>
          <a:xfrm>
            <a:off x="1913640" y="4213782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54762A-F112-D11B-267D-FDF95F02DA19}"/>
              </a:ext>
            </a:extLst>
          </p:cNvPr>
          <p:cNvSpPr txBox="1"/>
          <p:nvPr/>
        </p:nvSpPr>
        <p:spPr>
          <a:xfrm>
            <a:off x="1913640" y="4718051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A32844-25DE-0312-B24C-5236ED1DF871}"/>
              </a:ext>
            </a:extLst>
          </p:cNvPr>
          <p:cNvSpPr txBox="1"/>
          <p:nvPr/>
        </p:nvSpPr>
        <p:spPr>
          <a:xfrm>
            <a:off x="3049681" y="5195372"/>
            <a:ext cx="14879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B050"/>
                </a:solidFill>
              </a:rPr>
              <a:t>B</a:t>
            </a:r>
            <a:r>
              <a:rPr lang="en-US" altLang="ko-KR" dirty="0"/>
              <a:t> A B C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D51D09F-CE43-685F-B43F-83861D3B62BF}"/>
              </a:ext>
            </a:extLst>
          </p:cNvPr>
          <p:cNvSpPr txBox="1"/>
          <p:nvPr/>
        </p:nvSpPr>
        <p:spPr>
          <a:xfrm>
            <a:off x="3444801" y="4718051"/>
            <a:ext cx="3321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B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43152C-AA7F-7F97-B619-CC623DCF0F96}"/>
              </a:ext>
            </a:extLst>
          </p:cNvPr>
          <p:cNvSpPr txBox="1"/>
          <p:nvPr/>
        </p:nvSpPr>
        <p:spPr>
          <a:xfrm>
            <a:off x="4605871" y="5190965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38673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E9720-2A8A-26FC-7F32-0D220A87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A9DFAD-6431-0F4B-90D4-218643DD21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915859-B389-C888-727F-E0D5FF829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이런 식으로 계산하면 최악의 경우 각 </a:t>
            </a:r>
            <a:r>
              <a:rPr lang="en-US" altLang="ko-KR" dirty="0"/>
              <a:t>F(x) </a:t>
            </a:r>
            <a:r>
              <a:rPr lang="ko-KR" altLang="en-US" dirty="0"/>
              <a:t>에 대해 </a:t>
            </a:r>
            <a:r>
              <a:rPr lang="en-US" altLang="ko-KR" dirty="0"/>
              <a:t>O(|S|^2) </a:t>
            </a:r>
            <a:r>
              <a:rPr lang="ko-KR" altLang="en-US" dirty="0"/>
              <a:t>연산이 필요</a:t>
            </a:r>
            <a:endParaRPr lang="en-US" altLang="ko-KR" dirty="0"/>
          </a:p>
          <a:p>
            <a:r>
              <a:rPr lang="ko-KR" altLang="en-US" dirty="0"/>
              <a:t>결국 최종 시간 복잡도는 </a:t>
            </a:r>
            <a:r>
              <a:rPr lang="en-US" altLang="ko-KR" dirty="0"/>
              <a:t>O(|S|^3)</a:t>
            </a:r>
          </a:p>
          <a:p>
            <a:endParaRPr lang="en-US" altLang="ko-KR" dirty="0"/>
          </a:p>
          <a:p>
            <a:r>
              <a:rPr lang="en-US" altLang="ko-KR" dirty="0"/>
              <a:t>F(x) </a:t>
            </a:r>
            <a:r>
              <a:rPr lang="ko-KR" altLang="en-US" dirty="0"/>
              <a:t>를 이전의 </a:t>
            </a:r>
            <a:r>
              <a:rPr lang="en-US" altLang="ko-KR" dirty="0"/>
              <a:t>F</a:t>
            </a:r>
            <a:r>
              <a:rPr lang="ko-KR" altLang="en-US" dirty="0"/>
              <a:t>값을 활용해서 구할 순 없을까</a:t>
            </a:r>
            <a:r>
              <a:rPr lang="en-US" altLang="ko-KR" dirty="0"/>
              <a:t>? </a:t>
            </a:r>
            <a:r>
              <a:rPr lang="en-US" altLang="ko-KR" sz="1600" dirty="0"/>
              <a:t>(like </a:t>
            </a:r>
            <a:r>
              <a:rPr lang="ko-KR" altLang="en-US" sz="1600" dirty="0"/>
              <a:t>다이나믹 프로그래밍</a:t>
            </a:r>
            <a:r>
              <a:rPr lang="en-US" altLang="ko-KR" sz="1600" dirty="0"/>
              <a:t>)</a:t>
            </a:r>
            <a:endParaRPr lang="en-US" altLang="ko-KR" dirty="0"/>
          </a:p>
          <a:p>
            <a:pPr lvl="1"/>
            <a:r>
              <a:rPr lang="en-US" altLang="ko-KR" dirty="0"/>
              <a:t>S                            F(5) = 1</a:t>
            </a:r>
            <a:r>
              <a:rPr lang="ko-KR" altLang="en-US" dirty="0"/>
              <a:t>임을 알고 있는 상태</a:t>
            </a:r>
            <a:endParaRPr lang="en-US" altLang="ko-KR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C5B19D-3A16-BFDF-C264-CB80D7CD17CB}"/>
              </a:ext>
            </a:extLst>
          </p:cNvPr>
          <p:cNvSpPr txBox="1"/>
          <p:nvPr/>
        </p:nvSpPr>
        <p:spPr>
          <a:xfrm>
            <a:off x="1913640" y="4213782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963D359-B79D-01B1-F05E-C366723E00C4}"/>
              </a:ext>
            </a:extLst>
          </p:cNvPr>
          <p:cNvSpPr txBox="1"/>
          <p:nvPr/>
        </p:nvSpPr>
        <p:spPr>
          <a:xfrm>
            <a:off x="1913640" y="4718051"/>
            <a:ext cx="14654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5B37BF8-0997-2179-1265-EEFC3BB3130E}"/>
              </a:ext>
            </a:extLst>
          </p:cNvPr>
          <p:cNvSpPr txBox="1"/>
          <p:nvPr/>
        </p:nvSpPr>
        <p:spPr>
          <a:xfrm>
            <a:off x="3049681" y="5195372"/>
            <a:ext cx="148790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00B050"/>
                </a:solidFill>
              </a:rPr>
              <a:t>B</a:t>
            </a:r>
            <a:r>
              <a:rPr lang="en-US" altLang="ko-KR" dirty="0"/>
              <a:t> A B C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7BF017-D8E8-88A0-D489-87A8310E17E5}"/>
              </a:ext>
            </a:extLst>
          </p:cNvPr>
          <p:cNvSpPr txBox="1"/>
          <p:nvPr/>
        </p:nvSpPr>
        <p:spPr>
          <a:xfrm>
            <a:off x="3444801" y="4718051"/>
            <a:ext cx="33214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B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1CF006A-C91B-A7EE-6E09-D9A00F882C3B}"/>
              </a:ext>
            </a:extLst>
          </p:cNvPr>
          <p:cNvSpPr txBox="1"/>
          <p:nvPr/>
        </p:nvSpPr>
        <p:spPr>
          <a:xfrm>
            <a:off x="4605871" y="5190965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DFAA817-9B64-C1D2-9B4D-D90017AAF748}"/>
              </a:ext>
            </a:extLst>
          </p:cNvPr>
          <p:cNvSpPr txBox="1">
            <a:spLocks/>
          </p:cNvSpPr>
          <p:nvPr/>
        </p:nvSpPr>
        <p:spPr>
          <a:xfrm>
            <a:off x="6096000" y="4718051"/>
            <a:ext cx="5362575" cy="16638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ko-KR" dirty="0"/>
              <a:t>F(5) = 1 </a:t>
            </a:r>
            <a:r>
              <a:rPr lang="ko-KR" altLang="en-US" dirty="0"/>
              <a:t>알고</a:t>
            </a:r>
            <a:r>
              <a:rPr lang="en-US" altLang="ko-KR" dirty="0"/>
              <a:t> </a:t>
            </a:r>
            <a:r>
              <a:rPr lang="ko-KR" altLang="en-US" dirty="0"/>
              <a:t>있는 상태에서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 err="1"/>
              <a:t>접두</a:t>
            </a:r>
            <a:r>
              <a:rPr lang="en-US" altLang="ko-KR" dirty="0"/>
              <a:t>, </a:t>
            </a:r>
            <a:r>
              <a:rPr lang="ko-KR" altLang="en-US" dirty="0" err="1"/>
              <a:t>접미</a:t>
            </a:r>
            <a:r>
              <a:rPr lang="ko-KR" altLang="en-US" dirty="0"/>
              <a:t> 각각의 상황에 맞는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다음 칸의 글자가 일치하는 지</a:t>
            </a:r>
            <a:r>
              <a:rPr lang="en-US" altLang="ko-KR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55778559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8FF26-B6DC-3979-7B97-16D8A2ED1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4D82E1-CFF7-2FA1-EF5F-97BD86DC3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4471B7-8A85-6314-D8B5-AA585EAB5A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🤔그런데 저기에서 두 글자 외에 더 일치할 수도 있지 않나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32321918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19A8D-602E-5FD0-3642-BFDB05CA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265BE-537C-59BA-480F-BA9D9CFA2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F441A1-2B13-DD9F-8074-D353FFF59F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🤔그런데 저기에서 두 글자 외에 더 일치할 수도 있지 않나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 err="1"/>
              <a:t>귀류법</a:t>
            </a:r>
            <a:r>
              <a:rPr lang="en-US" altLang="ko-KR" dirty="0"/>
              <a:t>: </a:t>
            </a:r>
            <a:r>
              <a:rPr lang="ko-KR" altLang="en-US" dirty="0"/>
              <a:t>결론을 부정해 모순을 밝혀 기존 명제가 참임을 밝힘</a:t>
            </a:r>
            <a:endParaRPr lang="en-US" altLang="ko-KR" dirty="0"/>
          </a:p>
          <a:p>
            <a:r>
              <a:rPr lang="en-US" altLang="ko-KR" dirty="0"/>
              <a:t>F(5)</a:t>
            </a:r>
            <a:r>
              <a:rPr lang="ko-KR" altLang="en-US" dirty="0"/>
              <a:t> </a:t>
            </a:r>
            <a:r>
              <a:rPr lang="en-US" altLang="ko-KR" dirty="0"/>
              <a:t>= 1</a:t>
            </a:r>
            <a:r>
              <a:rPr lang="ko-KR" altLang="en-US" dirty="0"/>
              <a:t>일 때</a:t>
            </a:r>
            <a:r>
              <a:rPr lang="en-US" altLang="ko-KR" dirty="0"/>
              <a:t>, F(6)</a:t>
            </a:r>
            <a:r>
              <a:rPr lang="ko-KR" altLang="en-US" dirty="0"/>
              <a:t>은 </a:t>
            </a:r>
            <a:r>
              <a:rPr lang="en-US" altLang="ko-KR" dirty="0"/>
              <a:t>1 </a:t>
            </a:r>
            <a:r>
              <a:rPr lang="ko-KR" altLang="en-US" dirty="0"/>
              <a:t>또는 </a:t>
            </a:r>
            <a:r>
              <a:rPr lang="en-US" altLang="ko-KR" dirty="0"/>
              <a:t>2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를 증명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가정 </a:t>
            </a:r>
            <a:r>
              <a:rPr lang="en-US" altLang="ko-KR" dirty="0"/>
              <a:t>F(6) &gt; 2 (3</a:t>
            </a:r>
            <a:r>
              <a:rPr lang="ko-KR" altLang="en-US" dirty="0"/>
              <a:t>이라</a:t>
            </a:r>
            <a:r>
              <a:rPr lang="en-US" altLang="ko-KR" dirty="0"/>
              <a:t>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418D3-0F83-832F-DC02-CAE2F3D08DF7}"/>
              </a:ext>
            </a:extLst>
          </p:cNvPr>
          <p:cNvSpPr txBox="1"/>
          <p:nvPr/>
        </p:nvSpPr>
        <p:spPr>
          <a:xfrm>
            <a:off x="1385739" y="4906588"/>
            <a:ext cx="1580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</a:t>
            </a:r>
            <a:r>
              <a:rPr lang="en-US" altLang="ko-KR" b="1" dirty="0">
                <a:solidFill>
                  <a:srgbClr val="00B050"/>
                </a:solidFill>
              </a:rPr>
              <a:t>4 5 6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42F390-CD13-2744-5886-3F7FB08FA6FD}"/>
              </a:ext>
            </a:extLst>
          </p:cNvPr>
          <p:cNvSpPr txBox="1"/>
          <p:nvPr/>
        </p:nvSpPr>
        <p:spPr>
          <a:xfrm>
            <a:off x="2235723" y="5357109"/>
            <a:ext cx="1580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0 1 2 </a:t>
            </a:r>
            <a:r>
              <a:rPr lang="en-US" altLang="ko-KR" dirty="0"/>
              <a:t>3 4 5 6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7593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B1AA29-BD7B-5ADD-91D8-7A54CABE4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10773D-B07E-50F5-F0B2-76C16AD356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4AEB61-A3F0-99B6-B3C9-7C6D96629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🤔그런데 저기에서 두 글자 외에 더 일치할 수도 있지 않나</a:t>
            </a:r>
            <a:r>
              <a:rPr lang="en-US" altLang="ko-KR" dirty="0"/>
              <a:t>?</a:t>
            </a:r>
          </a:p>
          <a:p>
            <a:endParaRPr lang="en-US" altLang="ko-KR" dirty="0"/>
          </a:p>
          <a:p>
            <a:r>
              <a:rPr lang="ko-KR" altLang="en-US" dirty="0" err="1"/>
              <a:t>귀류법</a:t>
            </a:r>
            <a:r>
              <a:rPr lang="en-US" altLang="ko-KR" dirty="0"/>
              <a:t>: </a:t>
            </a:r>
            <a:r>
              <a:rPr lang="ko-KR" altLang="en-US" dirty="0"/>
              <a:t>결론을 부정해 모순을 밝혀 기존 명제가 참임을 밝힘</a:t>
            </a:r>
            <a:endParaRPr lang="en-US" altLang="ko-KR" dirty="0"/>
          </a:p>
          <a:p>
            <a:r>
              <a:rPr lang="en-US" altLang="ko-KR" dirty="0"/>
              <a:t>F(5)</a:t>
            </a:r>
            <a:r>
              <a:rPr lang="ko-KR" altLang="en-US" dirty="0"/>
              <a:t> </a:t>
            </a:r>
            <a:r>
              <a:rPr lang="en-US" altLang="ko-KR" dirty="0"/>
              <a:t>= 1</a:t>
            </a:r>
            <a:r>
              <a:rPr lang="ko-KR" altLang="en-US" dirty="0"/>
              <a:t>일 때</a:t>
            </a:r>
            <a:r>
              <a:rPr lang="en-US" altLang="ko-KR" dirty="0"/>
              <a:t>, F(6)</a:t>
            </a:r>
            <a:r>
              <a:rPr lang="ko-KR" altLang="en-US" dirty="0"/>
              <a:t>은 </a:t>
            </a:r>
            <a:r>
              <a:rPr lang="en-US" altLang="ko-KR" dirty="0"/>
              <a:t>1 </a:t>
            </a:r>
            <a:r>
              <a:rPr lang="ko-KR" altLang="en-US" dirty="0"/>
              <a:t>또는 </a:t>
            </a:r>
            <a:r>
              <a:rPr lang="en-US" altLang="ko-KR" dirty="0"/>
              <a:t>2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를 증명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가정 </a:t>
            </a:r>
            <a:r>
              <a:rPr lang="en-US" altLang="ko-KR" dirty="0"/>
              <a:t>F(6) &gt; 2 (3</a:t>
            </a:r>
            <a:r>
              <a:rPr lang="ko-KR" altLang="en-US" dirty="0"/>
              <a:t>이라</a:t>
            </a:r>
            <a:r>
              <a:rPr lang="en-US" altLang="ko-KR" dirty="0"/>
              <a:t>)   --------    </a:t>
            </a:r>
            <a:r>
              <a:rPr lang="ko-KR" altLang="en-US" dirty="0"/>
              <a:t>모순 </a:t>
            </a:r>
            <a:r>
              <a:rPr lang="en-US" altLang="ko-KR" dirty="0"/>
              <a:t>F(5) = 2 :   5</a:t>
            </a:r>
            <a:r>
              <a:rPr lang="en-US" altLang="ko-KR" b="1" dirty="0">
                <a:solidFill>
                  <a:srgbClr val="0070C0"/>
                </a:solidFill>
              </a:rPr>
              <a:t>+1</a:t>
            </a:r>
            <a:r>
              <a:rPr lang="ko-KR" altLang="en-US" dirty="0"/>
              <a:t>글자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34FF28-A434-FA39-E669-9BCF918043F0}"/>
              </a:ext>
            </a:extLst>
          </p:cNvPr>
          <p:cNvSpPr txBox="1"/>
          <p:nvPr/>
        </p:nvSpPr>
        <p:spPr>
          <a:xfrm>
            <a:off x="1385739" y="4906588"/>
            <a:ext cx="1580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</a:t>
            </a:r>
            <a:r>
              <a:rPr lang="en-US" altLang="ko-KR" b="1" dirty="0">
                <a:solidFill>
                  <a:srgbClr val="00B050"/>
                </a:solidFill>
              </a:rPr>
              <a:t>4 5 6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CEB70-10BD-349A-87D8-99BE5FFFC4CF}"/>
              </a:ext>
            </a:extLst>
          </p:cNvPr>
          <p:cNvSpPr txBox="1"/>
          <p:nvPr/>
        </p:nvSpPr>
        <p:spPr>
          <a:xfrm>
            <a:off x="2235723" y="5357109"/>
            <a:ext cx="15808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0 1 2 </a:t>
            </a:r>
            <a:r>
              <a:rPr lang="en-US" altLang="ko-KR" dirty="0"/>
              <a:t>3 4 5 6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E3C6C1-B824-2281-99D9-2A71709CFE63}"/>
              </a:ext>
            </a:extLst>
          </p:cNvPr>
          <p:cNvSpPr txBox="1"/>
          <p:nvPr/>
        </p:nvSpPr>
        <p:spPr>
          <a:xfrm>
            <a:off x="7194220" y="4908156"/>
            <a:ext cx="13596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</a:t>
            </a:r>
            <a:r>
              <a:rPr lang="en-US" altLang="ko-KR" b="1" dirty="0">
                <a:solidFill>
                  <a:srgbClr val="00B050"/>
                </a:solidFill>
              </a:rPr>
              <a:t>4 5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7742D8-9C54-CB58-DFD0-3398F7D863AF}"/>
              </a:ext>
            </a:extLst>
          </p:cNvPr>
          <p:cNvSpPr txBox="1"/>
          <p:nvPr/>
        </p:nvSpPr>
        <p:spPr>
          <a:xfrm>
            <a:off x="8034780" y="5358677"/>
            <a:ext cx="136608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0 1 </a:t>
            </a:r>
            <a:r>
              <a:rPr lang="en-US" altLang="ko-KR" dirty="0"/>
              <a:t>2</a:t>
            </a:r>
            <a:r>
              <a:rPr lang="en-US" altLang="ko-KR" b="1" dirty="0">
                <a:solidFill>
                  <a:srgbClr val="00B050"/>
                </a:solidFill>
              </a:rPr>
              <a:t> </a:t>
            </a:r>
            <a:r>
              <a:rPr lang="en-US" altLang="ko-KR" dirty="0"/>
              <a:t>3 4 5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3170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B7FE-642F-C4DF-989F-5CB453ACA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5870C1-AF20-24AB-500B-F0A54943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CAFA3B1-2DF3-D7FC-AD0D-7F1A8EB38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결국 </a:t>
            </a:r>
            <a:r>
              <a:rPr lang="en-US" altLang="ko-KR" dirty="0"/>
              <a:t>F(5) = 1</a:t>
            </a:r>
            <a:r>
              <a:rPr lang="ko-KR" altLang="en-US" dirty="0"/>
              <a:t>일 때 </a:t>
            </a:r>
            <a:r>
              <a:rPr lang="en-US" altLang="ko-KR" dirty="0"/>
              <a:t>F(6)</a:t>
            </a:r>
            <a:r>
              <a:rPr lang="ko-KR" altLang="en-US" dirty="0"/>
              <a:t>은 </a:t>
            </a:r>
            <a:r>
              <a:rPr lang="en-US" altLang="ko-KR" dirty="0"/>
              <a:t>2</a:t>
            </a:r>
            <a:r>
              <a:rPr lang="ko-KR" altLang="en-US" dirty="0"/>
              <a:t>보다 클 수 없다</a:t>
            </a:r>
            <a:r>
              <a:rPr lang="en-US" altLang="ko-KR" dirty="0"/>
              <a:t>. (</a:t>
            </a:r>
            <a:r>
              <a:rPr lang="ko-KR" altLang="en-US" dirty="0"/>
              <a:t>자명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일반화</a:t>
            </a:r>
            <a:br>
              <a:rPr lang="en-US" altLang="ko-KR" dirty="0"/>
            </a:br>
            <a:r>
              <a:rPr lang="en-US" altLang="ko-KR" dirty="0"/>
              <a:t>F(k) </a:t>
            </a:r>
            <a:r>
              <a:rPr lang="ko-KR" altLang="en-US" dirty="0"/>
              <a:t>를 구할 때</a:t>
            </a:r>
            <a:r>
              <a:rPr lang="en-US" altLang="ko-KR" dirty="0"/>
              <a:t>, F(k-1)</a:t>
            </a:r>
            <a:r>
              <a:rPr lang="ko-KR" altLang="en-US" dirty="0"/>
              <a:t> 의 값을 활용할 수 있고</a:t>
            </a:r>
            <a:br>
              <a:rPr lang="en-US" altLang="ko-KR" dirty="0"/>
            </a:br>
            <a:r>
              <a:rPr lang="en-US" altLang="ko-KR" dirty="0"/>
              <a:t>F(k)</a:t>
            </a:r>
            <a:r>
              <a:rPr lang="ko-KR" altLang="en-US" dirty="0"/>
              <a:t>는 최대 </a:t>
            </a:r>
            <a:r>
              <a:rPr lang="en-US" altLang="ko-KR" dirty="0"/>
              <a:t>F(k-1) +1 </a:t>
            </a:r>
            <a:r>
              <a:rPr lang="ko-KR" altLang="en-US" dirty="0"/>
              <a:t>값이다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바로 뒤 글자가 같으면 </a:t>
            </a:r>
            <a:r>
              <a:rPr lang="en-US" altLang="ko-KR" dirty="0"/>
              <a:t>+1</a:t>
            </a:r>
            <a:r>
              <a:rPr lang="ko-KR" altLang="en-US" dirty="0"/>
              <a:t>로 확정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17729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B6C3CE-9278-8D8E-A120-8878CAAAF1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27B9B4-B8A7-590C-178E-EB91D7FCC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06F111E-C869-6573-71F8-795DE7B70B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 왜 갑자기</a:t>
            </a:r>
            <a:br>
              <a:rPr lang="en-US" altLang="ko-KR" dirty="0"/>
            </a:br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라고 주장하는 가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0615495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71E1A-3BCE-8F8D-7D5C-A547683A4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B77AFD-8FE4-0DAF-E9A5-A539153BD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04A176-571A-8AA8-5FB4-D07BBEC3F2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 왜 갑자기</a:t>
            </a:r>
            <a:br>
              <a:rPr lang="en-US" altLang="ko-KR" dirty="0"/>
            </a:br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라고 주장하는 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F(k-1) = L</a:t>
            </a:r>
            <a:r>
              <a:rPr lang="ko-KR" altLang="en-US" dirty="0"/>
              <a:t>이라 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 0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까지의 </a:t>
            </a:r>
            <a:r>
              <a:rPr lang="en-US" altLang="ko-KR" dirty="0"/>
              <a:t>k(=k-1+1)</a:t>
            </a:r>
            <a:r>
              <a:rPr lang="ko-KR" altLang="en-US" dirty="0"/>
              <a:t>글자 중 </a:t>
            </a:r>
            <a:r>
              <a:rPr lang="en-US" altLang="ko-KR" dirty="0"/>
              <a:t>L</a:t>
            </a:r>
            <a:r>
              <a:rPr lang="ko-KR" altLang="en-US" dirty="0"/>
              <a:t>글자만큼은 일치한다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글자 만큼일 때 인덱스는 </a:t>
            </a:r>
            <a:r>
              <a:rPr lang="en-US" altLang="ko-KR" dirty="0"/>
              <a:t>L-1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9FAD31-50D8-8C57-7A20-CE98090FC98B}"/>
              </a:ext>
            </a:extLst>
          </p:cNvPr>
          <p:cNvSpPr txBox="1"/>
          <p:nvPr/>
        </p:nvSpPr>
        <p:spPr>
          <a:xfrm>
            <a:off x="1159496" y="4269114"/>
            <a:ext cx="45599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………………………………………………. k-1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7A034B-2427-31FF-0486-CD50469A56A4}"/>
              </a:ext>
            </a:extLst>
          </p:cNvPr>
          <p:cNvSpPr txBox="1"/>
          <p:nvPr/>
        </p:nvSpPr>
        <p:spPr>
          <a:xfrm>
            <a:off x="3439479" y="4834273"/>
            <a:ext cx="4771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…………….L-1………………………………. k-1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2916933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B106E5-7E64-2716-E8FF-DCE5D434A9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9CFB52-9192-A0F2-5532-ECAB2DF30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9BCB2D-B549-F409-41F0-6071DD1B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 왜 갑자기</a:t>
            </a:r>
            <a:br>
              <a:rPr lang="en-US" altLang="ko-KR" dirty="0"/>
            </a:br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라고 주장하는 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F(k-1) = L</a:t>
            </a:r>
            <a:r>
              <a:rPr lang="ko-KR" altLang="en-US" dirty="0"/>
              <a:t>이라 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 0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까지의 </a:t>
            </a:r>
            <a:r>
              <a:rPr lang="en-US" altLang="ko-KR" dirty="0"/>
              <a:t>k(=k-1+1)</a:t>
            </a:r>
            <a:r>
              <a:rPr lang="ko-KR" altLang="en-US" dirty="0"/>
              <a:t>글자 중 </a:t>
            </a:r>
            <a:r>
              <a:rPr lang="en-US" altLang="ko-KR" dirty="0"/>
              <a:t>L</a:t>
            </a:r>
            <a:r>
              <a:rPr lang="ko-KR" altLang="en-US" dirty="0"/>
              <a:t>글자만큼은 일치한다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글자 만큼일 때 인덱스는 </a:t>
            </a:r>
            <a:r>
              <a:rPr lang="en-US" altLang="ko-KR" dirty="0"/>
              <a:t>L-1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5D3574-6081-3881-D068-1C17567750D6}"/>
              </a:ext>
            </a:extLst>
          </p:cNvPr>
          <p:cNvSpPr txBox="1"/>
          <p:nvPr/>
        </p:nvSpPr>
        <p:spPr>
          <a:xfrm>
            <a:off x="1159496" y="4269114"/>
            <a:ext cx="45599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……………………</a:t>
            </a:r>
            <a:r>
              <a:rPr lang="en-US" altLang="ko-KR" dirty="0">
                <a:solidFill>
                  <a:srgbClr val="00B050"/>
                </a:solidFill>
              </a:rPr>
              <a:t>…………………………. k-1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BD4A09-8751-B2B5-9905-9177D0730432}"/>
              </a:ext>
            </a:extLst>
          </p:cNvPr>
          <p:cNvSpPr txBox="1"/>
          <p:nvPr/>
        </p:nvSpPr>
        <p:spPr>
          <a:xfrm>
            <a:off x="3439479" y="4834273"/>
            <a:ext cx="4771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0 1 2 3 …………….L-1</a:t>
            </a:r>
            <a:r>
              <a:rPr lang="en-US" altLang="ko-KR" dirty="0"/>
              <a:t>………………………………. k-1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892962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679EE-C0C3-269C-AA21-C736ECBEE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1C72A-A135-5DE1-ABD3-A1E04B640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765C377-B589-E0DC-90C2-427D536750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 왜 갑자기</a:t>
            </a:r>
            <a:br>
              <a:rPr lang="en-US" altLang="ko-KR" dirty="0"/>
            </a:br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라고 주장하는 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F(k-1) = L</a:t>
            </a:r>
            <a:r>
              <a:rPr lang="ko-KR" altLang="en-US" dirty="0"/>
              <a:t>이라 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 0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까지의 </a:t>
            </a:r>
            <a:r>
              <a:rPr lang="en-US" altLang="ko-KR" dirty="0"/>
              <a:t>k(=k-1+1)</a:t>
            </a:r>
            <a:r>
              <a:rPr lang="ko-KR" altLang="en-US" dirty="0"/>
              <a:t>글자 중 </a:t>
            </a:r>
            <a:r>
              <a:rPr lang="en-US" altLang="ko-KR" dirty="0"/>
              <a:t>L</a:t>
            </a:r>
            <a:r>
              <a:rPr lang="ko-KR" altLang="en-US" dirty="0"/>
              <a:t>글자만큼은 일치한다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글자 만큼일 때 인덱스는 </a:t>
            </a:r>
            <a:r>
              <a:rPr lang="en-US" altLang="ko-KR" dirty="0"/>
              <a:t>L-1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843517A-256B-B166-C0C8-AC4CA3A126F6}"/>
              </a:ext>
            </a:extLst>
          </p:cNvPr>
          <p:cNvSpPr txBox="1"/>
          <p:nvPr/>
        </p:nvSpPr>
        <p:spPr>
          <a:xfrm>
            <a:off x="1159496" y="4269114"/>
            <a:ext cx="45599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……………………</a:t>
            </a:r>
            <a:r>
              <a:rPr lang="en-US" altLang="ko-KR" dirty="0">
                <a:solidFill>
                  <a:srgbClr val="00B050"/>
                </a:solidFill>
              </a:rPr>
              <a:t>…………………………. k-1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F5C9235-9A98-08FE-9055-BEC8401743B4}"/>
              </a:ext>
            </a:extLst>
          </p:cNvPr>
          <p:cNvSpPr txBox="1"/>
          <p:nvPr/>
        </p:nvSpPr>
        <p:spPr>
          <a:xfrm>
            <a:off x="3439479" y="4834273"/>
            <a:ext cx="4771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0 1 2 3 …………….L-1</a:t>
            </a:r>
            <a:r>
              <a:rPr lang="en-US" altLang="ko-KR" dirty="0"/>
              <a:t>………………………………. k-1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C4F7C760-DAEC-E53C-0DF6-00AFB3ED34DE}"/>
              </a:ext>
            </a:extLst>
          </p:cNvPr>
          <p:cNvCxnSpPr/>
          <p:nvPr/>
        </p:nvCxnSpPr>
        <p:spPr>
          <a:xfrm flipV="1">
            <a:off x="5363852" y="5354425"/>
            <a:ext cx="0" cy="669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4495F98-074C-FB66-D60A-E3474926B9FB}"/>
              </a:ext>
            </a:extLst>
          </p:cNvPr>
          <p:cNvSpPr txBox="1"/>
          <p:nvPr/>
        </p:nvSpPr>
        <p:spPr>
          <a:xfrm>
            <a:off x="4790265" y="6023728"/>
            <a:ext cx="114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F(k-1) - 1</a:t>
            </a:r>
            <a:endParaRPr lang="ko-KR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986565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EA0A04-E738-29A6-4170-E813463B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9EB445-C7BE-23BE-2F40-E777C2DCE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2D6B63-0E0A-A02D-4070-D79CB59209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🤔 왜 갑자기</a:t>
            </a:r>
            <a:br>
              <a:rPr lang="en-US" altLang="ko-KR" dirty="0"/>
            </a:br>
            <a:r>
              <a:rPr lang="en-US" altLang="ko-KR" dirty="0"/>
              <a:t>S[F(k-1)] == S[k] </a:t>
            </a:r>
            <a:r>
              <a:rPr lang="ko-KR" altLang="en-US" dirty="0"/>
              <a:t>면 </a:t>
            </a:r>
            <a:r>
              <a:rPr lang="en-US" altLang="ko-KR" dirty="0"/>
              <a:t>F(k) = F(k-1) + 1 </a:t>
            </a:r>
            <a:r>
              <a:rPr lang="ko-KR" altLang="en-US" dirty="0"/>
              <a:t>이다</a:t>
            </a:r>
            <a:r>
              <a:rPr lang="en-US" altLang="ko-KR" dirty="0"/>
              <a:t>. </a:t>
            </a:r>
            <a:r>
              <a:rPr lang="ko-KR" altLang="en-US" dirty="0"/>
              <a:t>라고 주장하는 가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F(k-1) = L</a:t>
            </a:r>
            <a:r>
              <a:rPr lang="ko-KR" altLang="en-US" dirty="0"/>
              <a:t>이라 하자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=&gt; 0</a:t>
            </a:r>
            <a:r>
              <a:rPr lang="ko-KR" altLang="en-US" dirty="0"/>
              <a:t>부터 </a:t>
            </a:r>
            <a:r>
              <a:rPr lang="en-US" altLang="ko-KR" dirty="0"/>
              <a:t>k</a:t>
            </a:r>
            <a:r>
              <a:rPr lang="ko-KR" altLang="en-US" dirty="0"/>
              <a:t>까지의 </a:t>
            </a:r>
            <a:r>
              <a:rPr lang="en-US" altLang="ko-KR" dirty="0"/>
              <a:t>k(=k-1+1)</a:t>
            </a:r>
            <a:r>
              <a:rPr lang="ko-KR" altLang="en-US" dirty="0"/>
              <a:t>글자 중 </a:t>
            </a:r>
            <a:r>
              <a:rPr lang="en-US" altLang="ko-KR" dirty="0"/>
              <a:t>L</a:t>
            </a:r>
            <a:r>
              <a:rPr lang="ko-KR" altLang="en-US" dirty="0"/>
              <a:t>글자만큼은 일치한다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L</a:t>
            </a:r>
            <a:r>
              <a:rPr lang="ko-KR" altLang="en-US" dirty="0"/>
              <a:t>글자 만큼일 때 인덱스는 </a:t>
            </a:r>
            <a:r>
              <a:rPr lang="en-US" altLang="ko-KR" dirty="0"/>
              <a:t>L-1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5448D2-0BE2-F709-97BD-A6FB8FAE6858}"/>
              </a:ext>
            </a:extLst>
          </p:cNvPr>
          <p:cNvSpPr txBox="1"/>
          <p:nvPr/>
        </p:nvSpPr>
        <p:spPr>
          <a:xfrm>
            <a:off x="1159496" y="4269114"/>
            <a:ext cx="455996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1 2 3 ……………………</a:t>
            </a:r>
            <a:r>
              <a:rPr lang="en-US" altLang="ko-KR" dirty="0">
                <a:solidFill>
                  <a:srgbClr val="00B050"/>
                </a:solidFill>
              </a:rPr>
              <a:t>…………………………. k-1</a:t>
            </a:r>
            <a:endParaRPr lang="ko-KR" altLang="en-US" dirty="0">
              <a:solidFill>
                <a:srgbClr val="00B05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7DFEBF-A467-9E72-36BE-1516E8C17D68}"/>
              </a:ext>
            </a:extLst>
          </p:cNvPr>
          <p:cNvSpPr txBox="1"/>
          <p:nvPr/>
        </p:nvSpPr>
        <p:spPr>
          <a:xfrm>
            <a:off x="3439479" y="4834273"/>
            <a:ext cx="477156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0B050"/>
                </a:solidFill>
              </a:rPr>
              <a:t>0 1 2 3 …………….L-1</a:t>
            </a:r>
            <a:r>
              <a:rPr lang="en-US" altLang="ko-KR" dirty="0"/>
              <a:t>………………………………. k-1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341CF9E-080A-FF97-719B-0BC61DBA21B1}"/>
              </a:ext>
            </a:extLst>
          </p:cNvPr>
          <p:cNvCxnSpPr/>
          <p:nvPr/>
        </p:nvCxnSpPr>
        <p:spPr>
          <a:xfrm flipV="1">
            <a:off x="5363852" y="5354425"/>
            <a:ext cx="0" cy="6693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7874F230-A028-D306-0CBC-18822A259764}"/>
              </a:ext>
            </a:extLst>
          </p:cNvPr>
          <p:cNvSpPr txBox="1"/>
          <p:nvPr/>
        </p:nvSpPr>
        <p:spPr>
          <a:xfrm>
            <a:off x="4790265" y="6023728"/>
            <a:ext cx="1147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F(k-1) - 1</a:t>
            </a:r>
            <a:endParaRPr lang="ko-KR" altLang="en-US" dirty="0">
              <a:solidFill>
                <a:schemeClr val="accent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BBB0D547-AAA5-7FE5-5BE2-E36A15748FE2}"/>
              </a:ext>
            </a:extLst>
          </p:cNvPr>
          <p:cNvSpPr txBox="1">
            <a:spLocks/>
          </p:cNvSpPr>
          <p:nvPr/>
        </p:nvSpPr>
        <p:spPr>
          <a:xfrm>
            <a:off x="6511026" y="5540285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S[F(k-1)] == S[k] </a:t>
            </a:r>
            <a:r>
              <a:rPr lang="ko-KR" altLang="en-US" dirty="0"/>
              <a:t>인지 판단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884562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63CD9-2885-1C86-F094-1493EC650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D9B119-0154-6965-80AA-C3F22A3B8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15BCAA-A88D-CA71-E6D9-0515D771E6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en-US" altLang="ko-KR" dirty="0"/>
              <a:t>F(0) : 0+1</a:t>
            </a:r>
            <a:r>
              <a:rPr lang="ko-KR" altLang="en-US" dirty="0"/>
              <a:t>글자에 대하여 자기</a:t>
            </a:r>
            <a:r>
              <a:rPr lang="en-US" altLang="ko-KR" dirty="0"/>
              <a:t> </a:t>
            </a:r>
            <a:r>
              <a:rPr lang="ko-KR" altLang="en-US" dirty="0"/>
              <a:t>자신을 빼니 무조건 </a:t>
            </a:r>
            <a:r>
              <a:rPr lang="en-US" altLang="ko-KR" dirty="0"/>
              <a:t>0</a:t>
            </a:r>
          </a:p>
          <a:p>
            <a:r>
              <a:rPr lang="en-US" altLang="ko-KR" dirty="0"/>
              <a:t>F(1) : 1+1</a:t>
            </a:r>
            <a:r>
              <a:rPr lang="ko-KR" altLang="en-US" dirty="0"/>
              <a:t>글자</a:t>
            </a:r>
            <a:r>
              <a:rPr lang="en-US" altLang="ko-KR" dirty="0"/>
              <a:t>(AB)</a:t>
            </a:r>
            <a:r>
              <a:rPr lang="ko-KR" altLang="en-US" dirty="0"/>
              <a:t>에 대하여         </a:t>
            </a:r>
            <a:r>
              <a:rPr lang="en-US" altLang="ko-KR" dirty="0"/>
              <a:t>F(1) = 0</a:t>
            </a:r>
          </a:p>
          <a:p>
            <a:endParaRPr lang="en-US" altLang="ko-KR" dirty="0"/>
          </a:p>
          <a:p>
            <a:r>
              <a:rPr lang="en-US" altLang="ko-KR" dirty="0"/>
              <a:t>F(2) : 2+1</a:t>
            </a:r>
            <a:r>
              <a:rPr lang="ko-KR" altLang="en-US" dirty="0"/>
              <a:t>글자</a:t>
            </a:r>
            <a:r>
              <a:rPr lang="en-US" altLang="ko-KR" dirty="0"/>
              <a:t>(ABA)</a:t>
            </a:r>
            <a:r>
              <a:rPr lang="ko-KR" altLang="en-US" dirty="0"/>
              <a:t>에 대하여             </a:t>
            </a:r>
            <a:r>
              <a:rPr lang="en-US" altLang="ko-KR" dirty="0"/>
              <a:t>F(2) = 1</a:t>
            </a:r>
          </a:p>
          <a:p>
            <a:endParaRPr lang="en-US" altLang="ko-KR" dirty="0"/>
          </a:p>
          <a:p>
            <a:r>
              <a:rPr lang="en-US" altLang="ko-KR" dirty="0"/>
              <a:t>F(3) : 3+1</a:t>
            </a:r>
            <a:r>
              <a:rPr lang="ko-KR" altLang="en-US" dirty="0"/>
              <a:t>글자</a:t>
            </a:r>
            <a:r>
              <a:rPr lang="en-US" altLang="ko-KR" dirty="0"/>
              <a:t>(ABAB)</a:t>
            </a:r>
            <a:r>
              <a:rPr lang="ko-KR" altLang="en-US" dirty="0"/>
              <a:t>에 대하여              </a:t>
            </a:r>
            <a:r>
              <a:rPr lang="en-US" altLang="ko-KR" dirty="0"/>
              <a:t>F(3) = 2 (F(2) </a:t>
            </a:r>
            <a:r>
              <a:rPr lang="ko-KR" altLang="en-US" dirty="0"/>
              <a:t>이용</a:t>
            </a:r>
            <a:r>
              <a:rPr lang="en-US" altLang="ko-KR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50A4CD-0833-F62F-DC48-06631A3B4159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AC6AC6-1EAD-A81D-C441-3D92636F82C8}"/>
              </a:ext>
            </a:extLst>
          </p:cNvPr>
          <p:cNvSpPr txBox="1"/>
          <p:nvPr/>
        </p:nvSpPr>
        <p:spPr>
          <a:xfrm>
            <a:off x="5733066" y="3429000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864DF5-D902-D6CF-306A-CFD2F279755B}"/>
              </a:ext>
            </a:extLst>
          </p:cNvPr>
          <p:cNvSpPr txBox="1"/>
          <p:nvPr/>
        </p:nvSpPr>
        <p:spPr>
          <a:xfrm>
            <a:off x="5978165" y="3886134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7E80192-F044-7D0D-7357-348FD9FFFF3D}"/>
              </a:ext>
            </a:extLst>
          </p:cNvPr>
          <p:cNvSpPr txBox="1"/>
          <p:nvPr/>
        </p:nvSpPr>
        <p:spPr>
          <a:xfrm>
            <a:off x="5970306" y="4401533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77F314E-2C8F-D3F2-1112-CB97BE598F68}"/>
              </a:ext>
            </a:extLst>
          </p:cNvPr>
          <p:cNvSpPr txBox="1"/>
          <p:nvPr/>
        </p:nvSpPr>
        <p:spPr>
          <a:xfrm>
            <a:off x="6427825" y="4843676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AFC88EE-F93D-8FA2-69CB-A91D208B95D4}"/>
              </a:ext>
            </a:extLst>
          </p:cNvPr>
          <p:cNvSpPr txBox="1"/>
          <p:nvPr/>
        </p:nvSpPr>
        <p:spPr>
          <a:xfrm>
            <a:off x="6160412" y="5458910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67C8E1-04B2-F4C7-F0D8-ED6F24D591DA}"/>
              </a:ext>
            </a:extLst>
          </p:cNvPr>
          <p:cNvSpPr txBox="1"/>
          <p:nvPr/>
        </p:nvSpPr>
        <p:spPr>
          <a:xfrm>
            <a:off x="6636785" y="5901053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3FAEA8-779E-1EF1-3ADC-8D5415DB5CB5}"/>
              </a:ext>
            </a:extLst>
          </p:cNvPr>
          <p:cNvSpPr txBox="1"/>
          <p:nvPr/>
        </p:nvSpPr>
        <p:spPr>
          <a:xfrm>
            <a:off x="6893837" y="5458910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B1056D5-E370-02E3-CEC6-90FAA98AA6D2}"/>
              </a:ext>
            </a:extLst>
          </p:cNvPr>
          <p:cNvSpPr txBox="1"/>
          <p:nvPr/>
        </p:nvSpPr>
        <p:spPr>
          <a:xfrm>
            <a:off x="7517577" y="5901053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771359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D4A9A9-CCB1-3A2F-B2A5-E8F94648E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C1DD00-9055-196D-E8DD-5710FA09C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79F2BE-9614-1BAA-F330-D906E70679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r>
              <a:rPr lang="en-US" altLang="ko-KR" dirty="0"/>
              <a:t>…</a:t>
            </a:r>
          </a:p>
          <a:p>
            <a:r>
              <a:rPr lang="ko-KR" altLang="en-US" dirty="0"/>
              <a:t>마지막을 구한다고 하자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S[F(9)] == S[F(8)-1(=3)] </a:t>
            </a:r>
            <a:r>
              <a:rPr lang="ko-KR" altLang="en-US" dirty="0"/>
              <a:t>이 각각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로 </a:t>
            </a:r>
            <a:r>
              <a:rPr lang="ko-KR" altLang="en-US" b="1" dirty="0">
                <a:solidFill>
                  <a:srgbClr val="FF0000"/>
                </a:solidFill>
              </a:rPr>
              <a:t>다르다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6043B5-0DEE-8673-46E0-287BFC711668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16B4A9-7A9B-0C6A-A47A-738A901A7099}"/>
              </a:ext>
            </a:extLst>
          </p:cNvPr>
          <p:cNvSpPr txBox="1"/>
          <p:nvPr/>
        </p:nvSpPr>
        <p:spPr>
          <a:xfrm>
            <a:off x="1575846" y="3433807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F9FB2E-44D3-A8B0-7461-1AFBB3F75837}"/>
              </a:ext>
            </a:extLst>
          </p:cNvPr>
          <p:cNvSpPr txBox="1"/>
          <p:nvPr/>
        </p:nvSpPr>
        <p:spPr>
          <a:xfrm>
            <a:off x="1575846" y="3939328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448143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3DAE17-69EA-74DF-597A-D8AB2E01F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E9AF931-0466-409D-0392-6B094FE3CC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4410FF-E584-3243-87BF-5C969F1B73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물론 다음과 같이 밀어도 되지만 </a:t>
            </a:r>
            <a:r>
              <a:rPr lang="en-US" altLang="ko-KR" dirty="0"/>
              <a:t>(F(8)=4</a:t>
            </a:r>
            <a:r>
              <a:rPr lang="ko-KR" altLang="en-US" dirty="0"/>
              <a:t>니까 </a:t>
            </a:r>
            <a:r>
              <a:rPr lang="en-US" altLang="ko-KR" dirty="0"/>
              <a:t>5</a:t>
            </a:r>
            <a:r>
              <a:rPr lang="ko-KR" altLang="en-US" dirty="0"/>
              <a:t>부터 거꾸로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4105FC-AA92-9DF9-81CF-FC71D09C6F11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D9A553-4486-FCEB-5118-5C7E868C0C8F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C1031E-561A-CED3-5DE8-54CF3FF2AF98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A6F5A-73BC-819B-460C-90705A14D0A3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237638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F1ADD-E444-9B85-3E46-7786929C8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7D1E59-E539-59A1-32AE-CAE51A69A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44BFB7B-BE9C-2EEE-D862-6B02FB6850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물론 다음과 같이 밀어도 되지만 </a:t>
            </a:r>
            <a:r>
              <a:rPr lang="en-US" altLang="ko-KR" dirty="0"/>
              <a:t>(F(8)=4</a:t>
            </a:r>
            <a:r>
              <a:rPr lang="ko-KR" altLang="en-US" dirty="0"/>
              <a:t>니까 </a:t>
            </a:r>
            <a:r>
              <a:rPr lang="en-US" altLang="ko-KR" dirty="0"/>
              <a:t>5</a:t>
            </a:r>
            <a:r>
              <a:rPr lang="ko-KR" altLang="en-US" dirty="0"/>
              <a:t>부터 거꾸로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069A15-8BDB-A661-34B7-11FA71EB78AB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4527F9-17AF-0103-D4AF-2FBBE9576618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1A2DA3-DB5B-67D5-4020-9ECB34245064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609EA9-61D3-4E8A-1487-5B2B429D8D0F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670C368-0FB2-0E76-31A0-67A1EF39F60A}"/>
              </a:ext>
            </a:extLst>
          </p:cNvPr>
          <p:cNvSpPr txBox="1"/>
          <p:nvPr/>
        </p:nvSpPr>
        <p:spPr>
          <a:xfrm>
            <a:off x="6099926" y="366852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</a:t>
            </a:r>
            <a:r>
              <a:rPr lang="en-US" altLang="ko-KR" b="1" dirty="0">
                <a:solidFill>
                  <a:srgbClr val="FF0000"/>
                </a:solidFill>
              </a:rPr>
              <a:t>B A 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633844-B4C6-684C-3D12-6960E203D1D7}"/>
              </a:ext>
            </a:extLst>
          </p:cNvPr>
          <p:cNvSpPr txBox="1"/>
          <p:nvPr/>
        </p:nvSpPr>
        <p:spPr>
          <a:xfrm>
            <a:off x="7488024" y="4106167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 A B</a:t>
            </a:r>
            <a:r>
              <a:rPr lang="en-US" altLang="ko-KR" dirty="0"/>
              <a:t> C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779377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0B1F-35B0-3279-9078-4025766A9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FB8C84-B825-8372-648C-ED5F30EE53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2F542A-C7FD-AFFE-C175-98604AAA48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물론 다음과 같이 밀어도 되지만 </a:t>
            </a:r>
            <a:r>
              <a:rPr lang="en-US" altLang="ko-KR" dirty="0"/>
              <a:t>(F(8)=4</a:t>
            </a:r>
            <a:r>
              <a:rPr lang="ko-KR" altLang="en-US" dirty="0"/>
              <a:t>니까 </a:t>
            </a:r>
            <a:r>
              <a:rPr lang="en-US" altLang="ko-KR" dirty="0"/>
              <a:t>5</a:t>
            </a:r>
            <a:r>
              <a:rPr lang="ko-KR" altLang="en-US" dirty="0"/>
              <a:t>부터 거꾸로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B4DB24-E2AB-EB07-C575-988ADC2F969F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77EEE-6CB6-D450-FF43-B91A2D1B7A84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2253-2F12-94E6-6CCD-F952C1EAF963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55B6C9-50C7-77D4-E7FF-626840176A3F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BB8BCD7-1981-3F61-1A13-29CD795E2B24}"/>
              </a:ext>
            </a:extLst>
          </p:cNvPr>
          <p:cNvSpPr txBox="1"/>
          <p:nvPr/>
        </p:nvSpPr>
        <p:spPr>
          <a:xfrm>
            <a:off x="6099926" y="366852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</a:t>
            </a:r>
            <a:r>
              <a:rPr lang="en-US" altLang="ko-KR" b="1" dirty="0">
                <a:solidFill>
                  <a:srgbClr val="FF0000"/>
                </a:solidFill>
              </a:rPr>
              <a:t>B A 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36137A-6B9F-5ED6-4E37-530BB0146A9F}"/>
              </a:ext>
            </a:extLst>
          </p:cNvPr>
          <p:cNvSpPr txBox="1"/>
          <p:nvPr/>
        </p:nvSpPr>
        <p:spPr>
          <a:xfrm>
            <a:off x="7488024" y="4106167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 A B</a:t>
            </a:r>
            <a:r>
              <a:rPr lang="en-US" altLang="ko-KR" dirty="0"/>
              <a:t> C A B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08BCA4-7A19-6099-AD4F-6CB82F80AFCD}"/>
              </a:ext>
            </a:extLst>
          </p:cNvPr>
          <p:cNvSpPr txBox="1"/>
          <p:nvPr/>
        </p:nvSpPr>
        <p:spPr>
          <a:xfrm>
            <a:off x="2498887" y="4884585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</a:t>
            </a:r>
            <a:r>
              <a:rPr lang="en-US" altLang="ko-KR" b="1" dirty="0">
                <a:solidFill>
                  <a:srgbClr val="00B050"/>
                </a:solidFill>
              </a:rPr>
              <a:t>A B 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508769-0903-CFB7-6332-BFB10F4A6580}"/>
              </a:ext>
            </a:extLst>
          </p:cNvPr>
          <p:cNvSpPr txBox="1"/>
          <p:nvPr/>
        </p:nvSpPr>
        <p:spPr>
          <a:xfrm>
            <a:off x="4075519" y="5322228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</a:t>
            </a:r>
            <a:r>
              <a:rPr lang="en-US" altLang="ko-KR" dirty="0"/>
              <a:t>B C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8333059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38DF1E-D45E-0645-7242-8E751F655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474BC-C425-F308-4D2A-B7E15B087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9EF9657-32B6-A81B-BA3A-76312BA40D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물론 다음과 같이 밀어도 되지만 </a:t>
            </a:r>
            <a:r>
              <a:rPr lang="en-US" altLang="ko-KR" dirty="0"/>
              <a:t>(F(8)=4</a:t>
            </a:r>
            <a:r>
              <a:rPr lang="ko-KR" altLang="en-US" dirty="0"/>
              <a:t>니까 </a:t>
            </a:r>
            <a:r>
              <a:rPr lang="en-US" altLang="ko-KR" dirty="0"/>
              <a:t>5</a:t>
            </a:r>
            <a:r>
              <a:rPr lang="ko-KR" altLang="en-US" dirty="0"/>
              <a:t>부터 거꾸로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BDB8BF-D0DA-7B59-1775-4147933A2647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4C064-2E71-B2DC-D916-A374C7CE4093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193AC5-F2ED-F685-B494-34168EC6E1E7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F53167-6694-5861-3D6B-2343D7D2A6EE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692DCA-9EE5-AE9A-3EEC-115156A81FBD}"/>
              </a:ext>
            </a:extLst>
          </p:cNvPr>
          <p:cNvSpPr txBox="1"/>
          <p:nvPr/>
        </p:nvSpPr>
        <p:spPr>
          <a:xfrm>
            <a:off x="6099926" y="366852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</a:t>
            </a:r>
            <a:r>
              <a:rPr lang="en-US" altLang="ko-KR" b="1" dirty="0">
                <a:solidFill>
                  <a:srgbClr val="FF0000"/>
                </a:solidFill>
              </a:rPr>
              <a:t>B A 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F321F1-6963-75B7-F15A-84E24C1D3A66}"/>
              </a:ext>
            </a:extLst>
          </p:cNvPr>
          <p:cNvSpPr txBox="1"/>
          <p:nvPr/>
        </p:nvSpPr>
        <p:spPr>
          <a:xfrm>
            <a:off x="7488024" y="4106167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 A B</a:t>
            </a:r>
            <a:r>
              <a:rPr lang="en-US" altLang="ko-KR" dirty="0"/>
              <a:t> C A B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AEF0C5A-7155-EC7B-189E-BBA98495BA37}"/>
              </a:ext>
            </a:extLst>
          </p:cNvPr>
          <p:cNvSpPr txBox="1"/>
          <p:nvPr/>
        </p:nvSpPr>
        <p:spPr>
          <a:xfrm>
            <a:off x="2498887" y="4884585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</a:t>
            </a:r>
            <a:r>
              <a:rPr lang="en-US" altLang="ko-KR" b="1" dirty="0">
                <a:solidFill>
                  <a:srgbClr val="00B050"/>
                </a:solidFill>
              </a:rPr>
              <a:t>A B 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D05A8AA-C009-3787-0218-E7203BC5FED5}"/>
              </a:ext>
            </a:extLst>
          </p:cNvPr>
          <p:cNvSpPr txBox="1"/>
          <p:nvPr/>
        </p:nvSpPr>
        <p:spPr>
          <a:xfrm>
            <a:off x="4075519" y="5322228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</a:t>
            </a:r>
            <a:r>
              <a:rPr lang="en-US" altLang="ko-KR" dirty="0"/>
              <a:t>B C A B A B A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5864A3E4-1090-44A2-67C6-49E96570E1BB}"/>
              </a:ext>
            </a:extLst>
          </p:cNvPr>
          <p:cNvSpPr txBox="1">
            <a:spLocks/>
          </p:cNvSpPr>
          <p:nvPr/>
        </p:nvSpPr>
        <p:spPr>
          <a:xfrm>
            <a:off x="6511026" y="5540285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F(9) = 3</a:t>
            </a:r>
          </a:p>
        </p:txBody>
      </p:sp>
    </p:spTree>
    <p:extLst>
      <p:ext uri="{BB962C8B-B14F-4D97-AF65-F5344CB8AC3E}">
        <p14:creationId xmlns:p14="http://schemas.microsoft.com/office/powerpoint/2010/main" val="416745109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F283D-51F8-E1B6-EA41-CA9F82A3A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E7E50C-77C6-6D7B-0480-A16945BDA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147B7-3ACD-4ABB-C2F2-BDAD26482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물론 다음과 같이 밀어도 되지만 </a:t>
            </a:r>
            <a:r>
              <a:rPr lang="en-US" altLang="ko-KR" dirty="0"/>
              <a:t>(F(8)=4</a:t>
            </a:r>
            <a:r>
              <a:rPr lang="ko-KR" altLang="en-US" dirty="0"/>
              <a:t>니까 </a:t>
            </a:r>
            <a:r>
              <a:rPr lang="en-US" altLang="ko-KR" dirty="0"/>
              <a:t>5</a:t>
            </a:r>
            <a:r>
              <a:rPr lang="ko-KR" altLang="en-US" dirty="0"/>
              <a:t>부터 거꾸로</a:t>
            </a:r>
            <a:r>
              <a:rPr lang="en-US" altLang="ko-KR" dirty="0"/>
              <a:t>)</a:t>
            </a:r>
          </a:p>
          <a:p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5A7C8F-26A3-D4C6-27DC-DD5ADC06F497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440C24-E36F-14B5-A3DB-43D41FD643AF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EBBEB27-8121-9B8A-13D7-4C88954D1864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58DC60-27AF-6460-B06B-9F5FFB45F283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956508-DEC7-D595-2666-37D6ECD27599}"/>
              </a:ext>
            </a:extLst>
          </p:cNvPr>
          <p:cNvSpPr txBox="1"/>
          <p:nvPr/>
        </p:nvSpPr>
        <p:spPr>
          <a:xfrm>
            <a:off x="6099926" y="366852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</a:t>
            </a:r>
            <a:r>
              <a:rPr lang="en-US" altLang="ko-KR" b="1" dirty="0">
                <a:solidFill>
                  <a:srgbClr val="FF0000"/>
                </a:solidFill>
              </a:rPr>
              <a:t>B A B 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7F7275-4FFF-5F88-9584-DA689A9635AA}"/>
              </a:ext>
            </a:extLst>
          </p:cNvPr>
          <p:cNvSpPr txBox="1"/>
          <p:nvPr/>
        </p:nvSpPr>
        <p:spPr>
          <a:xfrm>
            <a:off x="7488024" y="4106167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 B A B</a:t>
            </a:r>
            <a:r>
              <a:rPr lang="en-US" altLang="ko-KR" dirty="0"/>
              <a:t> C A B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0D86364-7D5A-9E40-852B-8BE459B99E56}"/>
              </a:ext>
            </a:extLst>
          </p:cNvPr>
          <p:cNvSpPr txBox="1"/>
          <p:nvPr/>
        </p:nvSpPr>
        <p:spPr>
          <a:xfrm>
            <a:off x="2498887" y="4884585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</a:t>
            </a:r>
            <a:r>
              <a:rPr lang="en-US" altLang="ko-KR" b="1" dirty="0">
                <a:solidFill>
                  <a:srgbClr val="00B050"/>
                </a:solidFill>
              </a:rPr>
              <a:t>A B A</a:t>
            </a:r>
            <a:endParaRPr lang="ko-KR" altLang="en-US" b="1" dirty="0">
              <a:solidFill>
                <a:srgbClr val="00B05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74ECAA9-15FE-1FCE-39C2-3F8076BF1CDE}"/>
              </a:ext>
            </a:extLst>
          </p:cNvPr>
          <p:cNvSpPr txBox="1"/>
          <p:nvPr/>
        </p:nvSpPr>
        <p:spPr>
          <a:xfrm>
            <a:off x="4075519" y="5322228"/>
            <a:ext cx="239841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</a:t>
            </a:r>
            <a:r>
              <a:rPr lang="en-US" altLang="ko-KR" dirty="0"/>
              <a:t>B C A B A B A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6FA199D2-26BF-0721-AC82-3E474D761A77}"/>
              </a:ext>
            </a:extLst>
          </p:cNvPr>
          <p:cNvSpPr txBox="1">
            <a:spLocks/>
          </p:cNvSpPr>
          <p:nvPr/>
        </p:nvSpPr>
        <p:spPr>
          <a:xfrm>
            <a:off x="6511026" y="5540285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그러나 더 영리하게 밀 순 없나</a:t>
            </a:r>
            <a:r>
              <a:rPr lang="en-US" altLang="ko-KR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402826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9D300-6176-B84D-6DCC-D13920682C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6BA349-5F91-096A-A8CF-6E1F2A2608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621F29B-4A54-7DC7-00F3-A648E76D2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821B015-4ECA-FB1B-BC87-F7D9DB11DE08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33274F-6FDE-0A9D-0D3E-D7833B52F17C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2FC32C-164B-2B6B-AB14-1FE29D49178C}"/>
              </a:ext>
            </a:extLst>
          </p:cNvPr>
          <p:cNvSpPr txBox="1"/>
          <p:nvPr/>
        </p:nvSpPr>
        <p:spPr>
          <a:xfrm>
            <a:off x="2497317" y="3676380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</a:t>
            </a:r>
            <a:r>
              <a:rPr lang="en-US" altLang="ko-KR" b="1" dirty="0">
                <a:solidFill>
                  <a:srgbClr val="00B050"/>
                </a:solidFill>
              </a:rPr>
              <a:t>A B A B </a:t>
            </a:r>
            <a:r>
              <a:rPr lang="en-US" altLang="ko-KR" b="1" dirty="0">
                <a:solidFill>
                  <a:srgbClr val="FF0000"/>
                </a:solidFill>
              </a:rPr>
              <a:t>A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64EEB3-878B-0ACF-F41F-1A3FF453FDC3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81A713-FAB0-5D08-6D83-9AF3F855E5E5}"/>
              </a:ext>
            </a:extLst>
          </p:cNvPr>
          <p:cNvSpPr txBox="1"/>
          <p:nvPr/>
        </p:nvSpPr>
        <p:spPr>
          <a:xfrm>
            <a:off x="3884067" y="4557339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827493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DE61E-5533-C496-4A39-56226DD4F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4D0F70-998B-F7CA-D470-52564FE6B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8874DB-4707-8250-82F6-13D33CEB39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0FE86D-096D-F9B5-7205-B2061D5F1A92}"/>
              </a:ext>
            </a:extLst>
          </p:cNvPr>
          <p:cNvSpPr txBox="1"/>
          <p:nvPr/>
        </p:nvSpPr>
        <p:spPr>
          <a:xfrm>
            <a:off x="1517714" y="1886515"/>
            <a:ext cx="236635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C 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F22F06-BD56-1A35-F5ED-854EB4A8B6D6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DE1F563-95A3-3215-5800-CA565B3B464D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ABBB93-25AD-4B49-074D-E5B7A16FC2E7}"/>
              </a:ext>
            </a:extLst>
          </p:cNvPr>
          <p:cNvSpPr txBox="1"/>
          <p:nvPr/>
        </p:nvSpPr>
        <p:spPr>
          <a:xfrm>
            <a:off x="3884067" y="4557339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B68A99CC-4450-8EBC-708A-AF5B1F552DD9}"/>
              </a:ext>
            </a:extLst>
          </p:cNvPr>
          <p:cNvSpPr txBox="1">
            <a:spLocks/>
          </p:cNvSpPr>
          <p:nvPr/>
        </p:nvSpPr>
        <p:spPr>
          <a:xfrm>
            <a:off x="6454465" y="4258562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밀어낸 상태의 </a:t>
            </a:r>
            <a:r>
              <a:rPr lang="ko-KR" altLang="en-US" dirty="0" err="1"/>
              <a:t>접두</a:t>
            </a:r>
            <a:r>
              <a:rPr lang="ko-KR" altLang="en-US" dirty="0"/>
              <a:t> 쪽을 다시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놓고 비교를 한다면</a:t>
            </a:r>
            <a:r>
              <a:rPr lang="en-US" altLang="ko-KR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42575385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B9CA74-6C71-F434-2074-C1BC7BBAB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6F8A2C-7BDE-37C1-3EE3-C08F7BEBA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3AB888-3EF4-B638-C972-BE40CCECC4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3FFEAE8-B001-1611-F0C1-1DB71BB9D329}"/>
              </a:ext>
            </a:extLst>
          </p:cNvPr>
          <p:cNvSpPr txBox="1"/>
          <p:nvPr/>
        </p:nvSpPr>
        <p:spPr>
          <a:xfrm>
            <a:off x="1517714" y="1886515"/>
            <a:ext cx="2412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A B A B C </a:t>
            </a:r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CA5EFBE-DC40-B766-1BDC-8A0C532BFB9B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101AA5B-C802-D838-C444-76FD7E01DE21}"/>
              </a:ext>
            </a:extLst>
          </p:cNvPr>
          <p:cNvSpPr txBox="1"/>
          <p:nvPr/>
        </p:nvSpPr>
        <p:spPr>
          <a:xfrm>
            <a:off x="3612035" y="4114023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51D872-8AF7-90D6-189B-DF0076A017C0}"/>
              </a:ext>
            </a:extLst>
          </p:cNvPr>
          <p:cNvSpPr txBox="1"/>
          <p:nvPr/>
        </p:nvSpPr>
        <p:spPr>
          <a:xfrm>
            <a:off x="3884067" y="4557339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 B A</a:t>
            </a:r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183D23EE-8A40-BB41-4C4C-4CABF3713EEC}"/>
              </a:ext>
            </a:extLst>
          </p:cNvPr>
          <p:cNvSpPr txBox="1">
            <a:spLocks/>
          </p:cNvSpPr>
          <p:nvPr/>
        </p:nvSpPr>
        <p:spPr>
          <a:xfrm>
            <a:off x="6454465" y="4258562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밀어낸 상태의 </a:t>
            </a:r>
            <a:r>
              <a:rPr lang="ko-KR" altLang="en-US" dirty="0" err="1"/>
              <a:t>접두</a:t>
            </a:r>
            <a:r>
              <a:rPr lang="ko-KR" altLang="en-US" dirty="0"/>
              <a:t> 쪽을 다시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놓고 비교를 한다면</a:t>
            </a:r>
            <a:r>
              <a:rPr lang="en-US" altLang="ko-KR" dirty="0"/>
              <a:t>…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808A851-B233-A18A-B099-FA383310FDCD}"/>
              </a:ext>
            </a:extLst>
          </p:cNvPr>
          <p:cNvSpPr txBox="1">
            <a:spLocks/>
          </p:cNvSpPr>
          <p:nvPr/>
        </p:nvSpPr>
        <p:spPr>
          <a:xfrm>
            <a:off x="4183475" y="2115995"/>
            <a:ext cx="5362575" cy="9668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갑자기 이 부분이 눈에 들어온다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6380711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BFADB-0CE8-C74D-C30F-8D786568C9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EC075D-1BD7-D18F-605A-C03A8858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BEC09C-C320-3136-DBD5-2257BA571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F0D64C-FAED-1F72-C317-782960169531}"/>
              </a:ext>
            </a:extLst>
          </p:cNvPr>
          <p:cNvSpPr txBox="1"/>
          <p:nvPr/>
        </p:nvSpPr>
        <p:spPr>
          <a:xfrm>
            <a:off x="1517714" y="1886515"/>
            <a:ext cx="2412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A B A B C </a:t>
            </a:r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444905-E0DF-3767-0083-4C5750BC2FE8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72757B-E65A-0C91-01A5-291131A3D3DF}"/>
              </a:ext>
            </a:extLst>
          </p:cNvPr>
          <p:cNvSpPr txBox="1"/>
          <p:nvPr/>
        </p:nvSpPr>
        <p:spPr>
          <a:xfrm>
            <a:off x="3612035" y="4114023"/>
            <a:ext cx="13596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C8BA41-2403-EE73-5C1A-1754C6E103E8}"/>
              </a:ext>
            </a:extLst>
          </p:cNvPr>
          <p:cNvSpPr txBox="1"/>
          <p:nvPr/>
        </p:nvSpPr>
        <p:spPr>
          <a:xfrm>
            <a:off x="3884067" y="4557339"/>
            <a:ext cx="135966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3145714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8D9F6-9F4F-F4B8-88D4-7E97E64A2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340C8B-18A3-4504-0A72-27AF807D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D5D6775-E806-C8BA-DB2B-05C2824B9E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3D5A13-BA83-A510-98D5-9E0B6FE8A630}"/>
              </a:ext>
            </a:extLst>
          </p:cNvPr>
          <p:cNvSpPr txBox="1"/>
          <p:nvPr/>
        </p:nvSpPr>
        <p:spPr>
          <a:xfrm>
            <a:off x="1517714" y="1886515"/>
            <a:ext cx="2412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A B A B C </a:t>
            </a:r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89450F-BC4C-DAC5-3429-FAE8EAF8DDE4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D5E717D-5862-C098-60AE-07DA7EEAE145}"/>
              </a:ext>
            </a:extLst>
          </p:cNvPr>
          <p:cNvSpPr txBox="1"/>
          <p:nvPr/>
        </p:nvSpPr>
        <p:spPr>
          <a:xfrm>
            <a:off x="3612035" y="4114023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</a:t>
            </a:r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C2A5D3-4A7A-FC70-285D-50AF2EAB344C}"/>
              </a:ext>
            </a:extLst>
          </p:cNvPr>
          <p:cNvSpPr txBox="1"/>
          <p:nvPr/>
        </p:nvSpPr>
        <p:spPr>
          <a:xfrm>
            <a:off x="4072604" y="4557339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A B 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E0DF1148-35F3-7900-9671-F4DDF744612A}"/>
              </a:ext>
            </a:extLst>
          </p:cNvPr>
          <p:cNvSpPr txBox="1">
            <a:spLocks/>
          </p:cNvSpPr>
          <p:nvPr/>
        </p:nvSpPr>
        <p:spPr>
          <a:xfrm>
            <a:off x="5297865" y="4079223"/>
            <a:ext cx="644376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4</a:t>
            </a:r>
            <a:r>
              <a:rPr lang="ko-KR" altLang="en-US" dirty="0"/>
              <a:t>글자라는 것은 </a:t>
            </a:r>
            <a:r>
              <a:rPr lang="en-US" altLang="ko-KR" dirty="0"/>
              <a:t>3+1</a:t>
            </a:r>
            <a:r>
              <a:rPr lang="ko-KR" altLang="en-US" dirty="0" err="1"/>
              <a:t>글자니까</a:t>
            </a:r>
            <a:endParaRPr lang="en-US" altLang="ko-KR" dirty="0"/>
          </a:p>
          <a:p>
            <a:pPr marL="0" indent="0" algn="ctr">
              <a:buNone/>
            </a:pPr>
            <a:r>
              <a:rPr lang="en-US" altLang="ko-KR" dirty="0"/>
              <a:t>F(3) = 2 </a:t>
            </a:r>
            <a:r>
              <a:rPr lang="ko-KR" altLang="en-US" dirty="0"/>
              <a:t>인 것을 활용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051825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1D7A6-AF45-6CED-6499-DF38220FA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AEFF30-AA65-61A0-EFF9-4CE78D1BF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363343-43B5-D752-D145-9B49544CA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F0CF34-8E61-1A4B-26E0-366756126C3E}"/>
              </a:ext>
            </a:extLst>
          </p:cNvPr>
          <p:cNvSpPr txBox="1"/>
          <p:nvPr/>
        </p:nvSpPr>
        <p:spPr>
          <a:xfrm>
            <a:off x="1517714" y="1886515"/>
            <a:ext cx="2412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A B A B C </a:t>
            </a:r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DF5563-87B2-F3B2-648E-72D623CB283F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419C3E-DA37-28B9-CFE8-A9CF55384CC2}"/>
              </a:ext>
            </a:extLst>
          </p:cNvPr>
          <p:cNvSpPr txBox="1"/>
          <p:nvPr/>
        </p:nvSpPr>
        <p:spPr>
          <a:xfrm>
            <a:off x="3612035" y="4114023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</a:t>
            </a:r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1568059-04EF-CF54-BF2F-8ACFF73B71C6}"/>
              </a:ext>
            </a:extLst>
          </p:cNvPr>
          <p:cNvSpPr txBox="1"/>
          <p:nvPr/>
        </p:nvSpPr>
        <p:spPr>
          <a:xfrm>
            <a:off x="4072604" y="4557339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A B 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A99EDF9-77D8-EC53-C5EC-CDE1730C1B4B}"/>
              </a:ext>
            </a:extLst>
          </p:cNvPr>
          <p:cNvSpPr txBox="1">
            <a:spLocks/>
          </p:cNvSpPr>
          <p:nvPr/>
        </p:nvSpPr>
        <p:spPr>
          <a:xfrm>
            <a:off x="5297865" y="4079223"/>
            <a:ext cx="6443762" cy="1325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dirty="0"/>
              <a:t>4</a:t>
            </a:r>
            <a:r>
              <a:rPr lang="ko-KR" altLang="en-US" dirty="0"/>
              <a:t>글자라는 것은 </a:t>
            </a:r>
            <a:r>
              <a:rPr lang="en-US" altLang="ko-KR" dirty="0"/>
              <a:t>3+1</a:t>
            </a:r>
            <a:r>
              <a:rPr lang="ko-KR" altLang="en-US" dirty="0" err="1"/>
              <a:t>글자니까</a:t>
            </a:r>
            <a:endParaRPr lang="en-US" altLang="ko-KR" dirty="0"/>
          </a:p>
          <a:p>
            <a:pPr marL="0" indent="0" algn="ctr">
              <a:buNone/>
            </a:pPr>
            <a:r>
              <a:rPr lang="en-US" altLang="ko-KR" dirty="0"/>
              <a:t>F(3) = 2 </a:t>
            </a:r>
            <a:r>
              <a:rPr lang="ko-KR" altLang="en-US" dirty="0"/>
              <a:t>인 것을 활용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B90C41-66CE-3CC8-4CD4-8BC9BBA8EDA0}"/>
              </a:ext>
            </a:extLst>
          </p:cNvPr>
          <p:cNvSpPr txBox="1"/>
          <p:nvPr/>
        </p:nvSpPr>
        <p:spPr>
          <a:xfrm>
            <a:off x="4565717" y="4115591"/>
            <a:ext cx="3465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108658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9C442-4070-94DC-AC6B-1E9147F98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7DB86D-7CA8-AA46-9816-49F9CBCDD2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1A08D-2305-AA38-C593-5AEFB4983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S </a:t>
            </a:r>
          </a:p>
          <a:p>
            <a:endParaRPr lang="en-US" altLang="ko-KR" dirty="0"/>
          </a:p>
          <a:p>
            <a:r>
              <a:rPr lang="ko-KR" altLang="en-US" dirty="0"/>
              <a:t>사실 </a:t>
            </a:r>
            <a:r>
              <a:rPr lang="en-US" altLang="ko-KR" dirty="0"/>
              <a:t>F(8) = 4 </a:t>
            </a:r>
            <a:r>
              <a:rPr lang="ko-KR" altLang="en-US" dirty="0"/>
              <a:t>라는 것으로 부터 실제 </a:t>
            </a:r>
            <a:r>
              <a:rPr lang="en-US" altLang="ko-KR" dirty="0"/>
              <a:t>4</a:t>
            </a:r>
            <a:r>
              <a:rPr lang="ko-KR" altLang="en-US" dirty="0"/>
              <a:t>글자가 일치한다는 걸 앎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D56EF5-C9A7-E6CD-086E-31C5EF0BBAC1}"/>
              </a:ext>
            </a:extLst>
          </p:cNvPr>
          <p:cNvSpPr txBox="1"/>
          <p:nvPr/>
        </p:nvSpPr>
        <p:spPr>
          <a:xfrm>
            <a:off x="1517714" y="1886515"/>
            <a:ext cx="24128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F0"/>
                </a:solidFill>
              </a:rPr>
              <a:t>A B A B C </a:t>
            </a:r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49C894-0788-CF97-3D7D-C7CFF971A5C5}"/>
              </a:ext>
            </a:extLst>
          </p:cNvPr>
          <p:cNvSpPr txBox="1"/>
          <p:nvPr/>
        </p:nvSpPr>
        <p:spPr>
          <a:xfrm>
            <a:off x="1517714" y="2390784"/>
            <a:ext cx="241123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0 1 2  3 4  ?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8FADB3-087A-5199-7B3C-EFE5C22F6C3D}"/>
              </a:ext>
            </a:extLst>
          </p:cNvPr>
          <p:cNvSpPr txBox="1"/>
          <p:nvPr/>
        </p:nvSpPr>
        <p:spPr>
          <a:xfrm>
            <a:off x="3612035" y="4114023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</a:t>
            </a:r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4AB3EF-497D-7087-0B3E-AEE9998D3D27}"/>
              </a:ext>
            </a:extLst>
          </p:cNvPr>
          <p:cNvSpPr txBox="1"/>
          <p:nvPr/>
        </p:nvSpPr>
        <p:spPr>
          <a:xfrm>
            <a:off x="4072604" y="4557339"/>
            <a:ext cx="1107996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7030A0"/>
                </a:solidFill>
              </a:rPr>
              <a:t>A</a:t>
            </a:r>
            <a:r>
              <a:rPr lang="en-US" altLang="ko-KR" dirty="0"/>
              <a:t> B 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7F67518-B5F0-A584-39CF-990DE273786E}"/>
              </a:ext>
            </a:extLst>
          </p:cNvPr>
          <p:cNvSpPr txBox="1">
            <a:spLocks/>
          </p:cNvSpPr>
          <p:nvPr/>
        </p:nvSpPr>
        <p:spPr>
          <a:xfrm>
            <a:off x="5297865" y="4079223"/>
            <a:ext cx="6443762" cy="1953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dirty="0"/>
              <a:t>그 다음 인덱스의</a:t>
            </a:r>
            <a:r>
              <a:rPr lang="en-US" altLang="ko-KR" dirty="0"/>
              <a:t> </a:t>
            </a:r>
            <a:r>
              <a:rPr lang="ko-KR" altLang="en-US" dirty="0"/>
              <a:t>값이</a:t>
            </a:r>
            <a:endParaRPr lang="en-US" altLang="ko-KR" dirty="0"/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</a:t>
            </a:r>
            <a:r>
              <a:rPr lang="ko-KR" altLang="en-US" dirty="0"/>
              <a:t>로 일치 </a:t>
            </a:r>
            <a:r>
              <a:rPr lang="en-US" altLang="ko-KR" dirty="0"/>
              <a:t>-&gt; +1 </a:t>
            </a:r>
            <a:r>
              <a:rPr lang="ko-KR" altLang="en-US" dirty="0"/>
              <a:t>처리</a:t>
            </a:r>
            <a:endParaRPr lang="en-US" altLang="ko-KR" dirty="0"/>
          </a:p>
          <a:p>
            <a:pPr marL="0" indent="0" algn="ctr">
              <a:buNone/>
            </a:pPr>
            <a:r>
              <a:rPr lang="ko-KR" altLang="en-US" dirty="0"/>
              <a:t>따라서</a:t>
            </a:r>
            <a:r>
              <a:rPr lang="en-US" altLang="ko-KR" dirty="0"/>
              <a:t>, F(9) = </a:t>
            </a:r>
            <a:r>
              <a:rPr lang="en-US" altLang="ko-KR" b="1" dirty="0">
                <a:solidFill>
                  <a:srgbClr val="7030A0"/>
                </a:solidFill>
              </a:rPr>
              <a:t>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BB2978-053A-D1DE-771A-37D2EAA6F4EE}"/>
              </a:ext>
            </a:extLst>
          </p:cNvPr>
          <p:cNvSpPr txBox="1"/>
          <p:nvPr/>
        </p:nvSpPr>
        <p:spPr>
          <a:xfrm>
            <a:off x="4546863" y="4106164"/>
            <a:ext cx="34657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</a:rPr>
              <a:t>A</a:t>
            </a:r>
            <a:endParaRPr lang="ko-KR" altLang="en-US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819169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2DFE072-F1B5-EBD8-21E1-2A468C516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0x01 </a:t>
            </a:r>
            <a:r>
              <a:rPr lang="ko-KR" altLang="en-US" dirty="0"/>
              <a:t>실패 함수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650348-8A68-3AB5-72CF-BD1464F086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ko-KR" altLang="en-US" dirty="0"/>
              <a:t>코드로 작성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DBC4CFE-573B-273D-80EE-2642DDB2F3C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패턴 벡터 </a:t>
            </a:r>
            <a:r>
              <a:rPr lang="en-US" altLang="ko-KR" sz="2000" dirty="0"/>
              <a:t>failure</a:t>
            </a:r>
          </a:p>
          <a:p>
            <a:r>
              <a:rPr lang="ko-KR" altLang="en-US" sz="2000" dirty="0"/>
              <a:t>실패함수 벡터 초기 </a:t>
            </a:r>
            <a:r>
              <a:rPr lang="en-US" altLang="ko-KR" sz="2000" dirty="0"/>
              <a:t>0</a:t>
            </a:r>
          </a:p>
          <a:p>
            <a:endParaRPr lang="en-US" altLang="ko-KR" sz="2000" dirty="0"/>
          </a:p>
          <a:p>
            <a:r>
              <a:rPr lang="en-US" altLang="ko-KR" sz="2000" dirty="0"/>
              <a:t>j -&gt;</a:t>
            </a:r>
            <a:r>
              <a:rPr lang="ko-KR" altLang="en-US" sz="2000" dirty="0"/>
              <a:t> 현재 일치하는 접두사 끝</a:t>
            </a:r>
            <a:endParaRPr lang="en-US" altLang="ko-KR" sz="2000" dirty="0"/>
          </a:p>
          <a:p>
            <a:pPr lvl="1"/>
            <a:r>
              <a:rPr lang="en-US" altLang="ko-KR" sz="1800" dirty="0"/>
              <a:t>F(9) </a:t>
            </a:r>
            <a:r>
              <a:rPr lang="ko-KR" altLang="en-US" sz="1800" dirty="0"/>
              <a:t>구하는 거 기준 </a:t>
            </a:r>
            <a:r>
              <a:rPr lang="en-US" altLang="ko-KR" sz="1800" dirty="0"/>
              <a:t>F(8)=4, j=4</a:t>
            </a:r>
          </a:p>
          <a:p>
            <a:r>
              <a:rPr lang="en-US" altLang="ko-KR" sz="2000" dirty="0"/>
              <a:t>i</a:t>
            </a:r>
            <a:r>
              <a:rPr lang="ko-KR" altLang="en-US" sz="2000" dirty="0"/>
              <a:t> </a:t>
            </a:r>
            <a:r>
              <a:rPr lang="en-US" altLang="ko-KR" sz="2000" dirty="0"/>
              <a:t>-&gt; 1</a:t>
            </a:r>
            <a:r>
              <a:rPr lang="ko-KR" altLang="en-US" sz="2000" dirty="0"/>
              <a:t>번 인덱스부터 끝까지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같으면 </a:t>
            </a:r>
            <a:r>
              <a:rPr lang="en-US" altLang="ko-KR" sz="2000" dirty="0"/>
              <a:t>++j</a:t>
            </a:r>
          </a:p>
          <a:p>
            <a:r>
              <a:rPr lang="ko-KR" altLang="en-US" sz="2000" dirty="0"/>
              <a:t>다르면 지금까지 길이 포기하고 앞으로 이동 </a:t>
            </a:r>
            <a:r>
              <a:rPr lang="en-US" altLang="ko-KR" sz="2000" dirty="0"/>
              <a:t>F(j-1) </a:t>
            </a:r>
            <a:r>
              <a:rPr lang="ko-KR" altLang="en-US" sz="2000" dirty="0"/>
              <a:t>인덱스로</a:t>
            </a:r>
            <a:endParaRPr lang="en-US" altLang="ko-KR" sz="2000" dirty="0"/>
          </a:p>
          <a:p>
            <a:pPr lvl="1"/>
            <a:r>
              <a:rPr lang="ko-KR" altLang="en-US" sz="1800" dirty="0"/>
              <a:t>결국 </a:t>
            </a:r>
            <a:r>
              <a:rPr lang="en-US" altLang="ko-KR" sz="1800" dirty="0"/>
              <a:t>j</a:t>
            </a:r>
            <a:r>
              <a:rPr lang="ko-KR" altLang="en-US" sz="1800" dirty="0"/>
              <a:t>가 </a:t>
            </a:r>
            <a:r>
              <a:rPr lang="en-US" altLang="ko-KR" sz="1800" dirty="0"/>
              <a:t>4</a:t>
            </a:r>
            <a:r>
              <a:rPr lang="ko-KR" altLang="en-US" sz="1800" dirty="0"/>
              <a:t>였으니 </a:t>
            </a:r>
            <a:r>
              <a:rPr lang="en-US" altLang="ko-KR" sz="1800" dirty="0"/>
              <a:t>4-1</a:t>
            </a:r>
            <a:r>
              <a:rPr lang="ko-KR" altLang="en-US" sz="1800" dirty="0"/>
              <a:t>인 </a:t>
            </a:r>
            <a:r>
              <a:rPr lang="en-US" altLang="ko-KR" sz="1800" dirty="0"/>
              <a:t>F(3)</a:t>
            </a:r>
            <a:r>
              <a:rPr lang="ko-KR" altLang="en-US" sz="1800" dirty="0"/>
              <a:t>을 활용함</a:t>
            </a:r>
            <a:endParaRPr lang="en-US" altLang="ko-KR" sz="18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2888C47A-6881-936A-1805-977932E603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853" y="2456606"/>
            <a:ext cx="2934109" cy="273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52766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B59AF-9536-5E98-32C5-971EF8558E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BBD3E0-4439-5C94-C47D-FE5A88AEAF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6E8D85-E473-7C04-334D-1D5AE7246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r>
              <a:rPr lang="en-US" altLang="ko-KR" dirty="0"/>
              <a:t> F(0) = 0 </a:t>
            </a:r>
            <a:r>
              <a:rPr lang="ko-KR" altLang="en-US" dirty="0"/>
              <a:t>고정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260AE6-C6B8-DD04-9AC3-9A428616650B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ADE75C-0600-BF3B-ADD8-C4D0F25C1CE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2305613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4E87-06F7-77FE-0039-9D00C08E7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988CF1-AF40-B40D-1590-1867A352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79CC17-5B17-B00A-F414-D5C0525473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r>
              <a:rPr lang="en-US" altLang="ko-KR" dirty="0"/>
              <a:t> F(0) = 0 </a:t>
            </a:r>
            <a:r>
              <a:rPr lang="ko-KR" altLang="en-US" dirty="0"/>
              <a:t>고정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90918-7003-104D-10C3-B82B3BFA2E56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96970B-B22B-A9DC-2EBC-6CE98AC2B8D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420C9D-FE14-6BC2-DFEC-9AA097C329FB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22713-D322-854C-F45D-95D0F10312DA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37106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EAFBC-B48F-C58E-9BE0-555DEF78D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635AEF-F139-DF5C-1AC8-9CE925999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D9399-1A99-EFA7-9919-A5FDAB604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DF718D-93DE-D93F-23D5-D665085C4E14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98C82-D8C9-92E5-672B-6988C6FB741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B00AA2-FB12-0B49-7C61-39C9F0BC1A5B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B40146-FB37-8AFE-06D6-C95AE0519824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56F29C3-A805-B48C-EFE6-61D528E29210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97FF9D-34EC-37A6-B2F1-FD96D9A05936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6721762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D0408-ABFC-40F0-42F5-5C9DD65C4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7667E8-BE1B-BE91-A062-E8F4282DF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E2EC0E-B213-7349-A687-F6D10A553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FAC3B2-B582-3B33-A8F8-E830B4BFEBC2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96FB0-DCE8-C978-E484-3C7081C8C66A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C022C0-8C7B-FEE0-890E-F15D3A11ED1A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EC86AC-4265-0908-E068-F3E59C44E1F1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E4AB80-7BB0-0BC3-36B0-BA381AA6AFDA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AD5005-1117-7E01-6326-CAD16DB13E0F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748D6A-BA93-C4A4-2ED7-2E838E8A733B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27266A-E4F1-4DC2-18AD-2EB4AFAB3B5C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758D94-E817-DB78-3814-39EEE20DFA01}"/>
              </a:ext>
            </a:extLst>
          </p:cNvPr>
          <p:cNvSpPr txBox="1"/>
          <p:nvPr/>
        </p:nvSpPr>
        <p:spPr>
          <a:xfrm>
            <a:off x="3865771" y="4283119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08E5857-790E-A11C-6C9D-889A89F629F3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399461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2227BF-5449-1AC2-9B35-319489D13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9A2FAB-206E-9A1A-455B-879ABE0C5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A4D99D0-D4EB-41DA-2BA4-5068A429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624111-3328-B376-693A-ED467D5776DA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255EA5-61CC-8F28-2BD9-F5AFD1C37CC6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344D1C-5CA2-1AF0-9E04-9963EACFAFA3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B369E7-0663-81CB-73AA-08EF8F5AA90C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44AB56-CCA9-D3B9-2440-4E57FA2A434C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B8F0708-20D3-1CBE-A2F0-B64812CABCD9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F06A76-FD0B-8345-5341-8CDF52BBC82D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E2939A8-18A0-ADA9-B228-21BE46915152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BC40B9-E185-4C08-AE8B-08B751FC0179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E57563-FB53-6F07-C8C3-B591D3B5C6A3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015C7A3-9823-2C1D-37D6-AE1BFE832345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A26C73E-E2DD-1535-ED52-15A82924065A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79ECB76-2E17-76EE-5428-7DA456BC6A74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7112753-CB7D-A177-4C3F-B3C77002F45C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2627342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ED737-4484-2B9E-08CD-E430C2FD2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3A63E9-717D-9414-389C-031E4DC13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0C2502-ADA9-AE07-3280-0294E0D16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763F40-1010-ECA4-F784-47BAA07A752A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5D5CBD-C88F-8BCF-59EA-042B63386CBD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A338B8-AA80-2519-DC44-D99DEA69224B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E807297-6704-1948-21BB-428962618566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42B9DB-3CED-42CC-31E8-39C0438C6887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625B88-08EE-EC9E-67CE-595594B17486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49EBD04-3145-A814-FFEF-D20594ED271E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54B5C7-BC45-72CA-3E17-8621D45C070D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4B1218-DD97-B27F-42FD-E88153E42524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31B309F-20A8-23D1-846D-98A690228124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4E1CB7-AFDF-CA47-AD85-CECED090E574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52D2B-E9F3-2085-AF90-602755494F59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1E07AD-B6D3-5F32-0531-3FAB0EF51A9C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159770D-3CDC-DB73-9866-53B1060CEAD6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1923C7E-E516-877B-548A-67D2ED47214F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8B8C53C-0FBD-6E68-01D3-D1025C933C97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5679BE-D78B-28F8-C81B-D0B6BAB57AF3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F9F1BD0-CA8A-1E21-8197-DEC85C7097DD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47793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3E9FA-179E-1834-9111-389196876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70999D-5753-2504-4D2A-E891AA6C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8F6729-9A17-D633-31C8-436EA7F89B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BDA0D86-E544-7820-3D16-FE5702C04BBC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9D7153-8B10-F288-A44B-AACF011C6AD6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FC14845-6542-4C3A-6DD6-587AA19934B5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AE44103-4C10-ED07-B358-F7824A85B32F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E0D286-5371-4E95-21A3-EEA103920315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0AB699-91F5-E536-9A3B-8D8840BF4C59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96D18-FD7A-B750-7F8F-B4C75ED79A49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28185F0-D243-C05A-65CB-5519484A7C34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B0D6E3-197B-AF34-AF88-DB917E8AEC98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1A82E2F-5E54-63F3-FAD6-0C030A41A4A4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561F2-A626-0ED6-B6B6-449618A7D15D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3372121-59FC-FF7B-FF6B-1B8DBA6539B5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C6AC24-1F81-6C12-FCC3-5257902F6D04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501CD85-4139-1A87-53F1-EC3BCF7F0BA6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0B9C23-1E43-F8A3-4B74-449002495214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</a:t>
            </a:r>
            <a:r>
              <a:rPr lang="en-US" altLang="ko-KR" dirty="0">
                <a:highlight>
                  <a:srgbClr val="FFFF00"/>
                </a:highlight>
              </a:rPr>
              <a:t>A B A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794311-F7CB-7ABC-9E2A-2CA00B97DEEB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A B A </a:t>
            </a:r>
            <a:r>
              <a:rPr lang="en-US" altLang="ko-KR" dirty="0"/>
              <a:t>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A2FC8F6-19D1-D695-7B73-A381E62F0D66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494CC1-CE5D-DFF4-8CD5-765C17C9AD84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6B478C77-7D2B-1622-4A0C-BE44609F748E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7299169" y="2880407"/>
            <a:ext cx="1378570" cy="14362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EB71B96D-EC7B-5D90-2483-8957546907AB}"/>
              </a:ext>
            </a:extLst>
          </p:cNvPr>
          <p:cNvSpPr txBox="1"/>
          <p:nvPr/>
        </p:nvSpPr>
        <p:spPr>
          <a:xfrm>
            <a:off x="5967102" y="346737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글자가 일치하는 걸 이용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087024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2357C-E7F7-1347-BC04-9C2E152D57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FAA5E6-BB1F-81B8-A66C-42E41C6D5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001396-DED3-EF19-37FA-9388EFBD20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A14F0-CCB9-70D9-C198-4A7222157A27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0EE16A-E7A7-2A4C-D4FA-555B9878A08B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922B96-D873-B7BB-5C7A-767057FB9351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65DF7-A1E0-F83E-6DFC-CDA61C5F5EC4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92B2C19-580A-C8B6-A1F4-CAE6335B4CEE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33F90C-2248-573F-C1E4-7A0927F08190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8FD02C-25A0-F758-6D28-02FB7B8359DD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343944-809C-B13E-0904-A97B38105EB2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91E987-DE79-D816-F49F-B72246BC4204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66CB63-0204-B0DB-310E-B0D471B1089A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51E3B-6D22-E9A5-137F-A6A5A0D4A492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F509DE8-B1EA-497A-0391-9F0809D79A7C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62562D-984C-61FF-0181-91B4134A50CE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1C97F3-C0DA-CFA8-61C3-1F0A5BD53693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B3FCF25-2EFC-423C-E266-526F997738E8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77D9DDC-42A9-C693-3FB7-8A4CC3EA24A4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357AFC6-5468-C1A4-87B5-7F34110412B1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EB5B8ED-A549-11C8-3AF9-117DFDC05454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3BAD4C40-F7D9-70D7-4B83-3D75F311CD9D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7299169" y="2880407"/>
            <a:ext cx="1378570" cy="14362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>
            <a:extLst>
              <a:ext uri="{FF2B5EF4-FFF2-40B4-BE49-F238E27FC236}">
                <a16:creationId xmlns:a16="http://schemas.microsoft.com/office/drawing/2014/main" id="{2A3B2939-ABCA-EF0D-BFA5-C131B85ECE9F}"/>
              </a:ext>
            </a:extLst>
          </p:cNvPr>
          <p:cNvSpPr txBox="1"/>
          <p:nvPr/>
        </p:nvSpPr>
        <p:spPr>
          <a:xfrm>
            <a:off x="5967102" y="346737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글자가 일치하는 걸 이용</a:t>
            </a:r>
            <a:endParaRPr lang="en-US" altLang="ko-K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E3CDB04-10F3-CB3D-9AC9-BDB47FB63A84}"/>
              </a:ext>
            </a:extLst>
          </p:cNvPr>
          <p:cNvSpPr txBox="1"/>
          <p:nvPr/>
        </p:nvSpPr>
        <p:spPr>
          <a:xfrm>
            <a:off x="7984463" y="2213283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 </a:t>
            </a:r>
            <a:r>
              <a:rPr lang="en-US" altLang="ko-KR" dirty="0"/>
              <a:t>= 2 + 1</a:t>
            </a:r>
            <a:r>
              <a:rPr lang="ko-KR" altLang="en-US" dirty="0"/>
              <a:t>글자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76531642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70A45B-D0F6-D5FB-FD91-A280C5562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E155AF-F6DE-F7E4-E962-56C5B56C0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62D649B-2AD6-8717-9224-E78B299E4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90A087-0492-8C95-0ED8-967ECEBCBFD0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0DDC69-146A-887C-4C61-A846A20CC123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37C90-E817-5103-1D65-8E78CBAF8057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D2EDD-E7FC-E2C1-B27E-AF6A51AC78A6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C52B66-C3B9-2D39-C2C3-0B7CE747C3F8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BF764C-6699-6A05-04CF-C1715A3AE3F4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7EBB02-AC59-102E-81AC-9751D61D97C5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3703C25-8350-F706-9309-1908D031B2DF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E7F55C8-1ACF-21B9-48A7-EC8A77706223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25EA93E-EE17-7FFD-0207-0C7D97FC6E50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D4063CC-A576-DEFB-488C-A34F94DC1C95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CF74B23-F08D-2DD7-A215-005E7444881B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34079C8-CC40-C6EF-94E4-64925AE35E84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A7AD64C-BF25-FF45-2B32-DBCD12AF5754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76C2DAB-DF2C-38A6-E0CB-B640A7875732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59AF2D-8328-0CFA-42B5-1A298606F7C9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CD220CC-D410-C723-A972-A1D6A6E1615B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81274C-B3D8-80C1-98E0-F95C72A7FA0D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CF385FFF-0DBD-70F6-AE23-1B8460ACB9F8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7299169" y="2880407"/>
            <a:ext cx="1378570" cy="14362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E57E92F8-801C-1A00-36A0-64194A47B358}"/>
              </a:ext>
            </a:extLst>
          </p:cNvPr>
          <p:cNvSpPr txBox="1"/>
          <p:nvPr/>
        </p:nvSpPr>
        <p:spPr>
          <a:xfrm>
            <a:off x="8863550" y="2710410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7F3B5FD-BDDE-A805-0C52-D771578286B9}"/>
              </a:ext>
            </a:extLst>
          </p:cNvPr>
          <p:cNvSpPr txBox="1"/>
          <p:nvPr/>
        </p:nvSpPr>
        <p:spPr>
          <a:xfrm>
            <a:off x="9091362" y="3145615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BE43DAA-1768-79EA-73B1-D7B781CC9EE8}"/>
              </a:ext>
            </a:extLst>
          </p:cNvPr>
          <p:cNvSpPr txBox="1"/>
          <p:nvPr/>
        </p:nvSpPr>
        <p:spPr>
          <a:xfrm>
            <a:off x="5967102" y="346737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글자가 일치하는 걸 이용</a:t>
            </a:r>
            <a:endParaRPr lang="en-US" altLang="ko-K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AACEFF2-A539-49A1-1968-17937E0501B5}"/>
              </a:ext>
            </a:extLst>
          </p:cNvPr>
          <p:cNvSpPr txBox="1"/>
          <p:nvPr/>
        </p:nvSpPr>
        <p:spPr>
          <a:xfrm>
            <a:off x="7984463" y="2213283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 </a:t>
            </a:r>
            <a:r>
              <a:rPr lang="en-US" altLang="ko-KR" dirty="0"/>
              <a:t>= 2 + 1</a:t>
            </a:r>
            <a:r>
              <a:rPr lang="ko-KR" altLang="en-US" dirty="0"/>
              <a:t>글자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3DFED0C-BF06-776E-D81B-0992DA2ED4C7}"/>
              </a:ext>
            </a:extLst>
          </p:cNvPr>
          <p:cNvSpPr txBox="1"/>
          <p:nvPr/>
        </p:nvSpPr>
        <p:spPr>
          <a:xfrm>
            <a:off x="9344315" y="2710409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C37C3C67-0567-92BF-C5F0-9E3B77E2FA12}"/>
              </a:ext>
            </a:extLst>
          </p:cNvPr>
          <p:cNvSpPr txBox="1"/>
          <p:nvPr/>
        </p:nvSpPr>
        <p:spPr>
          <a:xfrm>
            <a:off x="9572131" y="3145614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279650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8773B-5A77-38D6-AEE9-95CEC320F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0119F2-23AB-E6AB-952F-2D0F401D8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861CB7-A46F-6E2D-5C52-784B23000F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0        1           2            3              0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A0A059-9491-A24B-8FF3-734F179E7C1C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0B4E8-3726-673F-9323-77D4C3C2BBD5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83B3106-C6F0-48B6-D3D3-60CF3D83F82C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2DDDAD-6A96-7EC0-3F59-1FC5E9748A6F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978D54-A50E-5E2E-85AD-29B5D635650C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3E3D24-873A-C62E-2CC0-335EAF062B3A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E7A8C7-3188-AE8A-6D4D-37B5F80B373B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2E4AE6A-3D50-2755-A296-4099768FCB77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5BDA086-7A77-3C39-DDA7-CFDF1E4791EB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3A6D23-3739-D109-2074-0554DC465D39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41178C-E20A-50F6-C7D0-23E71A6D6F44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E880534-B666-4964-C219-F8BF89715B33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57DF08-DB17-E659-652C-826CA5ADC738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14D978F-5D6A-58DE-3EC6-CE45978CE83F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05DF020-F37D-F76A-DC60-21A74D90848C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97A96A5-D561-9EF7-4FBC-7D26D7F59BDB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29790-99E0-4BBB-17AB-E485023B64A8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D6E8FFF-2F99-BF62-B2D3-320417C8FEB8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52F5C8B5-0268-B5EE-526C-FCDFBCA99AD5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7299169" y="2880407"/>
            <a:ext cx="1378570" cy="14362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1DBE00E-A91D-B804-9B32-0B090696C138}"/>
              </a:ext>
            </a:extLst>
          </p:cNvPr>
          <p:cNvSpPr txBox="1"/>
          <p:nvPr/>
        </p:nvSpPr>
        <p:spPr>
          <a:xfrm>
            <a:off x="8863550" y="2710410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C6AA431-161B-C7B5-C1A5-ADD255ADE05F}"/>
              </a:ext>
            </a:extLst>
          </p:cNvPr>
          <p:cNvSpPr txBox="1"/>
          <p:nvPr/>
        </p:nvSpPr>
        <p:spPr>
          <a:xfrm>
            <a:off x="9091362" y="3145615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179B4F4-BF0D-7A77-B4DE-CF2C58F234D3}"/>
              </a:ext>
            </a:extLst>
          </p:cNvPr>
          <p:cNvSpPr txBox="1"/>
          <p:nvPr/>
        </p:nvSpPr>
        <p:spPr>
          <a:xfrm>
            <a:off x="5967102" y="346737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글자가 일치하는 걸 이용</a:t>
            </a:r>
            <a:endParaRPr lang="en-US" altLang="ko-K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3AA6CEE-DD74-9304-9132-984C43F149AE}"/>
              </a:ext>
            </a:extLst>
          </p:cNvPr>
          <p:cNvSpPr txBox="1"/>
          <p:nvPr/>
        </p:nvSpPr>
        <p:spPr>
          <a:xfrm>
            <a:off x="7984463" y="2213283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 </a:t>
            </a:r>
            <a:r>
              <a:rPr lang="en-US" altLang="ko-KR" dirty="0"/>
              <a:t>= 2 + 1</a:t>
            </a:r>
            <a:r>
              <a:rPr lang="ko-KR" altLang="en-US" dirty="0"/>
              <a:t>글자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C4BF29-7900-5656-17B0-04E341A09F58}"/>
              </a:ext>
            </a:extLst>
          </p:cNvPr>
          <p:cNvSpPr txBox="1"/>
          <p:nvPr/>
        </p:nvSpPr>
        <p:spPr>
          <a:xfrm>
            <a:off x="9344315" y="2710409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AA3B48F-73D7-E6CB-3DBD-AE85F7210773}"/>
              </a:ext>
            </a:extLst>
          </p:cNvPr>
          <p:cNvSpPr txBox="1"/>
          <p:nvPr/>
        </p:nvSpPr>
        <p:spPr>
          <a:xfrm>
            <a:off x="9572131" y="3145614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3563345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25B92-DE07-1DA7-8C85-E642D3DD6F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506C1-41C5-88AB-62D6-9B1D5758A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1AF4D-F924-10C1-9FA3-C6006AA77D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 복습해보면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 0        1           2            3              0                    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17E89D-E4D9-B81C-1C7E-8CB688037CE0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E0A83A-730F-3F91-5508-84FEDA326B95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8DE7-61B1-0E1A-9052-CE4FA62D0131}"/>
              </a:ext>
            </a:extLst>
          </p:cNvPr>
          <p:cNvSpPr txBox="1"/>
          <p:nvPr/>
        </p:nvSpPr>
        <p:spPr>
          <a:xfrm>
            <a:off x="838200" y="4290976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9B56F2-E0A0-E944-7433-5A05EA374123}"/>
              </a:ext>
            </a:extLst>
          </p:cNvPr>
          <p:cNvSpPr txBox="1"/>
          <p:nvPr/>
        </p:nvSpPr>
        <p:spPr>
          <a:xfrm>
            <a:off x="1084869" y="4726181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6F5811-1E1F-2307-79CD-27E204CF8C3A}"/>
              </a:ext>
            </a:extLst>
          </p:cNvPr>
          <p:cNvSpPr txBox="1"/>
          <p:nvPr/>
        </p:nvSpPr>
        <p:spPr>
          <a:xfrm>
            <a:off x="1754170" y="4283119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7AB263-E8A7-2A7E-951E-BD551E5FCA8B}"/>
              </a:ext>
            </a:extLst>
          </p:cNvPr>
          <p:cNvSpPr txBox="1"/>
          <p:nvPr/>
        </p:nvSpPr>
        <p:spPr>
          <a:xfrm>
            <a:off x="2208229" y="4718324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1E543-0DA3-0B27-98CB-C1C868D8BBDF}"/>
              </a:ext>
            </a:extLst>
          </p:cNvPr>
          <p:cNvSpPr txBox="1"/>
          <p:nvPr/>
        </p:nvSpPr>
        <p:spPr>
          <a:xfrm>
            <a:off x="3169765" y="4284687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EA38CFD-2337-2EAA-2611-0F1D9277365D}"/>
              </a:ext>
            </a:extLst>
          </p:cNvPr>
          <p:cNvSpPr txBox="1"/>
          <p:nvPr/>
        </p:nvSpPr>
        <p:spPr>
          <a:xfrm>
            <a:off x="3623824" y="4719892"/>
            <a:ext cx="7873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803D5D-6E65-DA1D-2693-573CDB00839D}"/>
              </a:ext>
            </a:extLst>
          </p:cNvPr>
          <p:cNvSpPr txBox="1"/>
          <p:nvPr/>
        </p:nvSpPr>
        <p:spPr>
          <a:xfrm>
            <a:off x="3865771" y="4292546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D8DACA-B994-D8DD-20C8-08C5D2053A77}"/>
              </a:ext>
            </a:extLst>
          </p:cNvPr>
          <p:cNvSpPr txBox="1"/>
          <p:nvPr/>
        </p:nvSpPr>
        <p:spPr>
          <a:xfrm>
            <a:off x="4319830" y="4718324"/>
            <a:ext cx="31931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B</a:t>
            </a:r>
            <a:endParaRPr lang="ko-KR" alt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2F0394-9A56-EA2A-F24D-DAD4CCF84C84}"/>
              </a:ext>
            </a:extLst>
          </p:cNvPr>
          <p:cNvSpPr txBox="1"/>
          <p:nvPr/>
        </p:nvSpPr>
        <p:spPr>
          <a:xfrm>
            <a:off x="4726762" y="4286258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0E536A6-88DD-5D72-09A1-91C3327B22F9}"/>
              </a:ext>
            </a:extLst>
          </p:cNvPr>
          <p:cNvSpPr txBox="1"/>
          <p:nvPr/>
        </p:nvSpPr>
        <p:spPr>
          <a:xfrm>
            <a:off x="5180821" y="4721463"/>
            <a:ext cx="100380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F7FD31E-EEDF-94A6-9034-D098D67C339B}"/>
              </a:ext>
            </a:extLst>
          </p:cNvPr>
          <p:cNvSpPr txBox="1"/>
          <p:nvPr/>
        </p:nvSpPr>
        <p:spPr>
          <a:xfrm>
            <a:off x="5630150" y="4284688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787094-5881-9167-A3B3-F3A46FDF943C}"/>
              </a:ext>
            </a:extLst>
          </p:cNvPr>
          <p:cNvSpPr txBox="1"/>
          <p:nvPr/>
        </p:nvSpPr>
        <p:spPr>
          <a:xfrm>
            <a:off x="6084209" y="4719893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EC95B9-F714-2DB3-7A95-131502723DDB}"/>
              </a:ext>
            </a:extLst>
          </p:cNvPr>
          <p:cNvSpPr txBox="1"/>
          <p:nvPr/>
        </p:nvSpPr>
        <p:spPr>
          <a:xfrm>
            <a:off x="6651398" y="4287828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F6647-52E1-55B5-9886-CCA718B724C7}"/>
              </a:ext>
            </a:extLst>
          </p:cNvPr>
          <p:cNvSpPr txBox="1"/>
          <p:nvPr/>
        </p:nvSpPr>
        <p:spPr>
          <a:xfrm>
            <a:off x="7105457" y="4723033"/>
            <a:ext cx="123783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</a:t>
            </a:r>
            <a:endParaRPr lang="ko-KR" alt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D24FBA7-D7DC-698C-3CE6-2C273110C437}"/>
              </a:ext>
            </a:extLst>
          </p:cNvPr>
          <p:cNvSpPr txBox="1"/>
          <p:nvPr/>
        </p:nvSpPr>
        <p:spPr>
          <a:xfrm>
            <a:off x="7798320" y="4284688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B2C2DED-357D-3A85-F623-4AB94889C071}"/>
              </a:ext>
            </a:extLst>
          </p:cNvPr>
          <p:cNvSpPr txBox="1"/>
          <p:nvPr/>
        </p:nvSpPr>
        <p:spPr>
          <a:xfrm>
            <a:off x="8252379" y="4719893"/>
            <a:ext cx="33054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C</a:t>
            </a:r>
            <a:endParaRPr lang="ko-KR" altLang="en-US" dirty="0"/>
          </a:p>
        </p:txBody>
      </p:sp>
      <p:cxnSp>
        <p:nvCxnSpPr>
          <p:cNvPr id="27" name="연결선: 구부러짐 26">
            <a:extLst>
              <a:ext uri="{FF2B5EF4-FFF2-40B4-BE49-F238E27FC236}">
                <a16:creationId xmlns:a16="http://schemas.microsoft.com/office/drawing/2014/main" id="{F6DFAB3E-FC6C-3EC3-F143-3A991417A212}"/>
              </a:ext>
            </a:extLst>
          </p:cNvPr>
          <p:cNvCxnSpPr>
            <a:cxnSpLocks/>
            <a:stCxn id="19" idx="0"/>
          </p:cNvCxnSpPr>
          <p:nvPr/>
        </p:nvCxnSpPr>
        <p:spPr>
          <a:xfrm rot="5400000" flipH="1" flipV="1">
            <a:off x="7299169" y="2880407"/>
            <a:ext cx="1378570" cy="143627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7939F3C5-C3BC-9A07-6131-135B36E08253}"/>
              </a:ext>
            </a:extLst>
          </p:cNvPr>
          <p:cNvSpPr txBox="1"/>
          <p:nvPr/>
        </p:nvSpPr>
        <p:spPr>
          <a:xfrm>
            <a:off x="8863550" y="2710410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AF502B0-E320-7881-7C10-94B3F743D30E}"/>
              </a:ext>
            </a:extLst>
          </p:cNvPr>
          <p:cNvSpPr txBox="1"/>
          <p:nvPr/>
        </p:nvSpPr>
        <p:spPr>
          <a:xfrm>
            <a:off x="9091362" y="3145615"/>
            <a:ext cx="553357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</a:t>
            </a:r>
            <a:endParaRPr lang="ko-KR" altLang="en-US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5183DFA-F8FB-7985-7ADA-10F65A4C331D}"/>
              </a:ext>
            </a:extLst>
          </p:cNvPr>
          <p:cNvSpPr txBox="1"/>
          <p:nvPr/>
        </p:nvSpPr>
        <p:spPr>
          <a:xfrm>
            <a:off x="5967102" y="3467373"/>
            <a:ext cx="2864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글자가 일치하는 걸 이용</a:t>
            </a:r>
            <a:endParaRPr lang="en-US" altLang="ko-KR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F351D3A-F59C-E9A1-40B6-60CFB337F9F9}"/>
              </a:ext>
            </a:extLst>
          </p:cNvPr>
          <p:cNvSpPr txBox="1"/>
          <p:nvPr/>
        </p:nvSpPr>
        <p:spPr>
          <a:xfrm>
            <a:off x="7984463" y="2213283"/>
            <a:ext cx="21387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3</a:t>
            </a:r>
            <a:r>
              <a:rPr lang="ko-KR" altLang="en-US" dirty="0"/>
              <a:t>글자 </a:t>
            </a:r>
            <a:r>
              <a:rPr lang="en-US" altLang="ko-KR" dirty="0"/>
              <a:t>= 2 + 1</a:t>
            </a:r>
            <a:r>
              <a:rPr lang="ko-KR" altLang="en-US" dirty="0"/>
              <a:t>글자</a:t>
            </a:r>
            <a:endParaRPr lang="en-US" altLang="ko-KR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730F4E-476A-5E5D-3A83-EA35B3EACAD4}"/>
              </a:ext>
            </a:extLst>
          </p:cNvPr>
          <p:cNvSpPr txBox="1"/>
          <p:nvPr/>
        </p:nvSpPr>
        <p:spPr>
          <a:xfrm>
            <a:off x="9344315" y="2710409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8C93601-3083-BD62-3DFA-3D74606D94D0}"/>
              </a:ext>
            </a:extLst>
          </p:cNvPr>
          <p:cNvSpPr txBox="1"/>
          <p:nvPr/>
        </p:nvSpPr>
        <p:spPr>
          <a:xfrm>
            <a:off x="9572131" y="3145614"/>
            <a:ext cx="33695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84165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60458-4CE5-0088-E8A7-F64316B28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23D302-E925-060A-70B9-1992539364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15352E4-4244-7D7F-0401-8901C1019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700748B-6759-F4E9-0CC3-6FC6794D5B77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933FF3-2F2B-D9C6-514F-F8E44069E71A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744475E-2516-5D06-40B2-161C8EE1AD91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519712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168D0-3ABF-A6B7-AC78-F242AAEF2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BCBC16-44F1-99AF-A9C5-D21C2E93B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6E8B44C-1A91-A947-653E-A9E055D6F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3795EB-6E2D-76FA-485D-02CCB93628F2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D9D81E-6F0E-2755-18C4-0DE79B1F5575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BD261-57C5-3ABD-3367-EBAAA64DE454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D1E35F-F1F4-6E89-90F7-3C3B7A86A6F1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65EEED-A615-B43B-61AF-1D80EAB94524}"/>
              </a:ext>
            </a:extLst>
          </p:cNvPr>
          <p:cNvSpPr txBox="1"/>
          <p:nvPr/>
        </p:nvSpPr>
        <p:spPr>
          <a:xfrm>
            <a:off x="2920905" y="5381347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9EE291-9503-AD70-36A2-9B62318BC232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69694657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F71EB-6F3C-E408-C10B-5E7E68CE1F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A41E21-3C93-9E38-9A4B-E598D3256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8AC5DF-059F-3C71-4F34-B777DCB47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D4BDC7-849C-392E-A596-A1B2E4BE444F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F6ED83-FD34-8F20-EF7F-FAE89D957E27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DA5487-8A79-8C26-6371-C5EC88A93EE6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124E39-0C1C-41E4-E939-4A36F42E2985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dirty="0"/>
              <a:t>B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6DE4A5-C1B3-9B2D-A7FD-BC5F5B8E53EE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dirty="0"/>
              <a:t>C 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5110AAA-C90E-2EFB-1D54-C9D2B83D99EF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14487934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F74BB3-3A1D-E9D0-433F-F1B919F1BC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A205EC-6966-8B7A-D9FA-D87EF3C8D9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092558-02E0-AE25-430C-0AE1298DDB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EB7B1AB-E38E-5AF4-86A5-870D544609C5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1A2620-579D-CCE1-41AC-AE70597F213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AEA628-0BD6-F55E-9761-BB0BF60425DB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113A075-A233-74DE-DEF6-3EC38929E9DD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4C20B4-D0F3-5F7E-7A1D-2BE107A7BC96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5FEAB0-FA60-217C-CCF4-843960601B7D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83015476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7FB1A7-F75E-8EC9-B2FE-98E803012D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CBE3E6-2627-100F-A4A0-4E084D547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8CD400-C8B8-22C9-6B37-C88F8A7218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B858E6-B02D-EE6E-F56C-D57ABD0D3CB2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D063BA1-071A-9678-FFA9-381D6A773A3A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C8ADEFC-8879-B109-C69C-8388DC383798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B30F59-1C06-40A7-07B3-3CCB6B0C29F5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FF6B5F-D7AA-A8A4-20F6-4919AFFBFED0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88BB8A9-F8CE-0D83-9781-632F49CE9C10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C3D96358-02FA-5AA5-C500-354D46CB669E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A[5] != B[5]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이는 곧 </a:t>
            </a:r>
            <a:r>
              <a:rPr lang="en-US" altLang="ko-KR" b="1" dirty="0">
                <a:solidFill>
                  <a:srgbClr val="7030A0"/>
                </a:solidFill>
              </a:rPr>
              <a:t>4</a:t>
            </a:r>
            <a:r>
              <a:rPr lang="ko-KR" altLang="en-US" b="1" dirty="0">
                <a:solidFill>
                  <a:srgbClr val="7030A0"/>
                </a:solidFill>
              </a:rPr>
              <a:t> </a:t>
            </a:r>
            <a:r>
              <a:rPr lang="ko-KR" altLang="en-US" b="1" dirty="0" err="1">
                <a:solidFill>
                  <a:srgbClr val="7030A0"/>
                </a:solidFill>
              </a:rPr>
              <a:t>인덱스까지인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4+1</a:t>
            </a:r>
            <a:r>
              <a:rPr lang="ko-KR" altLang="en-US" b="1" dirty="0">
                <a:solidFill>
                  <a:srgbClr val="7030A0"/>
                </a:solidFill>
              </a:rPr>
              <a:t>글자까지는 일치</a:t>
            </a:r>
            <a:endParaRPr lang="en-US" altLang="ko-K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341343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5882C-C2AC-AD68-9F21-115DDFF3F5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407841-5B6A-39D9-3BC4-CBEBE655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32D5F4-8D0B-3B8C-BF49-A56BCA4CA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814A100-C0B3-1948-9BD5-5D6CC05F44A7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698C8F-D12B-52E7-48E3-59114A0F9F2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238F2D2-BDFA-CBD4-C763-A07F421671DD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</a:t>
            </a: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3</a:t>
            </a:r>
            <a:r>
              <a:rPr lang="en-US" altLang="ko-KR" dirty="0"/>
              <a:t>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E04658-2C4C-A34A-DBD4-6F8EAB8F22C5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64B48-4D04-5128-38A1-4C13EAAF2DA7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E3BF2E-B569-6C1C-4B82-3AA93DF97C21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27AFE09-0EF3-BFDA-6136-C05089261EDB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F(4) (=3) </a:t>
            </a:r>
            <a:r>
              <a:rPr lang="ko-KR" altLang="en-US" b="1" dirty="0">
                <a:solidFill>
                  <a:srgbClr val="7030A0"/>
                </a:solidFill>
              </a:rPr>
              <a:t>인덱스부터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기존 </a:t>
            </a:r>
            <a:r>
              <a:rPr lang="en-US" altLang="ko-KR" b="1" dirty="0">
                <a:solidFill>
                  <a:srgbClr val="7030A0"/>
                </a:solidFill>
              </a:rPr>
              <a:t>A[5]</a:t>
            </a:r>
            <a:r>
              <a:rPr lang="ko-KR" altLang="en-US" b="1" dirty="0">
                <a:solidFill>
                  <a:srgbClr val="7030A0"/>
                </a:solidFill>
              </a:rPr>
              <a:t>를 비교할 수 있도록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B</a:t>
            </a:r>
            <a:r>
              <a:rPr lang="ko-KR" altLang="en-US" b="1" dirty="0">
                <a:solidFill>
                  <a:srgbClr val="7030A0"/>
                </a:solidFill>
              </a:rPr>
              <a:t>를 </a:t>
            </a:r>
            <a:r>
              <a:rPr lang="en-US" altLang="ko-KR" b="1" dirty="0">
                <a:solidFill>
                  <a:srgbClr val="7030A0"/>
                </a:solidFill>
              </a:rPr>
              <a:t>B’</a:t>
            </a:r>
            <a:r>
              <a:rPr lang="ko-KR" altLang="en-US" b="1" dirty="0">
                <a:solidFill>
                  <a:srgbClr val="7030A0"/>
                </a:solidFill>
              </a:rPr>
              <a:t>로 점프</a:t>
            </a:r>
            <a:endParaRPr lang="en-US" altLang="ko-K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588827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DB6053-260B-DF6D-A9AB-C3F346D48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DD9E6-EA02-93F0-641B-3E3E8CC67F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8AAD53-ED31-A53E-2BCB-9158187B5B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B</a:t>
            </a:r>
          </a:p>
          <a:p>
            <a:r>
              <a:rPr lang="en-US" altLang="ko-KR" dirty="0"/>
              <a:t>B’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0B741-EDE0-86E8-6CBD-542DE9ED9BA6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EA5FE1-599D-05ED-4682-AEB3B6084827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17ABD0-01E9-9E5A-040D-39FF16B146FC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F90076-5917-3698-B82B-9E8CB41FF81F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73A734-738E-4FD0-3C74-628E4FDCF807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60328FF-43D8-9354-4885-A45AF4843530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9CFADA-B5CD-AC15-884A-730E776BC7AE}"/>
              </a:ext>
            </a:extLst>
          </p:cNvPr>
          <p:cNvSpPr txBox="1"/>
          <p:nvPr/>
        </p:nvSpPr>
        <p:spPr>
          <a:xfrm>
            <a:off x="3400560" y="5889880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901618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C2CBE-EFE0-DD7B-2D76-8C63E1348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73CA5E-E9A0-7CA1-FD4F-F161A66646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7EC70E-EF5E-370C-E8FB-F5DDC19459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B</a:t>
            </a:r>
          </a:p>
          <a:p>
            <a:r>
              <a:rPr lang="en-US" altLang="ko-KR" dirty="0"/>
              <a:t>B’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123D0D-454B-32E8-752D-A6BB80E3270A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CE6DCD-2355-72E9-EDA6-9D33EBB81ACE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9376E02-34EB-1189-2AE6-B72C1A621393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8D7A188-BC58-06F4-8616-C44B8372BFC2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</a:t>
            </a:r>
            <a:r>
              <a:rPr lang="en-US" altLang="ko-KR" dirty="0">
                <a:highlight>
                  <a:srgbClr val="FFFF00"/>
                </a:highlight>
              </a:rPr>
              <a:t>B</a:t>
            </a:r>
            <a:r>
              <a:rPr lang="en-US" altLang="ko-KR" dirty="0"/>
              <a:t> A D A B A B A C A B A D</a:t>
            </a:r>
            <a:endParaRPr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8BE4C2-7153-1CEE-7587-A6EE277F66D9}"/>
              </a:ext>
            </a:extLst>
          </p:cNvPr>
          <p:cNvSpPr txBox="1"/>
          <p:nvPr/>
        </p:nvSpPr>
        <p:spPr>
          <a:xfrm>
            <a:off x="2920905" y="5381347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AA2302-281F-EA36-BDE8-018E4DDEECE3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161E1F-1970-5E8A-B764-2995E5117D26}"/>
              </a:ext>
            </a:extLst>
          </p:cNvPr>
          <p:cNvSpPr txBox="1"/>
          <p:nvPr/>
        </p:nvSpPr>
        <p:spPr>
          <a:xfrm>
            <a:off x="3400560" y="5889880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</a:t>
            </a:r>
            <a:r>
              <a:rPr lang="en-US" altLang="ko-KR" dirty="0">
                <a:highlight>
                  <a:srgbClr val="FFFF00"/>
                </a:highlight>
              </a:rPr>
              <a:t>B</a:t>
            </a:r>
            <a:r>
              <a:rPr lang="en-US" altLang="ko-KR" dirty="0"/>
              <a:t> A C A B A</a:t>
            </a:r>
            <a:endParaRPr lang="ko-KR" altLang="en-US" dirty="0"/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F7F9FC29-82D2-94F3-AA9D-587CD13CCC27}"/>
              </a:ext>
            </a:extLst>
          </p:cNvPr>
          <p:cNvCxnSpPr>
            <a:cxnSpLocks/>
          </p:cNvCxnSpPr>
          <p:nvPr/>
        </p:nvCxnSpPr>
        <p:spPr>
          <a:xfrm rot="10800000" flipV="1">
            <a:off x="4177367" y="3278590"/>
            <a:ext cx="4977775" cy="1641996"/>
          </a:xfrm>
          <a:prstGeom prst="curvedConnector3">
            <a:avLst>
              <a:gd name="adj1" fmla="val 10510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1AB27524-5DEE-5ACF-8493-DAAC858EE7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4302493" y="4071485"/>
            <a:ext cx="5111014" cy="1973179"/>
          </a:xfrm>
          <a:prstGeom prst="curvedConnector3">
            <a:avLst>
              <a:gd name="adj1" fmla="val -32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24D36877-F14D-8589-1B39-1F8081BD76CA}"/>
              </a:ext>
            </a:extLst>
          </p:cNvPr>
          <p:cNvSpPr txBox="1"/>
          <p:nvPr/>
        </p:nvSpPr>
        <p:spPr>
          <a:xfrm>
            <a:off x="3400564" y="6318783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4FD38438-8152-726D-2ACA-A8CA41A6F031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 시작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7548575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46D4A8-9F49-5260-AC8F-CB581E982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5D1C44-AA97-1CCF-FC15-DDB65D8F1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C3CFA0-739F-7543-19C5-4A55B17AE0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ADC12E-B5CF-24E8-9070-AED505EA39F1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519DCA-426A-B75B-9A4B-583BA3DF6F17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67516-9C63-907B-8966-19EC5130FB82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76B22-01C4-2CB2-AED1-AB581A207907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</a:t>
            </a:r>
            <a:r>
              <a:rPr lang="en-US" altLang="ko-KR" b="1" dirty="0">
                <a:solidFill>
                  <a:srgbClr val="00B050"/>
                </a:solidFill>
              </a:rPr>
              <a:t>B 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CF93C1-9E42-BB0F-6767-328ABBD79EF8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152734-6FB1-09D4-6933-FDAA3796DF54}"/>
              </a:ext>
            </a:extLst>
          </p:cNvPr>
          <p:cNvSpPr txBox="1"/>
          <p:nvPr/>
        </p:nvSpPr>
        <p:spPr>
          <a:xfrm>
            <a:off x="3400560" y="5379743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</a:t>
            </a:r>
            <a:r>
              <a:rPr lang="en-US" altLang="ko-KR" b="1" dirty="0">
                <a:solidFill>
                  <a:srgbClr val="00B050"/>
                </a:solidFill>
              </a:rPr>
              <a:t>B 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0CA5650-AFEF-E75A-BD9F-DDA871D06AF7}"/>
              </a:ext>
            </a:extLst>
          </p:cNvPr>
          <p:cNvSpPr txBox="1"/>
          <p:nvPr/>
        </p:nvSpPr>
        <p:spPr>
          <a:xfrm>
            <a:off x="3400564" y="5808646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30971378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0C640-47FF-91B5-52FB-A08607B1C8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0F7610-213F-F011-B018-3B7C2249A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C05093-9F54-5D41-4436-A53F4D7CC3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63E7D2-1CCD-7635-0936-DA6B366418E0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B0B4A6-A844-14A6-C9BB-3F90E5B7B3D4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2B9782E-16DD-8B6F-8F2A-1D6476F50866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</a:t>
            </a: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3</a:t>
            </a:r>
            <a:r>
              <a:rPr lang="en-US" altLang="ko-KR" dirty="0"/>
              <a:t>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AAF0BBE-D1E7-A2F9-20C3-CB5FBFA8919E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</a:t>
            </a:r>
            <a:r>
              <a:rPr lang="en-US" altLang="ko-KR" b="1" dirty="0">
                <a:solidFill>
                  <a:srgbClr val="00B050"/>
                </a:solidFill>
              </a:rPr>
              <a:t>B 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8799BD9-D359-EA60-B1C4-C4C436920093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B278D16-3EC9-5E7D-0726-604504A934C2}"/>
              </a:ext>
            </a:extLst>
          </p:cNvPr>
          <p:cNvSpPr txBox="1"/>
          <p:nvPr/>
        </p:nvSpPr>
        <p:spPr>
          <a:xfrm>
            <a:off x="3400560" y="5379743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</a:t>
            </a:r>
            <a:r>
              <a:rPr lang="en-US" altLang="ko-KR" b="1" dirty="0">
                <a:solidFill>
                  <a:srgbClr val="00B050"/>
                </a:solidFill>
              </a:rPr>
              <a:t>B A</a:t>
            </a:r>
            <a:r>
              <a:rPr lang="en-US" altLang="ko-KR" dirty="0"/>
              <a:t> </a:t>
            </a:r>
            <a:r>
              <a:rPr lang="en-US" altLang="ko-KR" b="1" dirty="0">
                <a:solidFill>
                  <a:srgbClr val="FF0000"/>
                </a:solidFill>
              </a:rPr>
              <a:t>C</a:t>
            </a:r>
            <a:r>
              <a:rPr lang="en-US" altLang="ko-KR" dirty="0"/>
              <a:t> A B A</a:t>
            </a:r>
            <a:endParaRPr lang="ko-KR" alt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AFDE837-4F24-8C04-9ADB-8D69FA4EF240}"/>
              </a:ext>
            </a:extLst>
          </p:cNvPr>
          <p:cNvSpPr txBox="1"/>
          <p:nvPr/>
        </p:nvSpPr>
        <p:spPr>
          <a:xfrm>
            <a:off x="3400564" y="5808646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2F61B79-4236-9F6B-D033-C7273113C56B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불일치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A[7] != B’[5]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이는 곧 </a:t>
            </a:r>
            <a:r>
              <a:rPr lang="en-US" altLang="ko-KR" b="1" dirty="0">
                <a:solidFill>
                  <a:srgbClr val="7030A0"/>
                </a:solidFill>
              </a:rPr>
              <a:t>4</a:t>
            </a:r>
            <a:r>
              <a:rPr lang="ko-KR" altLang="en-US" b="1" dirty="0">
                <a:solidFill>
                  <a:srgbClr val="7030A0"/>
                </a:solidFill>
              </a:rPr>
              <a:t>번 </a:t>
            </a:r>
            <a:r>
              <a:rPr lang="ko-KR" altLang="en-US" b="1" dirty="0" err="1">
                <a:solidFill>
                  <a:srgbClr val="7030A0"/>
                </a:solidFill>
              </a:rPr>
              <a:t>인덱스까지인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4+1</a:t>
            </a:r>
            <a:r>
              <a:rPr lang="ko-KR" altLang="en-US" b="1" dirty="0">
                <a:solidFill>
                  <a:srgbClr val="7030A0"/>
                </a:solidFill>
              </a:rPr>
              <a:t>글자 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  <a:p>
            <a:pPr algn="ctr">
              <a:buFont typeface="Wingdings" panose="05000000000000000000" pitchFamily="2" charset="2"/>
              <a:buChar char="è"/>
            </a:pPr>
            <a:r>
              <a:rPr lang="en-US" altLang="ko-KR" b="1" dirty="0">
                <a:solidFill>
                  <a:srgbClr val="7030A0"/>
                </a:solidFill>
              </a:rPr>
              <a:t>B’’</a:t>
            </a:r>
            <a:r>
              <a:rPr lang="ko-KR" altLang="en-US" b="1" dirty="0">
                <a:solidFill>
                  <a:srgbClr val="7030A0"/>
                </a:solidFill>
              </a:rPr>
              <a:t>를 </a:t>
            </a:r>
            <a:r>
              <a:rPr lang="en-US" altLang="ko-KR" b="1" dirty="0">
                <a:solidFill>
                  <a:srgbClr val="7030A0"/>
                </a:solidFill>
              </a:rPr>
              <a:t>F(4)(=3) </a:t>
            </a:r>
            <a:r>
              <a:rPr lang="ko-KR" altLang="en-US" b="1" dirty="0">
                <a:solidFill>
                  <a:srgbClr val="7030A0"/>
                </a:solidFill>
              </a:rPr>
              <a:t>인덱스부터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비교하도록</a:t>
            </a:r>
            <a:r>
              <a:rPr lang="en-US" altLang="ko-KR" b="1" dirty="0">
                <a:solidFill>
                  <a:srgbClr val="7030A0"/>
                </a:solidFill>
              </a:rPr>
              <a:t> </a:t>
            </a:r>
            <a:r>
              <a:rPr lang="ko-KR" altLang="en-US" b="1" dirty="0">
                <a:solidFill>
                  <a:srgbClr val="7030A0"/>
                </a:solidFill>
              </a:rPr>
              <a:t>점프</a:t>
            </a:r>
            <a:r>
              <a:rPr lang="en-US" altLang="ko-KR" b="1" dirty="0">
                <a:solidFill>
                  <a:srgbClr val="7030A0"/>
                </a:solidFill>
              </a:rPr>
              <a:t>! </a:t>
            </a:r>
            <a:r>
              <a:rPr lang="en-US" altLang="ko-KR" sz="2100" b="1" u="sng" dirty="0">
                <a:solidFill>
                  <a:srgbClr val="7030A0"/>
                </a:solidFill>
              </a:rPr>
              <a:t>(</a:t>
            </a:r>
            <a:r>
              <a:rPr lang="ko-KR" altLang="en-US" sz="2100" b="1" u="sng" dirty="0">
                <a:solidFill>
                  <a:srgbClr val="7030A0"/>
                </a:solidFill>
              </a:rPr>
              <a:t>바로 뒤 비교 논리</a:t>
            </a:r>
            <a:r>
              <a:rPr lang="en-US" altLang="ko-KR" sz="2100" b="1" u="sng" dirty="0">
                <a:solidFill>
                  <a:srgbClr val="7030A0"/>
                </a:solidFill>
              </a:rPr>
              <a:t>)</a:t>
            </a:r>
            <a:endParaRPr lang="en-US" altLang="ko-KR" b="1" u="sng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523412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C626A-286D-E0E4-2E73-916C05C7E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FE8848-55BA-C5BB-0DB9-C8B46CA63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34B122-23B5-5BBA-97F5-DBDFAA952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B’</a:t>
            </a:r>
          </a:p>
          <a:p>
            <a:r>
              <a:rPr lang="en-US" altLang="ko-KR" dirty="0"/>
              <a:t>B’’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372F3C-33D0-4955-E41F-2434226B2902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B6E11-9872-2E07-F7E6-FD06F368A1B8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D5963FB-3CB0-4320-B415-5F2A9438F66C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D7EA0E-73FD-DF99-4525-AE231D52A646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dirty="0">
                <a:highlight>
                  <a:srgbClr val="FFFF00"/>
                </a:highlight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FFC189-7361-5685-08E8-4875EA50073A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D13C794F-F5C5-2B45-74FB-01F86FDF825F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68253" y="3278590"/>
            <a:ext cx="4486890" cy="1580366"/>
          </a:xfrm>
          <a:prstGeom prst="curvedConnector3">
            <a:avLst>
              <a:gd name="adj1" fmla="val 1010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연결선: 구부러짐 17">
            <a:extLst>
              <a:ext uri="{FF2B5EF4-FFF2-40B4-BE49-F238E27FC236}">
                <a16:creationId xmlns:a16="http://schemas.microsoft.com/office/drawing/2014/main" id="{1F8699DE-0D6F-F396-1320-2536A51AA77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54881" y="4071482"/>
            <a:ext cx="4658627" cy="2021310"/>
          </a:xfrm>
          <a:prstGeom prst="curvedConnector3">
            <a:avLst>
              <a:gd name="adj1" fmla="val -43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8CC1A81B-C33B-E0FE-390F-10BBB01ED830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 시작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7BE91-05E8-9737-EC32-B355DEE7CF93}"/>
              </a:ext>
            </a:extLst>
          </p:cNvPr>
          <p:cNvSpPr txBox="1"/>
          <p:nvPr/>
        </p:nvSpPr>
        <p:spPr>
          <a:xfrm>
            <a:off x="3408580" y="5387765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3B485D-0161-8240-D908-8DBB49B09560}"/>
              </a:ext>
            </a:extLst>
          </p:cNvPr>
          <p:cNvSpPr txBox="1"/>
          <p:nvPr/>
        </p:nvSpPr>
        <p:spPr>
          <a:xfrm>
            <a:off x="3841718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</a:t>
            </a:r>
            <a:r>
              <a:rPr lang="en-US" altLang="ko-KR" dirty="0">
                <a:highlight>
                  <a:srgbClr val="FFFF00"/>
                </a:highlight>
              </a:rPr>
              <a:t>B</a:t>
            </a:r>
            <a:r>
              <a:rPr lang="en-US" altLang="ko-KR" dirty="0"/>
              <a:t> A C 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0FB007-B067-B216-4740-81557246F06D}"/>
              </a:ext>
            </a:extLst>
          </p:cNvPr>
          <p:cNvSpPr txBox="1"/>
          <p:nvPr/>
        </p:nvSpPr>
        <p:spPr>
          <a:xfrm>
            <a:off x="3841722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1572595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829D02-FF3E-D90B-D45D-BBE061203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35229-3BF7-1BE3-2886-DA9C6487F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05F7EF-87E1-A989-4DA1-346B9361BE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EC7F57-E214-41EE-2228-5451DB5FE345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938FB6C-A7F2-341A-B521-1FF8340628EE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9F57DCF-99D3-A78E-6EF7-3E8CF6D5F063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</a:t>
            </a: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1</a:t>
            </a:r>
            <a:r>
              <a:rPr lang="en-US" altLang="ko-KR" dirty="0"/>
              <a:t>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08B015-E2D8-91C8-D26C-0CA781AE35F9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337D1-0A82-BF69-99DF-26251AD0D010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0E0C450-9C25-7F86-757B-401CCD162680}"/>
              </a:ext>
            </a:extLst>
          </p:cNvPr>
          <p:cNvSpPr txBox="1"/>
          <p:nvPr/>
        </p:nvSpPr>
        <p:spPr>
          <a:xfrm>
            <a:off x="3841718" y="5378138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</a:t>
            </a:r>
            <a:r>
              <a:rPr lang="en-US" altLang="ko-KR" b="1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A C 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CD03E6-1954-0DEE-A815-A1DE8A2BA71B}"/>
              </a:ext>
            </a:extLst>
          </p:cNvPr>
          <p:cNvSpPr txBox="1"/>
          <p:nvPr/>
        </p:nvSpPr>
        <p:spPr>
          <a:xfrm>
            <a:off x="3841722" y="5807041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8174F8ED-28FF-A49C-0CD9-E436B100978B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A90B6BB2-DBA6-C11C-6AB1-EF126FD0AAF0}"/>
              </a:ext>
            </a:extLst>
          </p:cNvPr>
          <p:cNvSpPr txBox="1">
            <a:spLocks/>
          </p:cNvSpPr>
          <p:nvPr/>
        </p:nvSpPr>
        <p:spPr>
          <a:xfrm>
            <a:off x="7043462" y="36381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불일치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A[7] != B’’[3]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이는 곧 </a:t>
            </a:r>
            <a:r>
              <a:rPr lang="en-US" altLang="ko-KR" b="1" dirty="0">
                <a:solidFill>
                  <a:srgbClr val="7030A0"/>
                </a:solidFill>
              </a:rPr>
              <a:t>2</a:t>
            </a:r>
            <a:r>
              <a:rPr lang="ko-KR" altLang="en-US" b="1" dirty="0">
                <a:solidFill>
                  <a:srgbClr val="7030A0"/>
                </a:solidFill>
              </a:rPr>
              <a:t>번 </a:t>
            </a:r>
            <a:r>
              <a:rPr lang="ko-KR" altLang="en-US" b="1" dirty="0" err="1">
                <a:solidFill>
                  <a:srgbClr val="7030A0"/>
                </a:solidFill>
              </a:rPr>
              <a:t>인덱스까지인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2+1</a:t>
            </a:r>
            <a:r>
              <a:rPr lang="ko-KR" altLang="en-US" b="1" dirty="0">
                <a:solidFill>
                  <a:srgbClr val="7030A0"/>
                </a:solidFill>
              </a:rPr>
              <a:t>글자 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  <a:p>
            <a:pPr algn="ctr">
              <a:buFont typeface="Wingdings" panose="05000000000000000000" pitchFamily="2" charset="2"/>
              <a:buChar char="è"/>
            </a:pPr>
            <a:r>
              <a:rPr lang="en-US" altLang="ko-KR" b="1" dirty="0">
                <a:solidFill>
                  <a:srgbClr val="7030A0"/>
                </a:solidFill>
              </a:rPr>
              <a:t>B’’’</a:t>
            </a:r>
            <a:r>
              <a:rPr lang="ko-KR" altLang="en-US" b="1" dirty="0">
                <a:solidFill>
                  <a:srgbClr val="7030A0"/>
                </a:solidFill>
              </a:rPr>
              <a:t>를 </a:t>
            </a:r>
            <a:r>
              <a:rPr lang="en-US" altLang="ko-KR" b="1" dirty="0">
                <a:solidFill>
                  <a:srgbClr val="7030A0"/>
                </a:solidFill>
              </a:rPr>
              <a:t>F(2)(=1) </a:t>
            </a:r>
            <a:r>
              <a:rPr lang="ko-KR" altLang="en-US" b="1" dirty="0">
                <a:solidFill>
                  <a:srgbClr val="7030A0"/>
                </a:solidFill>
              </a:rPr>
              <a:t>인덱스부터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비교하도록</a:t>
            </a:r>
            <a:r>
              <a:rPr lang="en-US" altLang="ko-KR" b="1" dirty="0">
                <a:solidFill>
                  <a:srgbClr val="7030A0"/>
                </a:solidFill>
              </a:rPr>
              <a:t> </a:t>
            </a:r>
            <a:r>
              <a:rPr lang="ko-KR" altLang="en-US" b="1" dirty="0">
                <a:solidFill>
                  <a:srgbClr val="7030A0"/>
                </a:solidFill>
              </a:rPr>
              <a:t>점프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6493959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F3280A-E7C3-BD85-41D2-1604FDBD8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59819-FF10-5AD7-FFB5-F84A05D5A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E1E4CD5-A101-7E6B-613F-0809623AB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B’’</a:t>
            </a:r>
          </a:p>
          <a:p>
            <a:r>
              <a:rPr lang="en-US" altLang="ko-KR" dirty="0"/>
              <a:t>B’’’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127F4A-3457-B3B9-5688-5E80F625769A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4DF727-CB77-CE8E-D5FA-39CBB55B1A94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EE1664-2F11-EA75-51A5-8EE9683F460A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D54178F-877C-129F-0B65-5B105CDFA095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D12F0-2DFE-F30E-1D17-A56D5D47305C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BF23E2-BACE-4037-60B8-C176519788E0}"/>
              </a:ext>
            </a:extLst>
          </p:cNvPr>
          <p:cNvSpPr txBox="1"/>
          <p:nvPr/>
        </p:nvSpPr>
        <p:spPr>
          <a:xfrm>
            <a:off x="4294106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3A7341-13C7-5A45-DAF2-E477F61BF6B3}"/>
              </a:ext>
            </a:extLst>
          </p:cNvPr>
          <p:cNvSpPr txBox="1"/>
          <p:nvPr/>
        </p:nvSpPr>
        <p:spPr>
          <a:xfrm>
            <a:off x="4294110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95DF34-2321-4E7F-72A4-DB6B0F93748D}"/>
              </a:ext>
            </a:extLst>
          </p:cNvPr>
          <p:cNvSpPr txBox="1"/>
          <p:nvPr/>
        </p:nvSpPr>
        <p:spPr>
          <a:xfrm>
            <a:off x="3849741" y="5395786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75540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FE92D-22C1-9B29-7B06-812E92FDE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CEEE81-DC19-2729-F4C7-A09CC0154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8BF0A1-A639-5B27-4614-4F65DD3A4C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B’’</a:t>
            </a:r>
          </a:p>
          <a:p>
            <a:r>
              <a:rPr lang="en-US" altLang="ko-KR" dirty="0"/>
              <a:t>B’’’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EAE0854-F604-FCED-5F03-D47880254755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CF5E16-BF5C-BE26-0D57-E457483D18BF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020BF9-6A5B-E254-D71E-AB4DE0B6E4DA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E6076C-A5E6-D7FE-121D-FB867FA54961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dirty="0">
                <a:highlight>
                  <a:srgbClr val="FFFF00"/>
                </a:highlight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BA57F8E-B203-F28D-FE0F-575581DAB656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8DF6588-4175-2846-B2B9-70F6BA7F6AC7}"/>
              </a:ext>
            </a:extLst>
          </p:cNvPr>
          <p:cNvSpPr txBox="1"/>
          <p:nvPr/>
        </p:nvSpPr>
        <p:spPr>
          <a:xfrm>
            <a:off x="4294106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</a:t>
            </a:r>
            <a:r>
              <a:rPr lang="en-US" altLang="ko-KR" dirty="0">
                <a:highlight>
                  <a:srgbClr val="FFFF00"/>
                </a:highlight>
              </a:rPr>
              <a:t>B</a:t>
            </a:r>
            <a:r>
              <a:rPr lang="en-US" altLang="ko-KR" dirty="0"/>
              <a:t> A B A C 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0647BAB-A303-78B4-02FB-40534C72CD7B}"/>
              </a:ext>
            </a:extLst>
          </p:cNvPr>
          <p:cNvSpPr txBox="1"/>
          <p:nvPr/>
        </p:nvSpPr>
        <p:spPr>
          <a:xfrm>
            <a:off x="4294110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BD01F9-FCF0-7802-6ACE-41C8DCAE4614}"/>
              </a:ext>
            </a:extLst>
          </p:cNvPr>
          <p:cNvSpPr txBox="1"/>
          <p:nvPr/>
        </p:nvSpPr>
        <p:spPr>
          <a:xfrm>
            <a:off x="3849741" y="5395786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2ADB2E6F-842E-2E1D-017D-C5C8C2FF3558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68253" y="3278590"/>
            <a:ext cx="4486890" cy="1580366"/>
          </a:xfrm>
          <a:prstGeom prst="curvedConnector3">
            <a:avLst>
              <a:gd name="adj1" fmla="val 1010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구부러짐 10">
            <a:extLst>
              <a:ext uri="{FF2B5EF4-FFF2-40B4-BE49-F238E27FC236}">
                <a16:creationId xmlns:a16="http://schemas.microsoft.com/office/drawing/2014/main" id="{F6BEA325-59F4-40A8-FA61-1EF79DC6469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754881" y="4071482"/>
            <a:ext cx="4658627" cy="2021310"/>
          </a:xfrm>
          <a:prstGeom prst="curvedConnector3">
            <a:avLst>
              <a:gd name="adj1" fmla="val -43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8E74B9EC-1B91-72DB-AB15-87C9693DE08C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 시작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88300805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95A2-CAE6-B303-F119-8944055F3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934E1-E8BF-6B3E-552D-F173F0C8D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485FE30-D2C4-271A-DFE9-169CE4F4EB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A392C5-5E71-94C3-DBB9-DDF03C0C306D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A966229-A27E-CB5D-5127-0E2AD8A9E291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DBF4F-2990-2C2B-D527-C3B0052F5F7C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99495D-6F99-3ABA-2433-A74948D5FF9D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3781F-F6D0-08A2-A764-5EB0B86A8D98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A38308-BDBF-D0AD-A38E-9679BC617AFB}"/>
              </a:ext>
            </a:extLst>
          </p:cNvPr>
          <p:cNvSpPr txBox="1"/>
          <p:nvPr/>
        </p:nvSpPr>
        <p:spPr>
          <a:xfrm>
            <a:off x="4294106" y="5387765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</a:t>
            </a:r>
            <a:r>
              <a:rPr lang="en-US" altLang="ko-KR" b="1" dirty="0">
                <a:solidFill>
                  <a:srgbClr val="FF0000"/>
                </a:solidFill>
              </a:rPr>
              <a:t>B</a:t>
            </a:r>
            <a:r>
              <a:rPr lang="en-US" altLang="ko-KR" dirty="0"/>
              <a:t> A B A C A B A</a:t>
            </a:r>
            <a:endParaRPr lang="ko-KR" alt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3F79F14-084D-1614-ED31-EE1C06611A69}"/>
              </a:ext>
            </a:extLst>
          </p:cNvPr>
          <p:cNvSpPr txBox="1"/>
          <p:nvPr/>
        </p:nvSpPr>
        <p:spPr>
          <a:xfrm>
            <a:off x="4294110" y="5816668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5FE60197-AEED-2166-C4E3-509B9D3ED3FB}"/>
              </a:ext>
            </a:extLst>
          </p:cNvPr>
          <p:cNvSpPr txBox="1">
            <a:spLocks/>
          </p:cNvSpPr>
          <p:nvPr/>
        </p:nvSpPr>
        <p:spPr>
          <a:xfrm>
            <a:off x="7043462" y="36381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불일치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A[7] != B’’’[1]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이는 곧 </a:t>
            </a:r>
            <a:r>
              <a:rPr lang="en-US" altLang="ko-KR" b="1" dirty="0">
                <a:solidFill>
                  <a:srgbClr val="7030A0"/>
                </a:solidFill>
              </a:rPr>
              <a:t>0</a:t>
            </a:r>
            <a:r>
              <a:rPr lang="ko-KR" altLang="en-US" b="1" dirty="0">
                <a:solidFill>
                  <a:srgbClr val="7030A0"/>
                </a:solidFill>
              </a:rPr>
              <a:t>번 </a:t>
            </a:r>
            <a:r>
              <a:rPr lang="ko-KR" altLang="en-US" b="1" dirty="0" err="1">
                <a:solidFill>
                  <a:srgbClr val="7030A0"/>
                </a:solidFill>
              </a:rPr>
              <a:t>인덱스까지인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0+1</a:t>
            </a:r>
            <a:r>
              <a:rPr lang="ko-KR" altLang="en-US" b="1" dirty="0">
                <a:solidFill>
                  <a:srgbClr val="7030A0"/>
                </a:solidFill>
              </a:rPr>
              <a:t>글자 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  <a:p>
            <a:pPr algn="ctr">
              <a:buFont typeface="Wingdings" panose="05000000000000000000" pitchFamily="2" charset="2"/>
              <a:buChar char="è"/>
            </a:pPr>
            <a:r>
              <a:rPr lang="en-US" altLang="ko-KR" b="1" dirty="0">
                <a:solidFill>
                  <a:srgbClr val="7030A0"/>
                </a:solidFill>
              </a:rPr>
              <a:t>B’’’’</a:t>
            </a:r>
            <a:r>
              <a:rPr lang="ko-KR" altLang="en-US" b="1" dirty="0">
                <a:solidFill>
                  <a:srgbClr val="7030A0"/>
                </a:solidFill>
              </a:rPr>
              <a:t>를 </a:t>
            </a:r>
            <a:r>
              <a:rPr lang="en-US" altLang="ko-KR" b="1" dirty="0">
                <a:solidFill>
                  <a:srgbClr val="7030A0"/>
                </a:solidFill>
              </a:rPr>
              <a:t>F(0)(=0) </a:t>
            </a:r>
            <a:r>
              <a:rPr lang="ko-KR" altLang="en-US" b="1" dirty="0">
                <a:solidFill>
                  <a:srgbClr val="7030A0"/>
                </a:solidFill>
              </a:rPr>
              <a:t>인덱스부터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비교하도록</a:t>
            </a:r>
            <a:r>
              <a:rPr lang="en-US" altLang="ko-KR" b="1" dirty="0">
                <a:solidFill>
                  <a:srgbClr val="7030A0"/>
                </a:solidFill>
              </a:rPr>
              <a:t> </a:t>
            </a:r>
            <a:r>
              <a:rPr lang="ko-KR" altLang="en-US" b="1" dirty="0">
                <a:solidFill>
                  <a:srgbClr val="7030A0"/>
                </a:solidFill>
              </a:rPr>
              <a:t>점프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33100178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58A27-C342-FB0E-61DC-008B70D92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0ABA07-935F-E85F-C57E-4D844BEE8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8690CD-3F51-26B4-7252-676551B66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</a:t>
            </a: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CF86883-A5AA-DFCB-3A21-E4F53CFEF117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48F145-3E33-9879-E942-9C4CF2947CC8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B88B45-76C9-6B33-394A-1F0F61DACFC9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3B2ED4-DA24-2ECB-FDB9-12FEA0F0C2CC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7E5C702-61D2-7863-AEC9-DAFE8AC7B55E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943124E6-87C7-9162-3636-4C13C597E365}"/>
              </a:ext>
            </a:extLst>
          </p:cNvPr>
          <p:cNvSpPr txBox="1">
            <a:spLocks/>
          </p:cNvSpPr>
          <p:nvPr/>
        </p:nvSpPr>
        <p:spPr>
          <a:xfrm>
            <a:off x="7043462" y="36381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불일치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A[7] != B’’’[1]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이는 곧 </a:t>
            </a:r>
            <a:r>
              <a:rPr lang="en-US" altLang="ko-KR" b="1" dirty="0">
                <a:solidFill>
                  <a:srgbClr val="7030A0"/>
                </a:solidFill>
              </a:rPr>
              <a:t>0</a:t>
            </a:r>
            <a:r>
              <a:rPr lang="ko-KR" altLang="en-US" b="1" dirty="0">
                <a:solidFill>
                  <a:srgbClr val="7030A0"/>
                </a:solidFill>
              </a:rPr>
              <a:t>번 </a:t>
            </a:r>
            <a:r>
              <a:rPr lang="ko-KR" altLang="en-US" b="1" dirty="0" err="1">
                <a:solidFill>
                  <a:srgbClr val="7030A0"/>
                </a:solidFill>
              </a:rPr>
              <a:t>인덱스까지인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0+1</a:t>
            </a:r>
            <a:r>
              <a:rPr lang="ko-KR" altLang="en-US" b="1" dirty="0">
                <a:solidFill>
                  <a:srgbClr val="7030A0"/>
                </a:solidFill>
              </a:rPr>
              <a:t>글자 일치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  <a:p>
            <a:pPr algn="ctr">
              <a:buFont typeface="Wingdings" panose="05000000000000000000" pitchFamily="2" charset="2"/>
              <a:buChar char="è"/>
            </a:pPr>
            <a:r>
              <a:rPr lang="en-US" altLang="ko-KR" b="1" dirty="0">
                <a:solidFill>
                  <a:srgbClr val="7030A0"/>
                </a:solidFill>
              </a:rPr>
              <a:t>B’’’’</a:t>
            </a:r>
            <a:r>
              <a:rPr lang="ko-KR" altLang="en-US" b="1" dirty="0">
                <a:solidFill>
                  <a:srgbClr val="7030A0"/>
                </a:solidFill>
              </a:rPr>
              <a:t>를 </a:t>
            </a:r>
            <a:r>
              <a:rPr lang="en-US" altLang="ko-KR" b="1" dirty="0">
                <a:solidFill>
                  <a:srgbClr val="7030A0"/>
                </a:solidFill>
              </a:rPr>
              <a:t>F(0)(=0) </a:t>
            </a:r>
            <a:r>
              <a:rPr lang="ko-KR" altLang="en-US" b="1" dirty="0">
                <a:solidFill>
                  <a:srgbClr val="7030A0"/>
                </a:solidFill>
              </a:rPr>
              <a:t>인덱스부터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비교하도록</a:t>
            </a:r>
            <a:r>
              <a:rPr lang="en-US" altLang="ko-KR" b="1" dirty="0">
                <a:solidFill>
                  <a:srgbClr val="7030A0"/>
                </a:solidFill>
              </a:rPr>
              <a:t> </a:t>
            </a:r>
            <a:r>
              <a:rPr lang="ko-KR" altLang="en-US" b="1" dirty="0">
                <a:solidFill>
                  <a:srgbClr val="7030A0"/>
                </a:solidFill>
              </a:rPr>
              <a:t>점프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4A1A9-F4E5-CBC1-4973-66A6804F3C80}"/>
              </a:ext>
            </a:extLst>
          </p:cNvPr>
          <p:cNvSpPr txBox="1"/>
          <p:nvPr/>
        </p:nvSpPr>
        <p:spPr>
          <a:xfrm>
            <a:off x="4515488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2A93FE-03E7-2C9B-D9E5-7418848F7FA9}"/>
              </a:ext>
            </a:extLst>
          </p:cNvPr>
          <p:cNvSpPr txBox="1"/>
          <p:nvPr/>
        </p:nvSpPr>
        <p:spPr>
          <a:xfrm>
            <a:off x="4515492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55E0009-B65C-F827-F8BD-8CA6BCDF9A4D}"/>
              </a:ext>
            </a:extLst>
          </p:cNvPr>
          <p:cNvSpPr txBox="1"/>
          <p:nvPr/>
        </p:nvSpPr>
        <p:spPr>
          <a:xfrm>
            <a:off x="4282877" y="5395786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7014987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F035A-EB40-8670-20C7-310FDE5C6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5396B-6B83-EFFE-0B9A-41DC1A5D7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E955719-5A6C-070D-74B1-FEE02617D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</a:t>
            </a: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574A20-83CF-A1FE-2240-C9363847DACB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B542C3-5A2A-7C1B-0E0B-8041A6F29805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C0F1CF-9A30-C984-234F-51EE4D6DC6CF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0</a:t>
            </a:r>
            <a:r>
              <a:rPr lang="en-US" altLang="ko-KR" dirty="0"/>
              <a:t>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496072-F7F0-E32D-6CE7-7363E041DD22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dirty="0">
                <a:highlight>
                  <a:srgbClr val="FFFF00"/>
                </a:highlight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8E9770-1BBE-3A34-49DB-7BDB51EEE008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71CB5F-4666-5AF7-56CF-A434A28F59D1}"/>
              </a:ext>
            </a:extLst>
          </p:cNvPr>
          <p:cNvSpPr txBox="1"/>
          <p:nvPr/>
        </p:nvSpPr>
        <p:spPr>
          <a:xfrm>
            <a:off x="4515488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A</a:t>
            </a:r>
            <a:r>
              <a:rPr lang="en-US" altLang="ko-KR" dirty="0"/>
              <a:t> B A B A C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D512778-D591-9E6E-16A6-B11FD0F968EB}"/>
              </a:ext>
            </a:extLst>
          </p:cNvPr>
          <p:cNvSpPr txBox="1"/>
          <p:nvPr/>
        </p:nvSpPr>
        <p:spPr>
          <a:xfrm>
            <a:off x="4515492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CF16A33-6C53-0F77-4E66-A55C85549700}"/>
              </a:ext>
            </a:extLst>
          </p:cNvPr>
          <p:cNvSpPr txBox="1"/>
          <p:nvPr/>
        </p:nvSpPr>
        <p:spPr>
          <a:xfrm>
            <a:off x="4282877" y="5395786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14121406-6720-B620-EC40-D11550436E63}"/>
              </a:ext>
            </a:extLst>
          </p:cNvPr>
          <p:cNvCxnSpPr>
            <a:cxnSpLocks/>
          </p:cNvCxnSpPr>
          <p:nvPr/>
        </p:nvCxnSpPr>
        <p:spPr>
          <a:xfrm rot="10800000" flipV="1">
            <a:off x="4668253" y="3278590"/>
            <a:ext cx="4486890" cy="1580366"/>
          </a:xfrm>
          <a:prstGeom prst="curvedConnector3">
            <a:avLst>
              <a:gd name="adj1" fmla="val 10105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DB9DA630-F430-FEAB-AEB3-D8AB557F2C0C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22257" y="4071482"/>
            <a:ext cx="4591252" cy="2021310"/>
          </a:xfrm>
          <a:prstGeom prst="curvedConnector3">
            <a:avLst>
              <a:gd name="adj1" fmla="val -891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167E84C-52B9-AD56-8319-5D929461BF35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 시작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311893702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04CE-1E8D-EF8C-C08F-803622046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7F5FD2-914F-4DCA-76E3-9394AB2C52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68EA80-B361-F024-AC1A-D07A88625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</a:t>
            </a: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D2A8D4A-6C60-78CC-3912-101E109C6576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E1E0CB-1966-B86A-C8C5-1A985CBC36BB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6F77AD-B109-8A1E-685D-50FA59A9E151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0</a:t>
            </a:r>
            <a:r>
              <a:rPr lang="en-US" altLang="ko-KR" dirty="0"/>
              <a:t>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13AD70-3719-AADD-98C3-932FC27D4CE7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</a:t>
            </a:r>
            <a:r>
              <a:rPr lang="en-US" altLang="ko-KR" b="1" dirty="0">
                <a:solidFill>
                  <a:srgbClr val="FF0000"/>
                </a:solidFill>
              </a:rPr>
              <a:t>D</a:t>
            </a:r>
            <a:r>
              <a:rPr lang="en-US" altLang="ko-KR" dirty="0"/>
              <a:t> A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8F2B74F-D146-87A3-5E5E-0F49DC040A60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5D920A6-C185-95C6-954D-2F92BB66B512}"/>
              </a:ext>
            </a:extLst>
          </p:cNvPr>
          <p:cNvSpPr txBox="1"/>
          <p:nvPr/>
        </p:nvSpPr>
        <p:spPr>
          <a:xfrm>
            <a:off x="4515488" y="5897904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A</a:t>
            </a:r>
            <a:r>
              <a:rPr lang="en-US" altLang="ko-KR" dirty="0"/>
              <a:t> B A B A C A B A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317148-B4D7-BA0F-8069-28ABEA32751F}"/>
              </a:ext>
            </a:extLst>
          </p:cNvPr>
          <p:cNvSpPr txBox="1"/>
          <p:nvPr/>
        </p:nvSpPr>
        <p:spPr>
          <a:xfrm>
            <a:off x="4515492" y="6326807"/>
            <a:ext cx="2141933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0  1  2   3  4  5  6  7  8</a:t>
            </a:r>
            <a:endParaRPr lang="ko-KR" altLang="en-US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116348C-84F5-69A9-FC40-4892C3037714}"/>
              </a:ext>
            </a:extLst>
          </p:cNvPr>
          <p:cNvSpPr txBox="1"/>
          <p:nvPr/>
        </p:nvSpPr>
        <p:spPr>
          <a:xfrm>
            <a:off x="4282877" y="5395786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2">
                    <a:lumMod val="90000"/>
                  </a:schemeClr>
                </a:solidFill>
              </a:rPr>
              <a:t>A B A B A C A B A</a:t>
            </a:r>
            <a:endParaRPr lang="ko-KR" altLang="en-US" dirty="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2F42FBF-685D-E895-58B7-8E5B2DD6FD60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막다른 길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  <a:p>
            <a:pPr marL="0" indent="0" algn="ctr">
              <a:buNone/>
            </a:pP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A</a:t>
            </a:r>
            <a:r>
              <a:rPr lang="ko-KR" altLang="en-US" b="1" dirty="0">
                <a:solidFill>
                  <a:srgbClr val="7030A0"/>
                </a:solidFill>
              </a:rPr>
              <a:t>의 인덱스를 하나 키움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(</a:t>
            </a:r>
            <a:r>
              <a:rPr lang="ko-KR" altLang="en-US" b="1" dirty="0">
                <a:solidFill>
                  <a:srgbClr val="7030A0"/>
                </a:solidFill>
              </a:rPr>
              <a:t>비교 기준을 다음으로 넘김</a:t>
            </a:r>
            <a:r>
              <a:rPr lang="en-US" altLang="ko-KR" b="1" dirty="0">
                <a:solidFill>
                  <a:srgbClr val="7030A0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287983112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D8F7D-DB56-B42E-905F-0A834D0D4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DE319DC-C203-28A7-D1C8-2042F52DA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4BB9EC-3FA6-5E76-DAD6-E9590D482B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A35687C-5367-92B7-D1BC-7C5442E5E713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B073476-6954-E179-5AFF-5FDD8A2CF0F7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A274BE-4DCB-9AF1-4631-9E29FC4265F0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0C20AC8-B209-AAAB-ED5A-B07833C6236B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</a:t>
            </a:r>
            <a:r>
              <a:rPr lang="en-US" altLang="ko-KR" dirty="0">
                <a:highlight>
                  <a:srgbClr val="FFFF00"/>
                </a:highlight>
              </a:rPr>
              <a:t>A</a:t>
            </a:r>
            <a:r>
              <a:rPr lang="en-US" altLang="ko-KR" dirty="0"/>
              <a:t> B A B A C A 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4902CDE-9472-ECA9-8CBE-E6424CD58357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6F1ACC-5250-9AA8-1206-437551FE5256}"/>
              </a:ext>
            </a:extLst>
          </p:cNvPr>
          <p:cNvSpPr txBox="1"/>
          <p:nvPr/>
        </p:nvSpPr>
        <p:spPr>
          <a:xfrm>
            <a:off x="4725640" y="5395783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A</a:t>
            </a:r>
            <a:r>
              <a:rPr lang="en-US" altLang="ko-KR" dirty="0"/>
              <a:t> B A B A C A B A</a:t>
            </a:r>
            <a:endParaRPr lang="ko-KR" altLang="en-US" dirty="0"/>
          </a:p>
        </p:txBody>
      </p:sp>
      <p:cxnSp>
        <p:nvCxnSpPr>
          <p:cNvPr id="9" name="연결선: 구부러짐 8">
            <a:extLst>
              <a:ext uri="{FF2B5EF4-FFF2-40B4-BE49-F238E27FC236}">
                <a16:creationId xmlns:a16="http://schemas.microsoft.com/office/drawing/2014/main" id="{834212D1-46E4-3256-290A-E457323B3A81}"/>
              </a:ext>
            </a:extLst>
          </p:cNvPr>
          <p:cNvCxnSpPr>
            <a:cxnSpLocks/>
          </p:cNvCxnSpPr>
          <p:nvPr/>
        </p:nvCxnSpPr>
        <p:spPr>
          <a:xfrm rot="10800000" flipV="1">
            <a:off x="4822257" y="3278590"/>
            <a:ext cx="4332886" cy="1580366"/>
          </a:xfrm>
          <a:prstGeom prst="curvedConnector3">
            <a:avLst>
              <a:gd name="adj1" fmla="val 10353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구부러짐 11">
            <a:extLst>
              <a:ext uri="{FF2B5EF4-FFF2-40B4-BE49-F238E27FC236}">
                <a16:creationId xmlns:a16="http://schemas.microsoft.com/office/drawing/2014/main" id="{10497A98-5223-A0A3-4936-446F05C1B6AD}"/>
              </a:ext>
            </a:extLst>
          </p:cNvPr>
          <p:cNvCxnSpPr>
            <a:cxnSpLocks/>
          </p:cNvCxnSpPr>
          <p:nvPr/>
        </p:nvCxnSpPr>
        <p:spPr>
          <a:xfrm rot="10800000" flipV="1">
            <a:off x="4947385" y="4071481"/>
            <a:ext cx="4466124" cy="1559297"/>
          </a:xfrm>
          <a:prstGeom prst="curvedConnector3">
            <a:avLst>
              <a:gd name="adj1" fmla="val -797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88B46F27-ABDF-901F-3DAF-F6CF27947A38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비교 시작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649210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55D83-6BC8-8FD5-521A-D92EC91F39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3339AB-03C0-4EF1-B5D7-915D9B3448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8CB91C-F134-DF13-3A71-D5BCD27E52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9DE8CE-4611-D80B-03B9-18D622C68099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AE52C3-BA4C-D1F7-BB95-BA4893406EEB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14BB14-7B17-D35B-A74D-37140345262E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6BE0F0-1EB4-55FF-7973-6A8A118D91A6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</a:t>
            </a:r>
            <a:r>
              <a:rPr lang="en-US" altLang="ko-KR" b="1" dirty="0">
                <a:solidFill>
                  <a:srgbClr val="00B050"/>
                </a:solidFill>
              </a:rPr>
              <a:t>A B A B A C A </a:t>
            </a:r>
            <a:r>
              <a:rPr lang="en-US" altLang="ko-KR" dirty="0"/>
              <a:t>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903514-B83F-4CC9-191A-198BDA4BA1E4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BAA394-D8F3-6A98-C1D9-8B7164481C4A}"/>
              </a:ext>
            </a:extLst>
          </p:cNvPr>
          <p:cNvSpPr txBox="1"/>
          <p:nvPr/>
        </p:nvSpPr>
        <p:spPr>
          <a:xfrm>
            <a:off x="4725640" y="5395783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C A </a:t>
            </a:r>
            <a:r>
              <a:rPr lang="en-US" altLang="ko-KR" dirty="0"/>
              <a:t>B 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2601212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FAD46D-501D-9F95-E126-53C1AF154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210FE8-ED2E-64D3-CFE7-1A70279EF9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0x02 KMP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83E5F9-1A47-EA27-EF25-AA191AA4BC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25432"/>
          </a:xfrm>
        </p:spPr>
        <p:txBody>
          <a:bodyPr/>
          <a:lstStyle/>
          <a:p>
            <a:r>
              <a:rPr lang="ko-KR" altLang="en-US" dirty="0"/>
              <a:t>이제 진짜 </a:t>
            </a:r>
            <a:r>
              <a:rPr lang="en-US" altLang="ko-KR" dirty="0"/>
              <a:t>KMP</a:t>
            </a:r>
            <a:r>
              <a:rPr lang="ko-KR" altLang="en-US" dirty="0"/>
              <a:t>를 이해해보자</a:t>
            </a:r>
            <a:r>
              <a:rPr lang="en-US" altLang="ko-KR" dirty="0"/>
              <a:t>.</a:t>
            </a:r>
            <a:r>
              <a:rPr lang="ko-KR" altLang="en-US" dirty="0"/>
              <a:t>👊🏻</a:t>
            </a:r>
            <a:endParaRPr lang="en-US" altLang="ko-KR" dirty="0"/>
          </a:p>
          <a:p>
            <a:r>
              <a:rPr lang="en-US" altLang="ko-KR" dirty="0"/>
              <a:t>A</a:t>
            </a:r>
          </a:p>
          <a:p>
            <a:r>
              <a:rPr lang="en-US" altLang="ko-KR" dirty="0"/>
              <a:t>B</a:t>
            </a:r>
          </a:p>
          <a:p>
            <a:r>
              <a:rPr lang="ko-KR" altLang="en-US" dirty="0"/>
              <a:t>실패함수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인덱스</a:t>
            </a:r>
            <a:endParaRPr lang="en-US" altLang="ko-KR" dirty="0"/>
          </a:p>
          <a:p>
            <a:r>
              <a:rPr lang="en-US" altLang="ko-KR" dirty="0"/>
              <a:t>A</a:t>
            </a:r>
            <a:endParaRPr lang="en-US" altLang="ko-KR" dirty="0">
              <a:solidFill>
                <a:schemeClr val="bg2">
                  <a:lumMod val="90000"/>
                </a:schemeClr>
              </a:solidFill>
            </a:endParaRPr>
          </a:p>
          <a:p>
            <a:r>
              <a:rPr lang="en-US" altLang="ko-KR" dirty="0"/>
              <a:t>B’’’’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107C48-DC07-3284-C95F-6AEC960D8F0F}"/>
              </a:ext>
            </a:extLst>
          </p:cNvPr>
          <p:cNvSpPr txBox="1"/>
          <p:nvPr/>
        </p:nvSpPr>
        <p:spPr>
          <a:xfrm>
            <a:off x="2912883" y="2404989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A B A B A C A B A 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09456-9A75-A75A-AD2B-DF824FFEE77D}"/>
              </a:ext>
            </a:extLst>
          </p:cNvPr>
          <p:cNvSpPr txBox="1"/>
          <p:nvPr/>
        </p:nvSpPr>
        <p:spPr>
          <a:xfrm>
            <a:off x="2912883" y="2909258"/>
            <a:ext cx="214994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C A B A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EF0B1E-F25E-3DEA-4EC5-8C8FCA5CE743}"/>
              </a:ext>
            </a:extLst>
          </p:cNvPr>
          <p:cNvSpPr txBox="1"/>
          <p:nvPr/>
        </p:nvSpPr>
        <p:spPr>
          <a:xfrm>
            <a:off x="2914454" y="3429305"/>
            <a:ext cx="2141933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0 0  1 2 3  0 1 2 3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B3571A-C9A2-4E21-1C69-BE684E388E92}"/>
              </a:ext>
            </a:extLst>
          </p:cNvPr>
          <p:cNvSpPr txBox="1"/>
          <p:nvPr/>
        </p:nvSpPr>
        <p:spPr>
          <a:xfrm>
            <a:off x="2912883" y="4858956"/>
            <a:ext cx="4310795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dirty="0"/>
              <a:t>A B A B A B A D </a:t>
            </a:r>
            <a:r>
              <a:rPr lang="en-US" altLang="ko-KR" b="1" dirty="0">
                <a:solidFill>
                  <a:srgbClr val="00B050"/>
                </a:solidFill>
              </a:rPr>
              <a:t>A B A B A C A </a:t>
            </a:r>
            <a:r>
              <a:rPr lang="en-US" altLang="ko-KR" dirty="0"/>
              <a:t>B A D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42402B-4CF3-1F09-F222-CC853210678A}"/>
              </a:ext>
            </a:extLst>
          </p:cNvPr>
          <p:cNvSpPr txBox="1"/>
          <p:nvPr/>
        </p:nvSpPr>
        <p:spPr>
          <a:xfrm>
            <a:off x="2920904" y="4462710"/>
            <a:ext cx="4270721" cy="30777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0 1   2  3  4  5  6  7  8   9 </a:t>
            </a:r>
            <a:r>
              <a:rPr lang="en-US" altLang="ko-KR" sz="1200" dirty="0"/>
              <a:t>10 11 12  13 14  15 16 17</a:t>
            </a:r>
            <a:endParaRPr lang="ko-KR" alt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ECB68-5208-0FFB-ADB5-3AC6CE5B8D77}"/>
              </a:ext>
            </a:extLst>
          </p:cNvPr>
          <p:cNvSpPr txBox="1"/>
          <p:nvPr/>
        </p:nvSpPr>
        <p:spPr>
          <a:xfrm>
            <a:off x="4725640" y="5395783"/>
            <a:ext cx="220445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00B050"/>
                </a:solidFill>
              </a:rPr>
              <a:t>A B A B A C A </a:t>
            </a:r>
            <a:r>
              <a:rPr lang="en-US" altLang="ko-KR" dirty="0"/>
              <a:t>B A</a:t>
            </a:r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6767FA0-82B2-68DB-B80B-E8AC54368603}"/>
              </a:ext>
            </a:extLst>
          </p:cNvPr>
          <p:cNvSpPr txBox="1">
            <a:spLocks/>
          </p:cNvSpPr>
          <p:nvPr/>
        </p:nvSpPr>
        <p:spPr>
          <a:xfrm>
            <a:off x="6891062" y="3485743"/>
            <a:ext cx="5051307" cy="30071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발견</a:t>
            </a:r>
            <a:r>
              <a:rPr lang="en-US" altLang="ko-KR" b="1" dirty="0">
                <a:solidFill>
                  <a:srgbClr val="7030A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54330836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CE7D18-C7E4-2367-2191-2EDBDA5255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D5949A-423D-F190-F995-A526D998F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03112F7-2267-4E2D-19D9-D889A78960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linkClick r:id="rId2"/>
              </a:rPr>
              <a:t>https://github.com/zeonyani/presentation/tree/main/kmp</a:t>
            </a:r>
            <a:endParaRPr lang="en-US" altLang="ko-KR" dirty="0"/>
          </a:p>
          <a:p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7EF6BAB-C894-76FF-02EC-BEDC17F817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159" y="2348030"/>
            <a:ext cx="3734321" cy="4067743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8551FA1C-B83E-DCA4-E7FD-9AD10BAE6D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389" y="2338503"/>
            <a:ext cx="3734321" cy="4086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334621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D80BD7-1CA5-8620-CBCA-5231D0005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3326A9-2E3F-6654-39CF-09C4C0A650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88079D-029B-685D-807E-9D3BFC840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정합성 확인</a:t>
            </a:r>
            <a:r>
              <a:rPr lang="en-US" altLang="ko-KR" dirty="0"/>
              <a:t>? 4</a:t>
            </a:r>
            <a:r>
              <a:rPr lang="ko-KR" altLang="en-US" dirty="0"/>
              <a:t>개의 알고리즘이 같은 값을 내는지 확인</a:t>
            </a:r>
            <a:r>
              <a:rPr lang="en-US" altLang="ko-KR" dirty="0"/>
              <a:t>(</a:t>
            </a:r>
            <a:r>
              <a:rPr lang="ko-KR" altLang="en-US" dirty="0"/>
              <a:t>고정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매칭은 무의미</a:t>
            </a:r>
            <a:r>
              <a:rPr lang="en-US" altLang="ko-KR" dirty="0"/>
              <a:t>(</a:t>
            </a:r>
            <a:r>
              <a:rPr lang="ko-KR" altLang="en-US" dirty="0"/>
              <a:t>랜덤 텍스트에 랜덤 패턴을 넣는 상황이라 대부분 </a:t>
            </a:r>
            <a:r>
              <a:rPr lang="en-US" altLang="ko-KR" dirty="0"/>
              <a:t>0) -&gt; </a:t>
            </a:r>
            <a:r>
              <a:rPr lang="ko-KR" altLang="en-US" dirty="0"/>
              <a:t>여기에서 포인트는 </a:t>
            </a:r>
            <a:r>
              <a:rPr lang="en-US" altLang="ko-KR" dirty="0"/>
              <a:t>“</a:t>
            </a:r>
            <a:r>
              <a:rPr lang="ko-KR" altLang="en-US" dirty="0"/>
              <a:t>걸린 시간</a:t>
            </a:r>
            <a:r>
              <a:rPr lang="en-US" altLang="ko-KR" dirty="0"/>
              <a:t>“</a:t>
            </a:r>
          </a:p>
          <a:p>
            <a:r>
              <a:rPr lang="en-US" altLang="ko-KR" dirty="0"/>
              <a:t>KMP</a:t>
            </a:r>
            <a:r>
              <a:rPr lang="ko-KR" altLang="en-US" dirty="0"/>
              <a:t>를 기준</a:t>
            </a:r>
            <a:r>
              <a:rPr lang="en-US" altLang="ko-KR" dirty="0"/>
              <a:t>(x1.00)</a:t>
            </a:r>
            <a:r>
              <a:rPr lang="ko-KR" altLang="en-US" dirty="0"/>
              <a:t>으로 삼고 알고리즘의 속도를 비교</a:t>
            </a:r>
            <a:endParaRPr lang="en-US" altLang="ko-KR" dirty="0"/>
          </a:p>
          <a:p>
            <a:pPr lvl="1"/>
            <a:r>
              <a:rPr lang="en-US" altLang="ko-KR" dirty="0"/>
              <a:t>e.g. x0.06 </a:t>
            </a:r>
            <a:r>
              <a:rPr lang="ko-KR" altLang="en-US" dirty="0"/>
              <a:t>이면 </a:t>
            </a:r>
            <a:r>
              <a:rPr lang="en-US" altLang="ko-KR" dirty="0"/>
              <a:t>KMP</a:t>
            </a:r>
            <a:r>
              <a:rPr lang="ko-KR" altLang="en-US" dirty="0"/>
              <a:t>보다 </a:t>
            </a:r>
            <a:r>
              <a:rPr lang="en-US" altLang="ko-KR" dirty="0"/>
              <a:t>16</a:t>
            </a:r>
            <a:r>
              <a:rPr lang="ko-KR" altLang="en-US" dirty="0"/>
              <a:t>배 빠름</a:t>
            </a:r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ko-KR" altLang="en-US" dirty="0"/>
              <a:t>이 제일 좋아 보이는데</a:t>
            </a:r>
            <a:r>
              <a:rPr lang="en-US" altLang="ko-KR" dirty="0"/>
              <a:t>?</a:t>
            </a:r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6772311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2977EE-FF56-17AB-E4F1-1EEC2CFF1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5F93F0-C4FF-1BB6-B1E8-A782E8913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C3BC55-EA84-569D-E23B-9A495077DE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strstr</a:t>
            </a:r>
            <a:r>
              <a:rPr lang="ko-KR" altLang="en-US" dirty="0"/>
              <a:t>의 정체 </a:t>
            </a:r>
            <a:r>
              <a:rPr lang="en-US" altLang="ko-KR" dirty="0"/>
              <a:t>like </a:t>
            </a:r>
            <a:r>
              <a:rPr lang="en-US" altLang="ko-KR" dirty="0" err="1"/>
              <a:t>printf</a:t>
            </a:r>
            <a:r>
              <a:rPr lang="en-US" altLang="ko-KR" dirty="0"/>
              <a:t> “C </a:t>
            </a:r>
            <a:r>
              <a:rPr lang="ko-KR" altLang="en-US" dirty="0"/>
              <a:t>표준 라이브러리 함수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en-US" altLang="ko-KR" dirty="0"/>
              <a:t> (</a:t>
            </a:r>
            <a:r>
              <a:rPr lang="en-US" altLang="ko-KR" sz="1800" dirty="0" err="1"/>
              <a:t>glibc</a:t>
            </a:r>
            <a:r>
              <a:rPr lang="en-US" altLang="ko-KR" sz="1800" dirty="0"/>
              <a:t>: GNU </a:t>
            </a:r>
            <a:r>
              <a:rPr lang="ko-KR" altLang="en-US" sz="1800" dirty="0"/>
              <a:t>프로젝트에서 만든 리눅스 시스템 핵심 </a:t>
            </a:r>
            <a:r>
              <a:rPr lang="en-US" altLang="ko-KR" sz="1800" dirty="0"/>
              <a:t>C </a:t>
            </a:r>
            <a:r>
              <a:rPr lang="ko-KR" altLang="en-US" sz="1800" dirty="0"/>
              <a:t>표준 라이브러리</a:t>
            </a:r>
            <a:r>
              <a:rPr lang="en-US" altLang="ko-KR" dirty="0"/>
              <a:t>) </a:t>
            </a:r>
            <a:r>
              <a:rPr lang="ko-KR" altLang="en-US" dirty="0"/>
              <a:t>변천사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E30BD40-540F-CD4B-BE9B-9ECB040CA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85998"/>
            <a:ext cx="7567886" cy="53420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C54C8D78-EDE2-F8A8-081B-D3C6B5A2B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2253549"/>
              </p:ext>
            </p:extLst>
          </p:nvPr>
        </p:nvGraphicFramePr>
        <p:xfrm>
          <a:off x="1810619" y="3417146"/>
          <a:ext cx="8128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550278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1151634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시기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 2010</a:t>
                      </a:r>
                      <a:r>
                        <a:rPr lang="ko-KR" altLang="en-US" dirty="0"/>
                        <a:t>년대 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그냥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루프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2012</a:t>
                      </a:r>
                      <a:r>
                        <a:rPr lang="ko-KR" altLang="en-US" dirty="0"/>
                        <a:t>년 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Two-Way </a:t>
                      </a:r>
                      <a:r>
                        <a:rPr lang="ko-KR" altLang="en-US" dirty="0"/>
                        <a:t>알고리즘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7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glibc</a:t>
                      </a:r>
                      <a:r>
                        <a:rPr lang="en-US" altLang="ko-KR" dirty="0"/>
                        <a:t> 2.26+)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감지 후 </a:t>
                      </a:r>
                      <a:r>
                        <a:rPr lang="en-US" altLang="ko-KR" dirty="0"/>
                        <a:t>SSE4.2/AVX2 </a:t>
                      </a:r>
                      <a:r>
                        <a:rPr lang="ko-KR" altLang="en-US" dirty="0"/>
                        <a:t>분기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002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CA8D83F8-C83D-74C6-E1E2-01DB8A55F9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41" y="4992554"/>
            <a:ext cx="5048955" cy="1009791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7DFE87C7-9691-405E-0896-8D25C8A42B0F}"/>
              </a:ext>
            </a:extLst>
          </p:cNvPr>
          <p:cNvCxnSpPr/>
          <p:nvPr/>
        </p:nvCxnSpPr>
        <p:spPr>
          <a:xfrm>
            <a:off x="2589196" y="4754880"/>
            <a:ext cx="683393" cy="481263"/>
          </a:xfrm>
          <a:prstGeom prst="curvedConnector3">
            <a:avLst>
              <a:gd name="adj1" fmla="val -51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98519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6A40B9-927C-CB63-8BEB-7211540BE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13D887-CB37-8C5C-3E1A-567A64674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A97960-DA53-F5AF-B795-743346D806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strstr</a:t>
            </a:r>
            <a:r>
              <a:rPr lang="ko-KR" altLang="en-US" dirty="0"/>
              <a:t>의 정체 </a:t>
            </a:r>
            <a:r>
              <a:rPr lang="en-US" altLang="ko-KR" dirty="0"/>
              <a:t>like </a:t>
            </a:r>
            <a:r>
              <a:rPr lang="en-US" altLang="ko-KR" dirty="0" err="1"/>
              <a:t>printf</a:t>
            </a:r>
            <a:r>
              <a:rPr lang="en-US" altLang="ko-KR" dirty="0"/>
              <a:t> “C </a:t>
            </a:r>
            <a:r>
              <a:rPr lang="ko-KR" altLang="en-US" dirty="0"/>
              <a:t>표준 라이브러리 함수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en-US" altLang="ko-KR" dirty="0"/>
              <a:t> (</a:t>
            </a:r>
            <a:r>
              <a:rPr lang="en-US" altLang="ko-KR" sz="1800" dirty="0" err="1"/>
              <a:t>glibc</a:t>
            </a:r>
            <a:r>
              <a:rPr lang="en-US" altLang="ko-KR" sz="1800" dirty="0"/>
              <a:t>: GNU </a:t>
            </a:r>
            <a:r>
              <a:rPr lang="ko-KR" altLang="en-US" sz="1800" dirty="0"/>
              <a:t>프로젝트에서 만든 리눅스 시스템 핵심 </a:t>
            </a:r>
            <a:r>
              <a:rPr lang="en-US" altLang="ko-KR" sz="1800" dirty="0"/>
              <a:t>C </a:t>
            </a:r>
            <a:r>
              <a:rPr lang="ko-KR" altLang="en-US" sz="1800" dirty="0"/>
              <a:t>표준 라이브러리</a:t>
            </a:r>
            <a:r>
              <a:rPr lang="en-US" altLang="ko-KR" dirty="0"/>
              <a:t>) </a:t>
            </a:r>
            <a:r>
              <a:rPr lang="ko-KR" altLang="en-US" dirty="0"/>
              <a:t>변천사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8C3D6F5-77A0-1AE8-B2B0-70A350A94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85998"/>
            <a:ext cx="7567886" cy="53420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EA4676D6-F07F-227A-7B07-9A99E1A922F2}"/>
              </a:ext>
            </a:extLst>
          </p:cNvPr>
          <p:cNvGraphicFramePr>
            <a:graphicFrameLocks noGrp="1"/>
          </p:cNvGraphicFramePr>
          <p:nvPr/>
        </p:nvGraphicFramePr>
        <p:xfrm>
          <a:off x="1810619" y="3417146"/>
          <a:ext cx="8128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550278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1151634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시기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 2010</a:t>
                      </a:r>
                      <a:r>
                        <a:rPr lang="ko-KR" altLang="en-US" dirty="0"/>
                        <a:t>년대 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그냥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루프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2012</a:t>
                      </a:r>
                      <a:r>
                        <a:rPr lang="ko-KR" altLang="en-US" dirty="0"/>
                        <a:t>년 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Two-Way </a:t>
                      </a:r>
                      <a:r>
                        <a:rPr lang="ko-KR" altLang="en-US" dirty="0"/>
                        <a:t>알고리즘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7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glibc</a:t>
                      </a:r>
                      <a:r>
                        <a:rPr lang="en-US" altLang="ko-KR" dirty="0"/>
                        <a:t> 2.26+)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감지 후 </a:t>
                      </a:r>
                      <a:r>
                        <a:rPr lang="en-US" altLang="ko-KR" dirty="0"/>
                        <a:t>SSE4.2/AVX2 </a:t>
                      </a:r>
                      <a:r>
                        <a:rPr lang="ko-KR" altLang="en-US" dirty="0"/>
                        <a:t>분기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002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AFCEA49D-FB40-405E-2C59-7F6ADABB5C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41" y="4992554"/>
            <a:ext cx="5048955" cy="1009791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06F69956-6216-58CE-C477-E9740FD82898}"/>
              </a:ext>
            </a:extLst>
          </p:cNvPr>
          <p:cNvCxnSpPr/>
          <p:nvPr/>
        </p:nvCxnSpPr>
        <p:spPr>
          <a:xfrm>
            <a:off x="2589196" y="4754880"/>
            <a:ext cx="683393" cy="481263"/>
          </a:xfrm>
          <a:prstGeom prst="curvedConnector3">
            <a:avLst>
              <a:gd name="adj1" fmla="val -51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E0D3DED8-AB20-321F-96B2-EE0C92844453}"/>
              </a:ext>
            </a:extLst>
          </p:cNvPr>
          <p:cNvSpPr txBox="1">
            <a:spLocks/>
          </p:cNvSpPr>
          <p:nvPr/>
        </p:nvSpPr>
        <p:spPr>
          <a:xfrm>
            <a:off x="165990" y="4980231"/>
            <a:ext cx="3289257" cy="22601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SIMD</a:t>
            </a: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하나의 명령어로 여러 데이터 동시 처리 기법</a:t>
            </a:r>
            <a:endParaRPr lang="en-US" altLang="ko-K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033606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95230-F421-88E3-5AB4-ABBADB98B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1F6DD-C9C2-3BA1-CF8C-683932E58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DEC801-52EC-BF82-3BFA-C84477A23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strstr</a:t>
            </a:r>
            <a:r>
              <a:rPr lang="ko-KR" altLang="en-US" dirty="0"/>
              <a:t>의 정체 </a:t>
            </a:r>
            <a:r>
              <a:rPr lang="en-US" altLang="ko-KR" dirty="0"/>
              <a:t>like </a:t>
            </a:r>
            <a:r>
              <a:rPr lang="en-US" altLang="ko-KR" dirty="0" err="1"/>
              <a:t>printf</a:t>
            </a:r>
            <a:r>
              <a:rPr lang="en-US" altLang="ko-KR" dirty="0"/>
              <a:t> “C </a:t>
            </a:r>
            <a:r>
              <a:rPr lang="ko-KR" altLang="en-US" dirty="0"/>
              <a:t>표준 라이브러리 함수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en-US" altLang="ko-KR" dirty="0"/>
              <a:t> (</a:t>
            </a:r>
            <a:r>
              <a:rPr lang="en-US" altLang="ko-KR" sz="1800" dirty="0" err="1"/>
              <a:t>glibc</a:t>
            </a:r>
            <a:r>
              <a:rPr lang="en-US" altLang="ko-KR" sz="1800" dirty="0"/>
              <a:t>: GNU </a:t>
            </a:r>
            <a:r>
              <a:rPr lang="ko-KR" altLang="en-US" sz="1800" dirty="0"/>
              <a:t>프로젝트에서 만든 리눅스 시스템 핵심 </a:t>
            </a:r>
            <a:r>
              <a:rPr lang="en-US" altLang="ko-KR" sz="1800" dirty="0"/>
              <a:t>C </a:t>
            </a:r>
            <a:r>
              <a:rPr lang="ko-KR" altLang="en-US" sz="1800" dirty="0"/>
              <a:t>표준 라이브러리</a:t>
            </a:r>
            <a:r>
              <a:rPr lang="en-US" altLang="ko-KR" dirty="0"/>
              <a:t>) </a:t>
            </a:r>
            <a:r>
              <a:rPr lang="ko-KR" altLang="en-US" dirty="0"/>
              <a:t>변천사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692F558-6958-B96A-01A0-63BC210EF3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85998"/>
            <a:ext cx="7567886" cy="53420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03DC018A-951F-4BC9-EC04-1F522B4CC6E6}"/>
              </a:ext>
            </a:extLst>
          </p:cNvPr>
          <p:cNvGraphicFramePr>
            <a:graphicFrameLocks noGrp="1"/>
          </p:cNvGraphicFramePr>
          <p:nvPr/>
        </p:nvGraphicFramePr>
        <p:xfrm>
          <a:off x="1810619" y="3417146"/>
          <a:ext cx="8128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550278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1151634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시기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 2010</a:t>
                      </a:r>
                      <a:r>
                        <a:rPr lang="ko-KR" altLang="en-US" dirty="0"/>
                        <a:t>년대 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그냥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루프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2012</a:t>
                      </a:r>
                      <a:r>
                        <a:rPr lang="ko-KR" altLang="en-US" dirty="0"/>
                        <a:t>년 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Two-Way </a:t>
                      </a:r>
                      <a:r>
                        <a:rPr lang="ko-KR" altLang="en-US" dirty="0"/>
                        <a:t>알고리즘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7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glibc</a:t>
                      </a:r>
                      <a:r>
                        <a:rPr lang="en-US" altLang="ko-KR" dirty="0"/>
                        <a:t> 2.26+)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감지 후 </a:t>
                      </a:r>
                      <a:r>
                        <a:rPr lang="en-US" altLang="ko-KR" dirty="0"/>
                        <a:t>SSE4.2/AVX2 </a:t>
                      </a:r>
                      <a:r>
                        <a:rPr lang="ko-KR" altLang="en-US" dirty="0"/>
                        <a:t>분기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002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CE6E6ADC-1EFC-98CB-8DBD-D802BD49D9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41" y="4992554"/>
            <a:ext cx="5048955" cy="1009791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07163041-87B3-6AF2-743D-36558F2AA7D3}"/>
              </a:ext>
            </a:extLst>
          </p:cNvPr>
          <p:cNvCxnSpPr/>
          <p:nvPr/>
        </p:nvCxnSpPr>
        <p:spPr>
          <a:xfrm>
            <a:off x="2589196" y="4754880"/>
            <a:ext cx="683393" cy="481263"/>
          </a:xfrm>
          <a:prstGeom prst="curvedConnector3">
            <a:avLst>
              <a:gd name="adj1" fmla="val -51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94918F67-4D0E-8324-A98D-9FDAC8FE015B}"/>
              </a:ext>
            </a:extLst>
          </p:cNvPr>
          <p:cNvSpPr txBox="1">
            <a:spLocks/>
          </p:cNvSpPr>
          <p:nvPr/>
        </p:nvSpPr>
        <p:spPr>
          <a:xfrm>
            <a:off x="2806743" y="6212506"/>
            <a:ext cx="7453788" cy="424830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1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함수 이름은 </a:t>
            </a:r>
            <a:r>
              <a:rPr lang="en-US" altLang="ko-KR" b="1" dirty="0" err="1">
                <a:solidFill>
                  <a:srgbClr val="7030A0"/>
                </a:solidFill>
              </a:rPr>
              <a:t>ststr</a:t>
            </a:r>
            <a:r>
              <a:rPr lang="en-US" altLang="ko-KR" b="1" dirty="0">
                <a:solidFill>
                  <a:srgbClr val="7030A0"/>
                </a:solidFill>
              </a:rPr>
              <a:t> </a:t>
            </a:r>
            <a:r>
              <a:rPr lang="ko-KR" altLang="en-US" b="1" dirty="0">
                <a:solidFill>
                  <a:srgbClr val="7030A0"/>
                </a:solidFill>
              </a:rPr>
              <a:t>이면서 실제 </a:t>
            </a:r>
            <a:r>
              <a:rPr lang="en-US" altLang="ko-KR" b="1" dirty="0">
                <a:solidFill>
                  <a:srgbClr val="7030A0"/>
                </a:solidFill>
              </a:rPr>
              <a:t>__strstr_sse42 </a:t>
            </a:r>
            <a:r>
              <a:rPr lang="ko-KR" altLang="en-US" b="1" dirty="0">
                <a:solidFill>
                  <a:srgbClr val="7030A0"/>
                </a:solidFill>
              </a:rPr>
              <a:t>호출</a:t>
            </a:r>
            <a:endParaRPr lang="en-US" altLang="ko-K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388068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A63E2-F4A8-4887-1325-76F0B813F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0BF679-F499-949A-B5E3-3ECB55E01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BEA393-543C-85B4-1D0C-199B34A3B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strstr</a:t>
            </a:r>
            <a:r>
              <a:rPr lang="ko-KR" altLang="en-US" dirty="0"/>
              <a:t>의 정체 </a:t>
            </a:r>
            <a:r>
              <a:rPr lang="en-US" altLang="ko-KR" dirty="0"/>
              <a:t>like </a:t>
            </a:r>
            <a:r>
              <a:rPr lang="en-US" altLang="ko-KR" dirty="0" err="1"/>
              <a:t>printf</a:t>
            </a:r>
            <a:r>
              <a:rPr lang="en-US" altLang="ko-KR" dirty="0"/>
              <a:t> “C </a:t>
            </a:r>
            <a:r>
              <a:rPr lang="ko-KR" altLang="en-US" dirty="0"/>
              <a:t>표준 라이브러리 함수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en-US" altLang="ko-KR" dirty="0"/>
              <a:t> (</a:t>
            </a:r>
            <a:r>
              <a:rPr lang="en-US" altLang="ko-KR" sz="1800" dirty="0" err="1"/>
              <a:t>glibc</a:t>
            </a:r>
            <a:r>
              <a:rPr lang="en-US" altLang="ko-KR" sz="1800" dirty="0"/>
              <a:t>: GNU </a:t>
            </a:r>
            <a:r>
              <a:rPr lang="ko-KR" altLang="en-US" sz="1800" dirty="0"/>
              <a:t>프로젝트에서 만든 리눅스 시스템 핵심 </a:t>
            </a:r>
            <a:r>
              <a:rPr lang="en-US" altLang="ko-KR" sz="1800" dirty="0"/>
              <a:t>C </a:t>
            </a:r>
            <a:r>
              <a:rPr lang="ko-KR" altLang="en-US" sz="1800" dirty="0"/>
              <a:t>표준 라이브러리</a:t>
            </a:r>
            <a:r>
              <a:rPr lang="en-US" altLang="ko-KR" dirty="0"/>
              <a:t>) </a:t>
            </a:r>
            <a:r>
              <a:rPr lang="ko-KR" altLang="en-US" dirty="0"/>
              <a:t>변천사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B9FA43A-7738-6441-9EB8-62E7AD8CD2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85998"/>
            <a:ext cx="7567886" cy="53420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BD823094-1F84-8FEF-4A7D-A5216E07F3C6}"/>
              </a:ext>
            </a:extLst>
          </p:cNvPr>
          <p:cNvGraphicFramePr>
            <a:graphicFrameLocks noGrp="1"/>
          </p:cNvGraphicFramePr>
          <p:nvPr/>
        </p:nvGraphicFramePr>
        <p:xfrm>
          <a:off x="1810619" y="3417146"/>
          <a:ext cx="8128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550278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1151634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시기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 2010</a:t>
                      </a:r>
                      <a:r>
                        <a:rPr lang="ko-KR" altLang="en-US" dirty="0"/>
                        <a:t>년대 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그냥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루프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2012</a:t>
                      </a:r>
                      <a:r>
                        <a:rPr lang="ko-KR" altLang="en-US" dirty="0"/>
                        <a:t>년 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Two-Way </a:t>
                      </a:r>
                      <a:r>
                        <a:rPr lang="ko-KR" altLang="en-US" dirty="0"/>
                        <a:t>알고리즘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7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glibc</a:t>
                      </a:r>
                      <a:r>
                        <a:rPr lang="en-US" altLang="ko-KR" dirty="0"/>
                        <a:t> 2.26+)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감지 후 </a:t>
                      </a:r>
                      <a:r>
                        <a:rPr lang="en-US" altLang="ko-KR" dirty="0"/>
                        <a:t>SSE4.2/AVX2 </a:t>
                      </a:r>
                      <a:r>
                        <a:rPr lang="ko-KR" altLang="en-US" dirty="0"/>
                        <a:t>분기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002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01C8E3B5-80EF-AC3F-3109-5792403DC2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41" y="4992554"/>
            <a:ext cx="5048955" cy="1009791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229EC913-D4C7-DC5D-9904-75F3230D3162}"/>
              </a:ext>
            </a:extLst>
          </p:cNvPr>
          <p:cNvCxnSpPr/>
          <p:nvPr/>
        </p:nvCxnSpPr>
        <p:spPr>
          <a:xfrm>
            <a:off x="2589196" y="4754880"/>
            <a:ext cx="683393" cy="481263"/>
          </a:xfrm>
          <a:prstGeom prst="curvedConnector3">
            <a:avLst>
              <a:gd name="adj1" fmla="val -51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87EB4299-4E39-7AD7-E816-92A7B6464FD4}"/>
              </a:ext>
            </a:extLst>
          </p:cNvPr>
          <p:cNvSpPr txBox="1">
            <a:spLocks/>
          </p:cNvSpPr>
          <p:nvPr/>
        </p:nvSpPr>
        <p:spPr>
          <a:xfrm>
            <a:off x="2806743" y="6212506"/>
            <a:ext cx="7453788" cy="424830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SIMD</a:t>
            </a:r>
            <a:r>
              <a:rPr lang="ko-KR" altLang="en-US" b="1" dirty="0">
                <a:solidFill>
                  <a:srgbClr val="7030A0"/>
                </a:solidFill>
                <a:highlight>
                  <a:srgbClr val="FFFF00"/>
                </a:highlight>
              </a:rPr>
              <a:t>는 </a:t>
            </a: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CPU</a:t>
            </a:r>
            <a:r>
              <a:rPr lang="ko-KR" altLang="en-US" b="1" dirty="0">
                <a:solidFill>
                  <a:srgbClr val="7030A0"/>
                </a:solidFill>
                <a:highlight>
                  <a:srgbClr val="FFFF00"/>
                </a:highlight>
              </a:rPr>
              <a:t>가 한 번에 </a:t>
            </a:r>
            <a:r>
              <a:rPr lang="en-US" altLang="ko-KR" b="1" dirty="0">
                <a:solidFill>
                  <a:srgbClr val="7030A0"/>
                </a:solidFill>
                <a:highlight>
                  <a:srgbClr val="FFFF00"/>
                </a:highlight>
              </a:rPr>
              <a:t>16~32</a:t>
            </a:r>
            <a:r>
              <a:rPr lang="ko-KR" altLang="en-US" b="1" dirty="0">
                <a:solidFill>
                  <a:srgbClr val="7030A0"/>
                </a:solidFill>
                <a:highlight>
                  <a:srgbClr val="FFFF00"/>
                </a:highlight>
              </a:rPr>
              <a:t>바이트를 동시에 비교하는 명령어</a:t>
            </a:r>
            <a:endParaRPr lang="en-US" altLang="ko-KR" b="1" dirty="0">
              <a:solidFill>
                <a:srgbClr val="7030A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421957714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14E64A-AF8D-6293-98B4-5402B5C89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4F01E4-646A-7329-2563-2A6A33495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CEAE24-0BC8-1FD0-0D97-38D65C9CFE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strstr</a:t>
            </a:r>
            <a:r>
              <a:rPr lang="ko-KR" altLang="en-US" dirty="0"/>
              <a:t>의 정체 </a:t>
            </a:r>
            <a:r>
              <a:rPr lang="en-US" altLang="ko-KR" dirty="0"/>
              <a:t>like </a:t>
            </a:r>
            <a:r>
              <a:rPr lang="en-US" altLang="ko-KR" dirty="0" err="1"/>
              <a:t>printf</a:t>
            </a:r>
            <a:r>
              <a:rPr lang="en-US" altLang="ko-KR" dirty="0"/>
              <a:t> “C </a:t>
            </a:r>
            <a:r>
              <a:rPr lang="ko-KR" altLang="en-US" dirty="0"/>
              <a:t>표준 라이브러리 함수</a:t>
            </a:r>
            <a:r>
              <a:rPr lang="en-US" altLang="ko-KR" dirty="0"/>
              <a:t>“</a:t>
            </a:r>
          </a:p>
          <a:p>
            <a:endParaRPr lang="en-US" altLang="ko-KR" dirty="0"/>
          </a:p>
          <a:p>
            <a:r>
              <a:rPr lang="en-US" altLang="ko-KR" dirty="0" err="1"/>
              <a:t>strstr</a:t>
            </a:r>
            <a:r>
              <a:rPr lang="en-US" altLang="ko-KR" dirty="0"/>
              <a:t> (</a:t>
            </a:r>
            <a:r>
              <a:rPr lang="en-US" altLang="ko-KR" sz="1800" dirty="0" err="1"/>
              <a:t>glibc</a:t>
            </a:r>
            <a:r>
              <a:rPr lang="en-US" altLang="ko-KR" sz="1800" dirty="0"/>
              <a:t>: GNU </a:t>
            </a:r>
            <a:r>
              <a:rPr lang="ko-KR" altLang="en-US" sz="1800" dirty="0"/>
              <a:t>프로젝트에서 만든 리눅스 시스템 핵심 </a:t>
            </a:r>
            <a:r>
              <a:rPr lang="en-US" altLang="ko-KR" sz="1800" dirty="0"/>
              <a:t>C </a:t>
            </a:r>
            <a:r>
              <a:rPr lang="ko-KR" altLang="en-US" sz="1800" dirty="0"/>
              <a:t>표준 라이브러리</a:t>
            </a:r>
            <a:r>
              <a:rPr lang="en-US" altLang="ko-KR" dirty="0"/>
              <a:t>) </a:t>
            </a:r>
            <a:r>
              <a:rPr lang="ko-KR" altLang="en-US" dirty="0"/>
              <a:t>변천사</a:t>
            </a:r>
            <a:endParaRPr lang="en-US" altLang="ko-KR" dirty="0"/>
          </a:p>
          <a:p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61CC378-DCCF-0420-9AB8-3AFB9DE24C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85998"/>
            <a:ext cx="7567886" cy="534204"/>
          </a:xfrm>
          <a:prstGeom prst="rect">
            <a:avLst/>
          </a:prstGeom>
        </p:spPr>
      </p:pic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2AA90DC5-614C-5003-3565-F1C06FD3F846}"/>
              </a:ext>
            </a:extLst>
          </p:cNvPr>
          <p:cNvGraphicFramePr>
            <a:graphicFrameLocks noGrp="1"/>
          </p:cNvGraphicFramePr>
          <p:nvPr/>
        </p:nvGraphicFramePr>
        <p:xfrm>
          <a:off x="1810619" y="3417146"/>
          <a:ext cx="8128000" cy="1483360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088640">
                  <a:extLst>
                    <a:ext uri="{9D8B030D-6E8A-4147-A177-3AD203B41FA5}">
                      <a16:colId xmlns:a16="http://schemas.microsoft.com/office/drawing/2014/main" val="405502783"/>
                    </a:ext>
                  </a:extLst>
                </a:gridCol>
                <a:gridCol w="5039360">
                  <a:extLst>
                    <a:ext uri="{9D8B030D-6E8A-4147-A177-3AD203B41FA5}">
                      <a16:colId xmlns:a16="http://schemas.microsoft.com/office/drawing/2014/main" val="11516348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시기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구현</a:t>
                      </a:r>
                    </a:p>
                  </a:txBody>
                  <a:tcP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41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~ 2010</a:t>
                      </a:r>
                      <a:r>
                        <a:rPr lang="ko-KR" altLang="en-US" dirty="0"/>
                        <a:t>년대 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그냥 </a:t>
                      </a:r>
                      <a:r>
                        <a:rPr lang="en-US" altLang="ko-KR" dirty="0"/>
                        <a:t>C </a:t>
                      </a:r>
                      <a:r>
                        <a:rPr lang="ko-KR" altLang="en-US" dirty="0"/>
                        <a:t>루프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16910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2012</a:t>
                      </a:r>
                      <a:r>
                        <a:rPr lang="ko-KR" altLang="en-US" dirty="0"/>
                        <a:t>년 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Two-Way </a:t>
                      </a:r>
                      <a:r>
                        <a:rPr lang="ko-KR" altLang="en-US" dirty="0"/>
                        <a:t>알고리즘 도입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3279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</a:t>
                      </a:r>
                      <a:r>
                        <a:rPr lang="en-US" altLang="ko-KR" dirty="0"/>
                        <a:t>(</a:t>
                      </a:r>
                      <a:r>
                        <a:rPr lang="en-US" altLang="ko-KR" dirty="0" err="1"/>
                        <a:t>glibc</a:t>
                      </a:r>
                      <a:r>
                        <a:rPr lang="en-US" altLang="ko-KR" dirty="0"/>
                        <a:t> 2.26+)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CPU</a:t>
                      </a:r>
                      <a:r>
                        <a:rPr lang="ko-KR" altLang="en-US" dirty="0"/>
                        <a:t> 감지 후 </a:t>
                      </a:r>
                      <a:r>
                        <a:rPr lang="en-US" altLang="ko-KR" dirty="0"/>
                        <a:t>SSE4.2/AVX2 </a:t>
                      </a:r>
                      <a:r>
                        <a:rPr lang="ko-KR" altLang="en-US" dirty="0"/>
                        <a:t>분기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3200207"/>
                  </a:ext>
                </a:extLst>
              </a:tr>
            </a:tbl>
          </a:graphicData>
        </a:graphic>
      </p:graphicFrame>
      <p:pic>
        <p:nvPicPr>
          <p:cNvPr id="8" name="그림 7">
            <a:extLst>
              <a:ext uri="{FF2B5EF4-FFF2-40B4-BE49-F238E27FC236}">
                <a16:creationId xmlns:a16="http://schemas.microsoft.com/office/drawing/2014/main" id="{26357998-41EF-0CCA-60D3-DA7560E34B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50141" y="4992554"/>
            <a:ext cx="5048955" cy="1009791"/>
          </a:xfrm>
          <a:prstGeom prst="rect">
            <a:avLst/>
          </a:prstGeom>
        </p:spPr>
      </p:pic>
      <p:cxnSp>
        <p:nvCxnSpPr>
          <p:cNvPr id="10" name="연결선: 구부러짐 9">
            <a:extLst>
              <a:ext uri="{FF2B5EF4-FFF2-40B4-BE49-F238E27FC236}">
                <a16:creationId xmlns:a16="http://schemas.microsoft.com/office/drawing/2014/main" id="{1F75D6EB-7F1E-6B60-193C-5BB2A7383CE4}"/>
              </a:ext>
            </a:extLst>
          </p:cNvPr>
          <p:cNvCxnSpPr/>
          <p:nvPr/>
        </p:nvCxnSpPr>
        <p:spPr>
          <a:xfrm>
            <a:off x="2589196" y="4754880"/>
            <a:ext cx="683393" cy="481263"/>
          </a:xfrm>
          <a:prstGeom prst="curvedConnector3">
            <a:avLst>
              <a:gd name="adj1" fmla="val -514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084AC457-4734-A933-BF93-27A41CCBDDA1}"/>
              </a:ext>
            </a:extLst>
          </p:cNvPr>
          <p:cNvSpPr txBox="1">
            <a:spLocks/>
          </p:cNvSpPr>
          <p:nvPr/>
        </p:nvSpPr>
        <p:spPr>
          <a:xfrm>
            <a:off x="8476648" y="4501925"/>
            <a:ext cx="3289257" cy="2135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결국 </a:t>
            </a:r>
            <a:r>
              <a:rPr lang="en-US" altLang="ko-KR" b="1" dirty="0" err="1">
                <a:solidFill>
                  <a:srgbClr val="7030A0"/>
                </a:solidFill>
              </a:rPr>
              <a:t>strstr</a:t>
            </a:r>
            <a:r>
              <a:rPr lang="ko-KR" altLang="en-US" b="1" dirty="0">
                <a:solidFill>
                  <a:srgbClr val="7030A0"/>
                </a:solidFill>
              </a:rPr>
              <a:t>은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en-US" altLang="ko-KR" b="1" dirty="0">
                <a:solidFill>
                  <a:srgbClr val="7030A0"/>
                </a:solidFill>
              </a:rPr>
              <a:t>OS/CPU </a:t>
            </a:r>
            <a:r>
              <a:rPr lang="ko-KR" altLang="en-US" b="1" dirty="0">
                <a:solidFill>
                  <a:srgbClr val="7030A0"/>
                </a:solidFill>
              </a:rPr>
              <a:t>레벨에서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하드웨어 가속까지</a:t>
            </a:r>
            <a:endParaRPr lang="en-US" altLang="ko-KR" b="1" dirty="0">
              <a:solidFill>
                <a:srgbClr val="7030A0"/>
              </a:solidFill>
            </a:endParaRPr>
          </a:p>
          <a:p>
            <a:pPr marL="0" indent="0" algn="ctr">
              <a:buNone/>
            </a:pPr>
            <a:r>
              <a:rPr lang="ko-KR" altLang="en-US" b="1" dirty="0">
                <a:solidFill>
                  <a:srgbClr val="7030A0"/>
                </a:solidFill>
              </a:rPr>
              <a:t>붙은 함수</a:t>
            </a:r>
            <a:endParaRPr lang="en-US" altLang="ko-K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4633986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EB31CC-CCCB-0A6D-4003-49016528B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BCBD88D-05E4-4586-4CDA-9A9E22F40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541" y="2263894"/>
            <a:ext cx="7567886" cy="55630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D309FD-92D8-E511-5749-218FC8269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0x03 </a:t>
            </a:r>
            <a:r>
              <a:rPr lang="ko-KR" altLang="en-US" dirty="0"/>
              <a:t>실습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30A8174-73E8-6EE9-85EA-80FC7F442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find</a:t>
            </a:r>
            <a:r>
              <a:rPr lang="ko-KR" altLang="en-US" dirty="0"/>
              <a:t>의 정체 </a:t>
            </a:r>
            <a:r>
              <a:rPr lang="en-US" altLang="ko-KR" dirty="0"/>
              <a:t>(</a:t>
            </a:r>
            <a:r>
              <a:rPr lang="en-US" altLang="ko-KR" dirty="0" err="1"/>
              <a:t>strstr</a:t>
            </a:r>
            <a:r>
              <a:rPr lang="en-US" altLang="ko-KR" dirty="0"/>
              <a:t> </a:t>
            </a:r>
            <a:r>
              <a:rPr lang="ko-KR" altLang="en-US" dirty="0"/>
              <a:t>처럼 패턴 찾아서 위치 없으면 </a:t>
            </a:r>
            <a:r>
              <a:rPr lang="en-US" altLang="ko-KR" dirty="0" err="1"/>
              <a:t>nullptr</a:t>
            </a:r>
            <a:r>
              <a:rPr lang="en-US" altLang="ko-KR" dirty="0"/>
              <a:t> </a:t>
            </a:r>
            <a:r>
              <a:rPr lang="ko-KR" altLang="en-US" dirty="0"/>
              <a:t>반환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en-US" altLang="ko-KR" dirty="0"/>
              <a:t>STL std::string </a:t>
            </a:r>
            <a:r>
              <a:rPr lang="ko-KR" altLang="en-US" dirty="0"/>
              <a:t>멤버함수 </a:t>
            </a:r>
            <a:r>
              <a:rPr lang="en-US" altLang="ko-KR" dirty="0"/>
              <a:t>find</a:t>
            </a:r>
          </a:p>
          <a:p>
            <a:r>
              <a:rPr lang="en-US" altLang="ko-KR" dirty="0" err="1"/>
              <a:t>libstdc</a:t>
            </a:r>
            <a:r>
              <a:rPr lang="en-US" altLang="ko-KR" dirty="0"/>
              <a:t>++/</a:t>
            </a:r>
            <a:r>
              <a:rPr lang="en-US" altLang="ko-KR" dirty="0" err="1"/>
              <a:t>libc</a:t>
            </a:r>
            <a:r>
              <a:rPr lang="en-US" altLang="ko-KR" dirty="0"/>
              <a:t>++</a:t>
            </a:r>
            <a:r>
              <a:rPr lang="ko-KR" altLang="en-US" dirty="0"/>
              <a:t>로 아직 </a:t>
            </a:r>
            <a:r>
              <a:rPr lang="en-US" altLang="ko-KR" dirty="0" err="1"/>
              <a:t>strstr</a:t>
            </a:r>
            <a:r>
              <a:rPr lang="ko-KR" altLang="en-US" dirty="0"/>
              <a:t>보다 최적화가 덜 구현</a:t>
            </a:r>
            <a:endParaRPr lang="en-US" altLang="ko-KR" dirty="0"/>
          </a:p>
          <a:p>
            <a:pPr lvl="1"/>
            <a:r>
              <a:rPr lang="ko-KR" altLang="en-US" dirty="0"/>
              <a:t>오랫동안 </a:t>
            </a:r>
            <a:r>
              <a:rPr lang="en-US" altLang="ko-KR" dirty="0" err="1"/>
              <a:t>libstdc</a:t>
            </a:r>
            <a:r>
              <a:rPr lang="en-US" altLang="ko-KR" dirty="0"/>
              <a:t>++</a:t>
            </a:r>
            <a:r>
              <a:rPr lang="ko-KR" altLang="en-US" dirty="0"/>
              <a:t>는</a:t>
            </a:r>
            <a:r>
              <a:rPr lang="en-US" altLang="ko-KR" dirty="0"/>
              <a:t> </a:t>
            </a:r>
            <a:r>
              <a:rPr lang="ko-KR" altLang="en-US" dirty="0"/>
              <a:t>그냥 루프였고 </a:t>
            </a:r>
            <a:r>
              <a:rPr lang="ko-KR" altLang="en-US" dirty="0" err="1"/>
              <a:t>최근에야</a:t>
            </a:r>
            <a:r>
              <a:rPr lang="ko-KR" altLang="en-US" dirty="0"/>
              <a:t> </a:t>
            </a:r>
            <a:r>
              <a:rPr lang="en-US" altLang="ko-KR" dirty="0"/>
              <a:t>__</a:t>
            </a:r>
            <a:r>
              <a:rPr lang="en-US" altLang="ko-KR" dirty="0" err="1"/>
              <a:t>builtin_expect</a:t>
            </a:r>
            <a:r>
              <a:rPr lang="en-US" altLang="ko-KR" dirty="0"/>
              <a:t> </a:t>
            </a:r>
            <a:r>
              <a:rPr lang="ko-KR" altLang="en-US" dirty="0"/>
              <a:t>같은 힌트 정도 추가된 상태 </a:t>
            </a:r>
            <a:r>
              <a:rPr lang="en-US" altLang="ko-KR" dirty="0"/>
              <a:t>(</a:t>
            </a:r>
            <a:r>
              <a:rPr lang="ko-KR" altLang="en-US" dirty="0"/>
              <a:t>분기 예측 힌트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200255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CCC452-97BF-8DA7-E3E3-4283A81A5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FF26C4A-D6A4-5583-CD7E-BDD48F0BB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0x04 </a:t>
            </a:r>
            <a:r>
              <a:rPr lang="ko-KR" altLang="en-US" dirty="0"/>
              <a:t>추가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404845-A40E-FFE9-6EF5-B3EA60245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Topic</a:t>
            </a:r>
            <a:r>
              <a:rPr lang="ko-KR" altLang="en-US" dirty="0"/>
              <a:t> </a:t>
            </a:r>
            <a:r>
              <a:rPr lang="en-US" altLang="ko-KR" dirty="0"/>
              <a:t>1</a:t>
            </a:r>
            <a:r>
              <a:rPr lang="ko-KR" altLang="en-US" dirty="0"/>
              <a:t> </a:t>
            </a:r>
            <a:r>
              <a:rPr lang="en-US" altLang="ko-KR" dirty="0"/>
              <a:t>–</a:t>
            </a:r>
            <a:r>
              <a:rPr lang="ko-KR" altLang="en-US" dirty="0"/>
              <a:t> 시간 비교에 대하여 </a:t>
            </a:r>
            <a:r>
              <a:rPr lang="en-US" altLang="ko-KR" dirty="0"/>
              <a:t>(</a:t>
            </a:r>
            <a:r>
              <a:rPr lang="en-US" altLang="ko-KR" dirty="0" err="1"/>
              <a:t>steady_clock</a:t>
            </a:r>
            <a:r>
              <a:rPr lang="en-US" altLang="ko-KR" dirty="0"/>
              <a:t> </a:t>
            </a:r>
            <a:r>
              <a:rPr lang="ko-KR" altLang="en-US" dirty="0"/>
              <a:t>사용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VS. </a:t>
            </a:r>
            <a:r>
              <a:rPr lang="en-US" altLang="ko-KR" dirty="0" err="1"/>
              <a:t>system_clock</a:t>
            </a:r>
            <a:r>
              <a:rPr lang="en-US" altLang="ko-KR" dirty="0"/>
              <a:t> (</a:t>
            </a:r>
            <a:r>
              <a:rPr lang="ko-KR" altLang="en-US" sz="1800" dirty="0"/>
              <a:t>유닉스타임 </a:t>
            </a:r>
            <a:r>
              <a:rPr lang="en-US" altLang="ko-KR" sz="1800" dirty="0"/>
              <a:t>1970.1.1.</a:t>
            </a:r>
            <a:r>
              <a:rPr lang="ko-KR" altLang="en-US" sz="1800" dirty="0"/>
              <a:t>목</a:t>
            </a:r>
            <a:r>
              <a:rPr lang="en-US" altLang="ko-KR" sz="1800" dirty="0"/>
              <a:t> 0</a:t>
            </a:r>
            <a:r>
              <a:rPr lang="ko-KR" altLang="en-US" sz="1800" dirty="0"/>
              <a:t>시</a:t>
            </a:r>
            <a:r>
              <a:rPr lang="en-US" altLang="ko-KR" sz="1800" dirty="0"/>
              <a:t>0</a:t>
            </a:r>
            <a:r>
              <a:rPr lang="ko-KR" altLang="en-US" sz="1800" dirty="0"/>
              <a:t>분</a:t>
            </a:r>
            <a:r>
              <a:rPr lang="en-US" altLang="ko-KR" sz="1800" dirty="0"/>
              <a:t>0</a:t>
            </a:r>
            <a:r>
              <a:rPr lang="ko-KR" altLang="en-US" sz="1800" dirty="0"/>
              <a:t>초 </a:t>
            </a:r>
            <a:r>
              <a:rPr lang="en-US" altLang="ko-KR" sz="1800" dirty="0"/>
              <a:t>~ </a:t>
            </a:r>
            <a:r>
              <a:rPr lang="ko-KR" altLang="en-US" sz="1800" dirty="0"/>
              <a:t>흐른 시간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	-&gt; </a:t>
            </a:r>
            <a:r>
              <a:rPr lang="en-US" altLang="ko-KR" sz="2400" dirty="0"/>
              <a:t>OS </a:t>
            </a:r>
            <a:r>
              <a:rPr lang="ko-KR" altLang="en-US" sz="2400" dirty="0"/>
              <a:t>시간 동기화 등에 의해 측정 중 시간 값 변할 수 있음</a:t>
            </a:r>
            <a:endParaRPr lang="en-US" altLang="ko-KR" dirty="0"/>
          </a:p>
          <a:p>
            <a:pPr lvl="1"/>
            <a:r>
              <a:rPr lang="en-US" altLang="ko-KR" dirty="0" err="1"/>
              <a:t>steady_clock</a:t>
            </a:r>
            <a:r>
              <a:rPr lang="en-US" altLang="ko-KR" dirty="0"/>
              <a:t> </a:t>
            </a:r>
            <a:r>
              <a:rPr lang="ko-KR" altLang="en-US" dirty="0"/>
              <a:t>마지막 부팅 이후로 흐른 시간 </a:t>
            </a:r>
            <a:r>
              <a:rPr lang="en-US" altLang="ko-KR" dirty="0"/>
              <a:t>(</a:t>
            </a:r>
            <a:r>
              <a:rPr lang="ko-KR" altLang="en-US" dirty="0"/>
              <a:t>시간 측정 변할 일 없음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 err="1"/>
              <a:t>깃랩</a:t>
            </a:r>
            <a:r>
              <a:rPr lang="ko-KR" altLang="en-US" dirty="0"/>
              <a:t> </a:t>
            </a:r>
            <a:r>
              <a:rPr lang="en-US" altLang="ko-KR" dirty="0" err="1"/>
              <a:t>lgu-msgas-vm</a:t>
            </a:r>
            <a:r>
              <a:rPr lang="ko-KR" altLang="en-US" dirty="0"/>
              <a:t> 내 </a:t>
            </a:r>
            <a:r>
              <a:rPr lang="en-US" altLang="ko-KR" dirty="0"/>
              <a:t>library/include/common/elapsed_timer.hpp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B328AB-AC04-D2F6-8456-1F2364B475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616" y="2382252"/>
            <a:ext cx="8549484" cy="1785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0600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F7DA0-4048-A7FA-2C0F-66696AE5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E534B0-7169-BED4-674E-EBD29F173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0x04 </a:t>
            </a:r>
            <a:r>
              <a:rPr lang="ko-KR" altLang="en-US" dirty="0"/>
              <a:t>추가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5EB61CE-EF19-58EB-7412-A8DA12290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ADFBA1D-AFD2-9F70-A21F-487C29DC2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787" y="1377834"/>
            <a:ext cx="5716426" cy="5246920"/>
          </a:xfrm>
          <a:prstGeom prst="rect">
            <a:avLst/>
          </a:prstGeom>
        </p:spPr>
      </p:pic>
      <p:cxnSp>
        <p:nvCxnSpPr>
          <p:cNvPr id="8" name="연결선: 구부러짐 7">
            <a:extLst>
              <a:ext uri="{FF2B5EF4-FFF2-40B4-BE49-F238E27FC236}">
                <a16:creationId xmlns:a16="http://schemas.microsoft.com/office/drawing/2014/main" id="{9CF5A0D2-5DAC-5CCD-ADD1-380C76C07D68}"/>
              </a:ext>
            </a:extLst>
          </p:cNvPr>
          <p:cNvCxnSpPr/>
          <p:nvPr/>
        </p:nvCxnSpPr>
        <p:spPr>
          <a:xfrm rot="10800000" flipV="1">
            <a:off x="6096001" y="490888"/>
            <a:ext cx="2537861" cy="1472666"/>
          </a:xfrm>
          <a:prstGeom prst="curvedConnector3">
            <a:avLst/>
          </a:prstGeom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910020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065550-F3E0-6714-FBD7-50AFBA614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0x04 </a:t>
            </a:r>
            <a:r>
              <a:rPr lang="ko-KR" altLang="en-US" dirty="0"/>
              <a:t>추가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248B87-0F25-38C5-166B-3273EFD948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909B7C-CAEE-5D93-F02C-7454782210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ko-KR" altLang="en-US" dirty="0"/>
              <a:t>실제로는 </a:t>
            </a:r>
            <a:r>
              <a:rPr lang="en-US" altLang="ko-KR" dirty="0" err="1"/>
              <a:t>system_clock</a:t>
            </a:r>
            <a:r>
              <a:rPr lang="ko-KR" altLang="en-US" dirty="0"/>
              <a:t>을 사용 중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54704F4-0C6F-3917-2AC6-2C767EEA2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60" y="2651759"/>
            <a:ext cx="5077280" cy="255550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F60E2043-807B-A69C-9D44-EAE7FD41D6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6746" y="3392289"/>
            <a:ext cx="4992508" cy="1218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65441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6617B2-FD7F-47FC-E93D-413C4FA6B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0x04 </a:t>
            </a:r>
            <a:r>
              <a:rPr lang="ko-KR" altLang="en-US" dirty="0"/>
              <a:t>추가 사항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F5DE20-DB75-B0C0-2C4E-B4F9B0BBB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Topic 2 – </a:t>
            </a:r>
            <a:r>
              <a:rPr lang="ko-KR" altLang="en-US" dirty="0"/>
              <a:t>보이어</a:t>
            </a:r>
            <a:r>
              <a:rPr lang="en-US" altLang="ko-KR" dirty="0"/>
              <a:t>-</a:t>
            </a:r>
            <a:r>
              <a:rPr lang="ko-KR" altLang="en-US" dirty="0"/>
              <a:t>무어 알고리즘에 대하여</a:t>
            </a:r>
            <a:endParaRPr lang="en-US" altLang="ko-KR" dirty="0"/>
          </a:p>
          <a:p>
            <a:pPr lvl="1"/>
            <a:r>
              <a:rPr lang="ko-KR" altLang="en-US" u="sng" dirty="0"/>
              <a:t>뒤에서부터</a:t>
            </a:r>
            <a:r>
              <a:rPr lang="ko-KR" altLang="en-US" dirty="0"/>
              <a:t> 비교하고 불일치 시 크게 점프</a:t>
            </a:r>
            <a:endParaRPr lang="en-US" altLang="ko-KR" dirty="0"/>
          </a:p>
          <a:p>
            <a:pPr lvl="1"/>
            <a:r>
              <a:rPr lang="en-US" altLang="ko-KR" dirty="0"/>
              <a:t>KMP</a:t>
            </a:r>
            <a:r>
              <a:rPr lang="ko-KR" altLang="en-US" dirty="0"/>
              <a:t>가 </a:t>
            </a:r>
            <a:r>
              <a:rPr lang="en-US" altLang="ko-KR" dirty="0"/>
              <a:t>O(N+M) </a:t>
            </a:r>
            <a:r>
              <a:rPr lang="ko-KR" altLang="en-US" dirty="0"/>
              <a:t>보장이라면</a:t>
            </a:r>
            <a:r>
              <a:rPr lang="en-US" altLang="ko-KR" dirty="0"/>
              <a:t>, </a:t>
            </a:r>
            <a:r>
              <a:rPr lang="ko-KR" altLang="en-US" dirty="0"/>
              <a:t>보이</a:t>
            </a:r>
            <a:r>
              <a:rPr lang="en-US" altLang="ko-KR" dirty="0"/>
              <a:t>-</a:t>
            </a:r>
            <a:r>
              <a:rPr lang="ko-KR" altLang="en-US" dirty="0"/>
              <a:t>무어 알고리즘은 </a:t>
            </a:r>
            <a:r>
              <a:rPr lang="ko-KR" altLang="en-US" u="sng" dirty="0"/>
              <a:t>평균</a:t>
            </a:r>
            <a:r>
              <a:rPr lang="ko-KR" altLang="en-US" dirty="0"/>
              <a:t> </a:t>
            </a:r>
            <a:r>
              <a:rPr lang="en-US" altLang="ko-KR" dirty="0"/>
              <a:t>O(N/M)</a:t>
            </a:r>
          </a:p>
          <a:p>
            <a:pPr lvl="1"/>
            <a:r>
              <a:rPr lang="ko-KR" altLang="en-US" dirty="0"/>
              <a:t>실전에선 최강 </a:t>
            </a:r>
            <a:r>
              <a:rPr lang="en-US" altLang="ko-KR" dirty="0"/>
              <a:t>(KMP</a:t>
            </a:r>
            <a:r>
              <a:rPr lang="ko-KR" altLang="en-US" dirty="0"/>
              <a:t>의 발전이라 할 수 있다</a:t>
            </a:r>
            <a:r>
              <a:rPr lang="en-US" altLang="ko-KR" dirty="0"/>
              <a:t>.)</a:t>
            </a:r>
          </a:p>
          <a:p>
            <a:pPr lvl="1"/>
            <a:r>
              <a:rPr lang="en-US" altLang="ko-KR" dirty="0"/>
              <a:t>KMP </a:t>
            </a:r>
            <a:r>
              <a:rPr lang="ko-KR" altLang="en-US" dirty="0"/>
              <a:t>처럼 불필요한 비교는 건너뛰고 유의미한 비교만 진행</a:t>
            </a:r>
            <a:endParaRPr lang="en-US" altLang="ko-KR" dirty="0"/>
          </a:p>
          <a:p>
            <a:r>
              <a:rPr lang="en-US" altLang="ko-KR" dirty="0"/>
              <a:t>Topic 3 – </a:t>
            </a:r>
            <a:r>
              <a:rPr lang="ko-KR" altLang="en-US" dirty="0"/>
              <a:t>라빈</a:t>
            </a:r>
            <a:r>
              <a:rPr lang="en-US" altLang="ko-KR" dirty="0"/>
              <a:t>-</a:t>
            </a:r>
            <a:r>
              <a:rPr lang="ko-KR" altLang="en-US" dirty="0"/>
              <a:t>카프 알고리즘에 대하여</a:t>
            </a:r>
            <a:endParaRPr lang="en-US" altLang="ko-KR" dirty="0"/>
          </a:p>
          <a:p>
            <a:pPr lvl="1"/>
            <a:r>
              <a:rPr lang="ko-KR" altLang="en-US" dirty="0"/>
              <a:t>문자열 검색에 </a:t>
            </a:r>
            <a:r>
              <a:rPr lang="en-US" altLang="ko-KR" dirty="0"/>
              <a:t>hash</a:t>
            </a:r>
            <a:r>
              <a:rPr lang="ko-KR" altLang="en-US" dirty="0"/>
              <a:t>값을 사용 </a:t>
            </a:r>
            <a:r>
              <a:rPr lang="en-US" altLang="ko-KR" dirty="0"/>
              <a:t>-&gt; hash </a:t>
            </a:r>
            <a:r>
              <a:rPr lang="ko-KR" altLang="en-US" dirty="0"/>
              <a:t>값을 한 칸씩 옆으로 이동하면서 구하고 해당 값을 비교 문자열의 </a:t>
            </a:r>
            <a:r>
              <a:rPr lang="en-US" altLang="ko-KR" dirty="0"/>
              <a:t>hash</a:t>
            </a:r>
            <a:r>
              <a:rPr lang="ko-KR" altLang="en-US" dirty="0"/>
              <a:t>값과 </a:t>
            </a:r>
            <a:r>
              <a:rPr lang="ko-KR" altLang="en-US" dirty="0" err="1"/>
              <a:t>같은지</a:t>
            </a:r>
            <a:r>
              <a:rPr lang="ko-KR" altLang="en-US" dirty="0"/>
              <a:t> 확인</a:t>
            </a:r>
            <a:endParaRPr lang="en-US" altLang="ko-KR" dirty="0"/>
          </a:p>
          <a:p>
            <a:pPr lvl="1"/>
            <a:r>
              <a:rPr lang="ko-KR" altLang="en-US" dirty="0"/>
              <a:t>매 번 문자열의 </a:t>
            </a:r>
            <a:r>
              <a:rPr lang="en-US" altLang="ko-KR" dirty="0"/>
              <a:t>hash</a:t>
            </a:r>
            <a:r>
              <a:rPr lang="ko-KR" altLang="en-US" dirty="0"/>
              <a:t>값을 만들면 </a:t>
            </a:r>
            <a:r>
              <a:rPr lang="en-US" altLang="ko-KR" dirty="0"/>
              <a:t>O(</a:t>
            </a:r>
            <a:r>
              <a:rPr lang="en-US" altLang="ko-KR" dirty="0" err="1"/>
              <a:t>NxM</a:t>
            </a:r>
            <a:r>
              <a:rPr lang="en-US" altLang="ko-KR" dirty="0"/>
              <a:t>)</a:t>
            </a:r>
            <a:r>
              <a:rPr lang="ko-KR" altLang="en-US" dirty="0"/>
              <a:t>가 되므로 </a:t>
            </a:r>
            <a:r>
              <a:rPr lang="ko-KR" altLang="en-US" dirty="0" err="1"/>
              <a:t>해쉬함수를</a:t>
            </a:r>
            <a:r>
              <a:rPr lang="ko-KR" altLang="en-US" dirty="0"/>
              <a:t> 라빈</a:t>
            </a:r>
            <a:r>
              <a:rPr lang="en-US" altLang="ko-KR" dirty="0"/>
              <a:t>-</a:t>
            </a:r>
            <a:r>
              <a:rPr lang="ko-KR" altLang="en-US" dirty="0"/>
              <a:t>카프 </a:t>
            </a:r>
            <a:r>
              <a:rPr lang="en-US" altLang="ko-KR" dirty="0"/>
              <a:t>fingerprint</a:t>
            </a:r>
            <a:r>
              <a:rPr lang="ko-KR" altLang="en-US" dirty="0"/>
              <a:t>로 사용해서 해결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311827495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5CD666-8492-90BC-3F6A-948E91619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0x05 </a:t>
            </a:r>
            <a:r>
              <a:rPr lang="ko-KR" altLang="en-US" dirty="0"/>
              <a:t>참고 자료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86000C-C02C-6AF3-B7F8-7612CA5E4B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hlinkClick r:id="rId2"/>
              </a:rPr>
              <a:t>https://blog.encrypted.gg/1040</a:t>
            </a:r>
            <a:r>
              <a:rPr lang="en-US" altLang="ko-KR" dirty="0"/>
              <a:t> (KMP </a:t>
            </a:r>
            <a:r>
              <a:rPr lang="ko-KR" altLang="en-US" dirty="0"/>
              <a:t>알고리즘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hlinkClick r:id="rId3"/>
              </a:rPr>
              <a:t>https://linkmemo.tistory.com/181</a:t>
            </a:r>
            <a:r>
              <a:rPr lang="en-US" altLang="ko-KR" dirty="0"/>
              <a:t> (</a:t>
            </a:r>
            <a:r>
              <a:rPr lang="en-US" altLang="ko-KR" dirty="0" err="1"/>
              <a:t>steady_clock</a:t>
            </a:r>
            <a:r>
              <a:rPr lang="en-US" altLang="ko-KR" dirty="0"/>
              <a:t> </a:t>
            </a:r>
            <a:r>
              <a:rPr lang="ko-KR" altLang="en-US" dirty="0"/>
              <a:t>개념</a:t>
            </a:r>
            <a:r>
              <a:rPr lang="en-US" altLang="ko-KR" dirty="0"/>
              <a:t>)</a:t>
            </a:r>
          </a:p>
          <a:p>
            <a:r>
              <a:rPr lang="en-US" altLang="ko-KR" dirty="0">
                <a:hlinkClick r:id="rId4"/>
              </a:rPr>
              <a:t>https://velog.io/@emplam27/</a:t>
            </a:r>
            <a:r>
              <a:rPr lang="ko-KR" altLang="en-US" dirty="0">
                <a:hlinkClick r:id="rId4"/>
              </a:rPr>
              <a:t>알고리즘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그림으로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알아보는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문자열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검색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알고리즘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보이어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무어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알고리즘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라빈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카프</a:t>
            </a:r>
            <a:r>
              <a:rPr lang="en-US" altLang="ko-KR" dirty="0">
                <a:hlinkClick r:id="rId4"/>
              </a:rPr>
              <a:t>-</a:t>
            </a:r>
            <a:r>
              <a:rPr lang="ko-KR" altLang="en-US" dirty="0">
                <a:hlinkClick r:id="rId4"/>
              </a:rPr>
              <a:t>알고리즘</a:t>
            </a:r>
            <a:r>
              <a:rPr lang="en-US" altLang="ko-KR" dirty="0">
                <a:hlinkClick r:id="rId4"/>
              </a:rPr>
              <a:t> </a:t>
            </a:r>
            <a:r>
              <a:rPr lang="en-US" altLang="ko-KR" dirty="0"/>
              <a:t>(</a:t>
            </a:r>
            <a:r>
              <a:rPr lang="ko-KR" altLang="en-US" dirty="0"/>
              <a:t>나머지 알고리즘 설명</a:t>
            </a:r>
            <a:r>
              <a:rPr lang="en-US" altLang="ko-KR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32921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416</TotalTime>
  <Words>7391</Words>
  <Application>Microsoft Office PowerPoint</Application>
  <PresentationFormat>와이드스크린</PresentationFormat>
  <Paragraphs>1288</Paragraphs>
  <Slides>100</Slides>
  <Notes>51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100</vt:i4>
      </vt:variant>
    </vt:vector>
  </HeadingPairs>
  <TitlesOfParts>
    <vt:vector size="104" baseType="lpstr">
      <vt:lpstr>맑은 고딕</vt:lpstr>
      <vt:lpstr>Arial</vt:lpstr>
      <vt:lpstr>Wingdings</vt:lpstr>
      <vt:lpstr>Office 테마</vt:lpstr>
      <vt:lpstr>KMP 알고리즘</vt:lpstr>
      <vt:lpstr>목차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0x00 알고리즘 설명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0x01 실패 함수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0x02 KMP</vt:lpstr>
      <vt:lpstr>0x03 실습</vt:lpstr>
      <vt:lpstr>0x03 실습</vt:lpstr>
      <vt:lpstr>0x03 실습</vt:lpstr>
      <vt:lpstr>0x03 실습</vt:lpstr>
      <vt:lpstr>0x03 실습</vt:lpstr>
      <vt:lpstr>0x03 실습</vt:lpstr>
      <vt:lpstr>0x03 실습</vt:lpstr>
      <vt:lpstr>0x03 실습</vt:lpstr>
      <vt:lpstr>0x04 추가 사항</vt:lpstr>
      <vt:lpstr>0x04 추가 사항</vt:lpstr>
      <vt:lpstr>0x04 추가 사항</vt:lpstr>
      <vt:lpstr>0x04 추가 사항</vt:lpstr>
      <vt:lpstr>0x05 참고 자료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김정향</dc:creator>
  <cp:lastModifiedBy>필링크 011</cp:lastModifiedBy>
  <cp:revision>34</cp:revision>
  <dcterms:created xsi:type="dcterms:W3CDTF">2026-06-08T06:19:00Z</dcterms:created>
  <dcterms:modified xsi:type="dcterms:W3CDTF">2026-06-10T03:03:55Z</dcterms:modified>
</cp:coreProperties>
</file>